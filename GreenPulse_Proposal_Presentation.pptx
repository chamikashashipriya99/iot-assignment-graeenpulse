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48" autoAdjust="0"/>
  </p:normalViewPr>
  <p:slideViewPr>
    <p:cSldViewPr snapToGrid="0" snapToObjects="1">
      <p:cViewPr varScale="1">
        <p:scale>
          <a:sx n="82" d="100"/>
          <a:sy n="82" d="100"/>
        </p:scale>
        <p:origin x="691"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769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  TARGET: 20–25 sec  |  Running total ≈ 0:25
SCRIPT:
"Good morning / good afternoon. We are presenting GreenPulse — A Healthier Home, A Happier Plant — our proposed smart agentic IoT plant-care system. GreenPulse combines real-time environmental sensing, secure IoT communication, cloud processing and LLM-based intelligence to transform raw plant-environment data into meaningful plant-care information."
DELIVERY: Pause briefly on the title. Do not read out every team name; the slide shows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  TARGET: 50 sec  |  Running total ≈ 1:15
SCRIPT:
"Traditional plant care usually follows the chain at the top of this slide: manual observation, a fixed care routine, environmental changes that get missed between inspections, and ultimately poor decision support.
We see three core problems.
First, limited monitoring — care relies on manual observation, so unfavourable conditions can go unnoticed.
Second, raw data is not understanding — even when sensors exist, a soil-moisture or temperature value alone does not tell the user what action is appropriate.
Third, missing context — local sensing alone cannot consider broader information such as the current weather.
So the central question for our project is: how can raw environmental data become meaningful plant-care intelligence?"
SOURCE: Proposal §1.1 Background and §1.2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  TARGET: 55 sec  |  Running total ≈ 2:10
SCRIPT:
"GreenPulse answers that question with an end-to-end ecosystem. Environmental conditions around the plant are captured by sensors, processed on an ESP32, sent through secure MQTT to the cloud, interpreted with an LLM, and presented to the user on a Node-RED dashboard.
We summarise the system in four capabilities:
MONITOR — real-time sensing of soil moisture, temperature, humidity and light.
CONNECT — secure, bidirectional MQTT communication over TLS.
UNDERSTAND — cloud and LLM-based processing that adds weather and notification context.
VISUALIZE — a Node-RED dashboard showing live data and the generated information.
These four capabilities summarise the nine specific objectives in our proposal. Member 2 will now show how they fit into the overall architecture."
HANDOVER → Member 2 (architecture).
NOTE: If asked, the 9 objectives are in Proposal §1.5 (device, OLED/RGB, secure MQTT, cloud backend, LLM, weather + email, Node-RED, advanced features, evaluation).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  TARGET: 65 sec  |  Running total ≈ 3:15
SCRIPT:
"GreenPulse follows a layered architecture that separates sensing, communication, intelligence and visualization.
Layer 1, the IoT device: the soil-moisture, DHT22 and BH1750 sensors feed the ESP32, which drives the local OLED display and RGB LED. This layer provides local status only.
Layer 2, secure communication: the ESP32 connects over Wi-Fi and uses MQTT over TLS on port 8883 to reach AWS IoT Core, our proposed MQTT broker, using certificate-based authentication and IoT policies.
Layer 3, cloud intelligence: a Python backend receives the data, stores it in DynamoDB, retrieves weather and authorized notification information, and uses an LLM to generate contextual information.
Layer 4, visualization: results are published back through MQTT to the Node-RED dashboard for the user.
Importantly, communication is bidirectional — the device publishes telemetry and can also subscribe to cloud-generated topics."
DELIVERY TIP: Walk top-to-bottom, pointing to each band. If you add animation in PowerPoint, reveal one band per click (Animations → Appear / Fade, "On Click").
NEXT: Member 1 returns for the hardware details on the next slide (see handover plan).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PRESENTERS: Member 1 (inputs) → Member 2 (ESP32 + outputs)  |  TARGET: 55 sec  |  Running total ≈ 4:10
MEMBER 1 (≈25 sec) — left column:
"The device is built around the ESP32, chosen for its integrated Wi-Fi, GPIO, analog input and support for digital sensor interfaces. We propose three sensors: a soil-moisture sensor on analog GPIO34, which we plan to calibrate using dry and wet reference conditions; a DHT22 on GPIO4 for temperature and humidity; and a BH1750 on the I²C bus for light intensity in lux."
HANDOVER (Member 1 → Member 2):
"With the sensing hardware established, the next stage is converting these measurements into structured data and communicating them securely. Member 2 will explain the firmware and MQTT layer."
MEMBER 2 (≈30 sec) — ESP32 + right column:
"The firmware will acquire and validate readings, update the OLED, and evaluate priority for the RGB LED. The OLED shows only live readings and MQTT connection status. The RGB LED shows green for normal, yellow for warning and red for critical, with critical overriding warning, and warning overriding normal. By design, AI-generated tips, quotes and summaries are not shown on the OLED — they stay in the cloud and dashboard layer."
FACTS: BH1750 + OLED share I²C (SDA GPIO21 / SCL GPIO22) if addresses are compatible. RGB on GPIO25/26/27 via current-limiting resistors. Final thresholds are set during calibration and prototype testing. Display values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PRESENTERS: Member 2 (MQTT + security) → Member 3 (cloud)  |  TARGET: 65 sec  |  Running total ≈ 5:15
MEMBER 2 (≈35 sec):
"Here is the full data pipeline. The ESP32 formats readings as JSON and publishes them using MQTT — a lightweight publish/subscribe protocol where devices exchange messages through a central broker. It supports bidirectional communication and topic-based separation, and we propose QoS 1 for telemetry and AI responses.
For security, the connection uses MQTT over TLS on port 8883. The ESP32 authenticates to AWS IoT Core with a device certificate and private key, AWS IoT policies restrict it to only the topics it needs, and credentials will never be committed to the public repository.
Device-to-cloud topics are greenpulse/sensors and greenpulse/status; the cloud replies on greenpulse/ai/care, ai/weather and ai/notifications."
HANDOVER (Member 2 → Member 3):
"Once the ESP32 securely publishes the sensor data, the processing moves to our cloud architecture. Member 3 will explain how GreenPulse stores, validates and intelligently processes this information."
MEMBER 3 (≈30 sec):
"AWS IoT Core delivers the messages to our Python backend, which subscribes, validates each JSON payload and stores timestamped records in DynamoDB, before invoking the LLM and external services. Node-RED subscribes to the same broker to display the results. Because QoS 1 can create duplicates, the backend is designed to de-duplicate using the device ID and sequence number."
NOTE: Proposal Figure 1 shows older labels (greenpulse/sensor, greenpulse/llm). Table 5 is authoritative and is what this deck uses.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  TARGET: 70 sec  |  Running total ≈ 6:25
SCRIPT:
"This is where GreenPulse goes beyond basic monitoring. The cloud backend combines three inputs: the validated sensor data, current weather from a real weather API such as OpenWeatherMap, and relevant, filtered messages from an authorized email or notification account.
The backend validates, stores and prepares this into a structured input with units and timestamps. An LLM — coordinated through a Python framework such as LangChain — then generates four outputs: a care tip, a literary-style quote inspired by the plant's conditions, a weather summary, and a notification summary. These are validated as JSON and published through MQTT to Node-RED.
The LLM runs in the cloud, not on the ESP32 — the microcontroller focuses on sensing and communication.
Reliability is central. We call it grounded AI processing: the model uses only the supplied measurements, receives structured prompts, and its output is validated. It is instructed not to invent sensor values or make unsupported plant-health claims. GreenPulse provides contextual assistance — it is not a plant-disease diagnosis system."
HANDOVER (Member 3 → Member 4):
"The final stage is presenting this sensor and intelligent information to the user. Member 4 will explain the Node-RED dashboard and overall system integration."
FACTS: Missing/invalid readings are excluded from LLM input. On LLM failure the backend logs the error and applies a predefined recovery procedure. Email: minimum permissions, filtering to plant-care-related messages, raw email never published to MQTT.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  TARGET: 50 sec  |  Running total ≈ 7:15
SCRIPT:
"The Node-RED dashboard is the single place where the user sees everything. This proposed layout, based on Figure 8 of our proposal, shows live sensor values for soil moisture, temperature, humidity and light; the device's Wi-Fi, MQTT and priority status; the AI care section with the generated tip and quote; the context section with weather and notification summaries; and a system panel showing the MQTT topic, timestamp, and the LLM input and output status.
Showing the LLM input next to its output makes the intelligent processing transparent — users can see exactly what data the AI was given."
NOTE: All values are illustrative. Node-RED connects securely to the same MQTT broker and subscribes to the telemetry and AI topics. Credentials and unnecessary personal email content are excluded from dashboard payloads.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  TARGET: 60 sec  |  Running total ≈ 8:15
SCRIPT:
"We plan to build GreenPulse incrementally in six phases: hardware, firmware, secure MQTT, cloud and LLM, dashboard, and finally integration and evaluation. Each phase produces a verifiable deliverable before the next begins, which helps us catch problems early.
We have planned fifteen tests grouped into six areas — sensors, device outputs, MQTT and security, cloud and AI, the dashboard, and a full end-to-end test from the device to the dashboard.
Responsibilities follow the architecture: Member 1 owns hardware and embedded sensing; Member 2 owns ESP32 firmware and MQTT; Member 3 owns the cloud backend and intelligent processing; and I own Node-RED, integration and the user interface. All four of us share integration testing, documentation and the final demonstration."
NOTE: Timeline is a proposed four-week plan (Proposal Table 9), prioritising mandatory features before optional extensions.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(or whole group)  |  TARGET: 40 sec  |  Running total ≈ 8:55
SCRIPT:
"We expect GreenPulse to deliver six outcomes: real-time environmental monitoring, secure IoT communication, cloud data storage, context-aware LLM processing, weather and notification integration, and a unified Node-RED dashboard.
In conclusion, GreenPulse proposes an integrated plant-care ecosystem that goes beyond basic sensor monitoring. By combining embedded sensing, secure MQTT communication, cloud processing, external contextual information and LLM-based intelligence, the system aims to transform environmental measurements into meaningful plant-care information through a unified Node-RED dashboard.
Sensor data, plus context, plus intelligence — leading to better plant-care decisions. Thank you."
LANGUAGE: Keep to "expected", "proposed", "aims to". Do not say "we achieved" or "testing confirmed".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 5 minutes. All members stand ready.
OWNERSHIP (primary answers first; others may add briefly):
• Hardware / sensors / calibration / GPIO → Member 1
• Firmware / OLED / RGB / JSON / MQTT → Member 2
• AWS / DynamoDB / LLM / weather / email / security → Member 3
• Node-RED / dashboard / integration / UI / testing / demo → Member 4
QUICK ANSWERS (proposal-consistent; use "will / proposed"):
1. Problem (M1): Manual checks and fixed schedules miss changes; raw readings are hard to interpret; local sensing lacks context.
2. Innovation (M3/M4): One pipeline joining sensing, secure MQTT, cloud storage, external context (weather + email) and grounded LLM output — with LLM input/output visible on the dashboard.
3. Why ESP32 (M1): Integrated Wi-Fi, GPIO, analog input, digital sensor interfaces (I²C), low cost, supports TLS.
4. Why these sensors (M1): Soil moisture, temperature, humidity and light are the core conditions named in our background; BH1750 gives calibrated lux over I²C.
5. Calibration (M1): Record readings at dry and wet reference conditions and map raw values to a moisture representation; thresholds finalised in prototype testing.
6. MQTT vs HTTP (M2): Lightweight, persistent connection, publish/subscribe decoupling, cloud can push to device (bidirectional), QoS levels. HTTP is request/response and would need polling.
7. Why AWS IoT Core (M3): Managed MQTT broker with TLS, certificate authentication, fine-grained policies, and native AWS integration with DynamoDB (and optionally IoT Rules / Lambda).
8. MQTT over TLS (M2/M3): MQTT carried inside an encrypted TLS session on port 8883; the device validates the server with trusted CA information and authenticates with its certificate + private key.
9. Why JSON (M2): Structured, readable, easy to generate on the ESP32 and parse in Python and Node-RED; allows field validation.
10. Why DynamoDB (M3): Managed AWS storage; device_id partition key + timestamp sort key suits timestamped sensor records; access restricted to required components.
11. Why an LLM (M3): Converts numeric readings plus context into understandable natural-language care information.
12. Why not on the ESP32 (M3): LLMs need far more memory and compute than a microcontroller; the ESP32 focuses on sensing, local status and communication.
13. Reducing hallucinations (M3): Structured input with units; only valid measurements supplied; prompt forbids inventing data; JSON output validation; predefined thresholds add structure.
14. If the LLM is wrong (M3): Output is contextual assistance, not a diagnosis; malformed output is rejected; errors logged and recovery applied; dashboard shows the LLM input for transparency; the RGB priority is rule-based on the device.
15. No AI on OLED (M2): Assignment requirement; the OLED is limited to live readings and MQTT status; AI content belongs to the dashboard layer.
16. RGB LED (M2): Green normal, yellow warning, red critical; critical &gt; warning &gt; normal.
17. Wi-Fi unavailable (M2): Firmware monitors and reconnects; sensing, OLED and RGB are designed to continue locally where practical; OLED shows MQTT disconnected.
18. MQTT disconnects (M2): Reconnection procedures; status reflected on the OLED and status topic; QoS 1 for important messages.
19. Weather API fails (M3): Error handling; unavailable data is never presented as current; LLM is told the data is missing.
20. Why weather (M3): External context — e.g. rainfall or high temperature can be relevant to watering decisions.
21. Why email/notifications (M3): Summarises relevant watering reminders, weather alerts and gardening messages; shows integration of a real external service.
22. Email privacy (M3): Authorized account, minimum permissions, filtering to plant-care-related messages, tokens stored in the backend environment, raw email never published to MQTT or the dashboard.
23. Why Node-RED (M4): Flow-based, native MQTT nodes and dashboard widgets; ideal for showing topics, payloads and LLM input/output.
24. Bidirectional MQTT (M2): ESP32 publishes sensors/status; backend publishes ai/* topics; ESP32 subscribes (receives but does not display AI text); optional command topic.
25. Topics (M2): greenpulse/sensors, /status, /ai/care, /ai/weather, /ai/notifications, and /command if implemented.
26. Testing (M4): 15 planned tests T01–T15 plus six-stage incremental integration (see Backup D).
27. Limitations (M4): Prototype scope; accuracy depends on sensors and calibration; relies on connectivity and external services; LLM output is contextual assistance; no claim of long-term plant-growth improvement.
28. Automatic watering (M1): Not assumed as a core feature unless explicitly finalised; treated as a future extension needing actuators and safety mechanisms.
29. Future work (M4): Multiple plants, data-driven watering prediction, automatic watering, additional sensors, AWS IoT Rules / Lambda automation, plant-specific recommendations.
30. Contributions: Each member states their own area (Backup 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appendix. To jump to a backup slide during Q&amp;A in Slide Show mode, type its slide number and press Enter (e.g. 13 for Backup A), or right-click → See All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Member 1.
Tip if asked: GPIO34 is an input-only pin on an ADC1 channel, which suits an analog sensor while Wi-Fi is active (ADC2 channels conflict with Wi-Fi on the ESP32). The exact soil-sensor model and interface are confirmed during hardware finalisation.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Member 2 (topics, pub/sub) with Member 3 (broker, policies, de-duplication).
QoS 1 means at-least-once delivery, so duplicates are possible — hence de-duplication using device_id and sequence_number.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Member 2 (payload creation) with Member 3 (validation and storage).
Values are illustrative, not experimental results. Final telemetry will include any additional sensors retained in the finalised design.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Member 4 (overall testing) — each member answers for their component's tests.
Evaluation focuses on functional operation and end-to-end integration, not on proving long-term plant-growth improvements.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whoever owns the risk's component; Member 4 for integration delays.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should be able to describe their own main and supporting responsibilities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4.xml"/><Relationship Id="rId16"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11.png"/><Relationship Id="rId10"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21.png"/><Relationship Id="rId1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35.png"/><Relationship Id="rId5" Type="http://schemas.openxmlformats.org/officeDocument/2006/relationships/image" Target="../media/image33.png"/><Relationship Id="rId10" Type="http://schemas.openxmlformats.org/officeDocument/2006/relationships/image" Target="../media/image9.png"/><Relationship Id="rId4" Type="http://schemas.openxmlformats.org/officeDocument/2006/relationships/image" Target="../media/image20.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2.png"/><Relationship Id="rId5" Type="http://schemas.openxmlformats.org/officeDocument/2006/relationships/image" Target="../media/image37.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0.png"/><Relationship Id="rId14" Type="http://schemas.openxmlformats.org/officeDocument/2006/relationships/image" Target="../media/image44.png"/></Relationships>
</file>

<file path=ppt/slides/_rels/slide8.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3.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1.png"/><Relationship Id="rId5" Type="http://schemas.openxmlformats.org/officeDocument/2006/relationships/image" Target="../media/image46.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50.png"/><Relationship Id="rId14" Type="http://schemas.openxmlformats.org/officeDocument/2006/relationships/image" Target="../media/image54.png"/></Relationships>
</file>

<file path=ppt/slides/_rels/slide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6.png"/><Relationship Id="rId7"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9.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png"/></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1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537960" y="502920"/>
            <a:ext cx="5394960" cy="5394960"/>
          </a:xfrm>
          <a:prstGeom prst="rect">
            <a:avLst/>
          </a:prstGeom>
        </p:spPr>
      </p:pic>
      <p:sp>
        <p:nvSpPr>
          <p:cNvPr id="3" name="Text 0"/>
          <p:cNvSpPr txBox="1"/>
          <p:nvPr/>
        </p:nvSpPr>
        <p:spPr>
          <a:xfrm>
            <a:off x="594360" y="685800"/>
            <a:ext cx="6400800" cy="274320"/>
          </a:xfrm>
          <a:prstGeom prst="rect">
            <a:avLst/>
          </a:prstGeom>
          <a:noFill/>
          <a:ln/>
        </p:spPr>
        <p:txBody>
          <a:bodyPr wrap="square" lIns="0" tIns="0" rIns="0" bIns="0" rtlCol="0" anchor="t"/>
          <a:lstStyle/>
          <a:p>
            <a:pPr marL="0" indent="0">
              <a:buNone/>
            </a:pPr>
            <a:r>
              <a:rPr lang="en-US" sz="1100" b="1" kern="0" spc="300" dirty="0">
                <a:solidFill>
                  <a:srgbClr val="4CC47A"/>
                </a:solidFill>
                <a:latin typeface="Arial" pitchFamily="34" charset="0"/>
                <a:ea typeface="Arial" pitchFamily="34" charset="-122"/>
                <a:cs typeface="Arial" pitchFamily="34" charset="-120"/>
              </a:rPr>
              <a:t>IT4030 · INTERNET OF THINGS · PROJECT PROPOSAL</a:t>
            </a:r>
            <a:endParaRPr lang="en-US" sz="1100" dirty="0"/>
          </a:p>
        </p:txBody>
      </p:sp>
      <p:sp>
        <p:nvSpPr>
          <p:cNvPr id="4" name="Text 1"/>
          <p:cNvSpPr txBox="1"/>
          <p:nvPr/>
        </p:nvSpPr>
        <p:spPr>
          <a:xfrm>
            <a:off x="548640" y="1097280"/>
            <a:ext cx="6400800" cy="1051560"/>
          </a:xfrm>
          <a:prstGeom prst="rect">
            <a:avLst/>
          </a:prstGeom>
          <a:noFill/>
          <a:ln/>
        </p:spPr>
        <p:txBody>
          <a:bodyPr wrap="square" lIns="0" tIns="0" rIns="0" bIns="0" rtlCol="0" anchor="ctr"/>
          <a:lstStyle/>
          <a:p>
            <a:pPr marL="0" indent="0">
              <a:buNone/>
            </a:pPr>
            <a:r>
              <a:rPr lang="en-US" sz="6400" b="1" dirty="0">
                <a:solidFill>
                  <a:srgbClr val="FFFFFF"/>
                </a:solidFill>
                <a:latin typeface="Arial" pitchFamily="34" charset="0"/>
                <a:ea typeface="Arial" pitchFamily="34" charset="-122"/>
                <a:cs typeface="Arial" pitchFamily="34" charset="-120"/>
              </a:rPr>
              <a:t>GreenPulse</a:t>
            </a:r>
            <a:endParaRPr lang="en-US" sz="6400" dirty="0"/>
          </a:p>
        </p:txBody>
      </p:sp>
      <p:sp>
        <p:nvSpPr>
          <p:cNvPr id="5" name="Text 2"/>
          <p:cNvSpPr txBox="1"/>
          <p:nvPr/>
        </p:nvSpPr>
        <p:spPr>
          <a:xfrm>
            <a:off x="594360" y="2194560"/>
            <a:ext cx="6400800" cy="365760"/>
          </a:xfrm>
          <a:prstGeom prst="rect">
            <a:avLst/>
          </a:prstGeom>
          <a:noFill/>
          <a:ln/>
        </p:spPr>
        <p:txBody>
          <a:bodyPr wrap="square" lIns="0" tIns="0" rIns="0" bIns="0" rtlCol="0" anchor="t"/>
          <a:lstStyle/>
          <a:p>
            <a:pPr marL="0" indent="0">
              <a:buNone/>
            </a:pPr>
            <a:r>
              <a:rPr lang="en-US" sz="1600" b="1" kern="0" spc="300" dirty="0">
                <a:solidFill>
                  <a:srgbClr val="8FD9A8"/>
                </a:solidFill>
                <a:latin typeface="Arial" pitchFamily="34" charset="0"/>
                <a:ea typeface="Arial" pitchFamily="34" charset="-122"/>
                <a:cs typeface="Arial" pitchFamily="34" charset="-120"/>
              </a:rPr>
              <a:t>A HEALTHIER HOME, A HAPPIER PLANT</a:t>
            </a:r>
            <a:endParaRPr lang="en-US" sz="1600" dirty="0"/>
          </a:p>
        </p:txBody>
      </p:sp>
      <p:sp>
        <p:nvSpPr>
          <p:cNvPr id="6" name="Text 3"/>
          <p:cNvSpPr txBox="1"/>
          <p:nvPr/>
        </p:nvSpPr>
        <p:spPr>
          <a:xfrm>
            <a:off x="594360" y="2606040"/>
            <a:ext cx="6035040" cy="411480"/>
          </a:xfrm>
          <a:prstGeom prst="rect">
            <a:avLst/>
          </a:prstGeom>
          <a:noFill/>
          <a:ln/>
        </p:spPr>
        <p:txBody>
          <a:bodyPr wrap="square" lIns="0" tIns="0" rIns="0" bIns="0" rtlCol="0" anchor="t"/>
          <a:lstStyle/>
          <a:p>
            <a:pPr marL="0" indent="0">
              <a:buNone/>
            </a:pPr>
            <a:r>
              <a:rPr lang="en-US" sz="2000" dirty="0">
                <a:solidFill>
                  <a:srgbClr val="E6F4EA"/>
                </a:solidFill>
                <a:latin typeface="Calibri" pitchFamily="34" charset="0"/>
                <a:ea typeface="Calibri" pitchFamily="34" charset="-122"/>
                <a:cs typeface="Calibri" pitchFamily="34" charset="-120"/>
              </a:rPr>
              <a:t>Smart Agentic IoT Plant-Care Device with LLM Backend</a:t>
            </a:r>
            <a:endParaRPr lang="en-US" sz="2000" dirty="0"/>
          </a:p>
        </p:txBody>
      </p:sp>
      <p:sp>
        <p:nvSpPr>
          <p:cNvPr id="7" name="Shape 4"/>
          <p:cNvSpPr/>
          <p:nvPr/>
        </p:nvSpPr>
        <p:spPr>
          <a:xfrm>
            <a:off x="594360" y="3310128"/>
            <a:ext cx="969264" cy="365760"/>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8" name="Text 5"/>
          <p:cNvSpPr txBox="1"/>
          <p:nvPr/>
        </p:nvSpPr>
        <p:spPr>
          <a:xfrm>
            <a:off x="594360" y="3310128"/>
            <a:ext cx="969264" cy="365760"/>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Sensors</a:t>
            </a:r>
            <a:endParaRPr lang="en-US" sz="1200" dirty="0"/>
          </a:p>
        </p:txBody>
      </p:sp>
      <p:sp>
        <p:nvSpPr>
          <p:cNvPr id="9" name="Shape 6"/>
          <p:cNvSpPr/>
          <p:nvPr/>
        </p:nvSpPr>
        <p:spPr>
          <a:xfrm>
            <a:off x="1618488" y="3493008"/>
            <a:ext cx="219456" cy="914"/>
          </a:xfrm>
          <a:prstGeom prst="line">
            <a:avLst/>
          </a:prstGeom>
          <a:noFill/>
          <a:ln w="15875">
            <a:solidFill>
              <a:srgbClr val="4CC47A"/>
            </a:solidFill>
            <a:prstDash val="solid"/>
            <a:tailEnd type="triangle"/>
          </a:ln>
        </p:spPr>
        <p:txBody>
          <a:bodyPr/>
          <a:lstStyle/>
          <a:p>
            <a:endParaRPr lang="en-US"/>
          </a:p>
        </p:txBody>
      </p:sp>
      <p:sp>
        <p:nvSpPr>
          <p:cNvPr id="10" name="Shape 7"/>
          <p:cNvSpPr/>
          <p:nvPr/>
        </p:nvSpPr>
        <p:spPr>
          <a:xfrm>
            <a:off x="1892808" y="3310128"/>
            <a:ext cx="786384" cy="365760"/>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11" name="Text 8"/>
          <p:cNvSpPr txBox="1"/>
          <p:nvPr/>
        </p:nvSpPr>
        <p:spPr>
          <a:xfrm>
            <a:off x="1892808" y="3310128"/>
            <a:ext cx="786384" cy="365760"/>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ESP32</a:t>
            </a:r>
            <a:endParaRPr lang="en-US" sz="1200" dirty="0"/>
          </a:p>
        </p:txBody>
      </p:sp>
      <p:sp>
        <p:nvSpPr>
          <p:cNvPr id="12" name="Shape 9"/>
          <p:cNvSpPr/>
          <p:nvPr/>
        </p:nvSpPr>
        <p:spPr>
          <a:xfrm>
            <a:off x="2734056" y="3493008"/>
            <a:ext cx="219456" cy="914"/>
          </a:xfrm>
          <a:prstGeom prst="line">
            <a:avLst/>
          </a:prstGeom>
          <a:noFill/>
          <a:ln w="15875">
            <a:solidFill>
              <a:srgbClr val="4CC47A"/>
            </a:solidFill>
            <a:prstDash val="solid"/>
            <a:tailEnd type="triangle"/>
          </a:ln>
        </p:spPr>
        <p:txBody>
          <a:bodyPr/>
          <a:lstStyle/>
          <a:p>
            <a:endParaRPr lang="en-US"/>
          </a:p>
        </p:txBody>
      </p:sp>
      <p:sp>
        <p:nvSpPr>
          <p:cNvPr id="13" name="Shape 10"/>
          <p:cNvSpPr/>
          <p:nvPr/>
        </p:nvSpPr>
        <p:spPr>
          <a:xfrm>
            <a:off x="3008376" y="3310128"/>
            <a:ext cx="786384" cy="365760"/>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14" name="Text 11"/>
          <p:cNvSpPr txBox="1"/>
          <p:nvPr/>
        </p:nvSpPr>
        <p:spPr>
          <a:xfrm>
            <a:off x="3008376" y="3310128"/>
            <a:ext cx="786384" cy="365760"/>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Cloud</a:t>
            </a:r>
            <a:endParaRPr lang="en-US" sz="1200" dirty="0"/>
          </a:p>
        </p:txBody>
      </p:sp>
      <p:sp>
        <p:nvSpPr>
          <p:cNvPr id="15" name="Shape 12"/>
          <p:cNvSpPr/>
          <p:nvPr/>
        </p:nvSpPr>
        <p:spPr>
          <a:xfrm>
            <a:off x="3849624" y="3493008"/>
            <a:ext cx="219456" cy="914"/>
          </a:xfrm>
          <a:prstGeom prst="line">
            <a:avLst/>
          </a:prstGeom>
          <a:noFill/>
          <a:ln w="15875">
            <a:solidFill>
              <a:srgbClr val="4CC47A"/>
            </a:solidFill>
            <a:prstDash val="solid"/>
            <a:tailEnd type="triangle"/>
          </a:ln>
        </p:spPr>
        <p:txBody>
          <a:bodyPr/>
          <a:lstStyle/>
          <a:p>
            <a:endParaRPr lang="en-US"/>
          </a:p>
        </p:txBody>
      </p:sp>
      <p:sp>
        <p:nvSpPr>
          <p:cNvPr id="16" name="Shape 13"/>
          <p:cNvSpPr/>
          <p:nvPr/>
        </p:nvSpPr>
        <p:spPr>
          <a:xfrm>
            <a:off x="4123944" y="3310128"/>
            <a:ext cx="512064" cy="365760"/>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17" name="Text 14"/>
          <p:cNvSpPr txBox="1"/>
          <p:nvPr/>
        </p:nvSpPr>
        <p:spPr>
          <a:xfrm>
            <a:off x="4123944" y="3310128"/>
            <a:ext cx="512064" cy="365760"/>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AI</a:t>
            </a:r>
            <a:endParaRPr lang="en-US" sz="1200" dirty="0"/>
          </a:p>
        </p:txBody>
      </p:sp>
      <p:sp>
        <p:nvSpPr>
          <p:cNvPr id="18" name="Shape 15"/>
          <p:cNvSpPr/>
          <p:nvPr/>
        </p:nvSpPr>
        <p:spPr>
          <a:xfrm>
            <a:off x="4690872" y="3493008"/>
            <a:ext cx="219456" cy="914"/>
          </a:xfrm>
          <a:prstGeom prst="line">
            <a:avLst/>
          </a:prstGeom>
          <a:noFill/>
          <a:ln w="15875">
            <a:solidFill>
              <a:srgbClr val="4CC47A"/>
            </a:solidFill>
            <a:prstDash val="solid"/>
            <a:tailEnd type="triangle"/>
          </a:ln>
        </p:spPr>
        <p:txBody>
          <a:bodyPr/>
          <a:lstStyle/>
          <a:p>
            <a:endParaRPr lang="en-US"/>
          </a:p>
        </p:txBody>
      </p:sp>
      <p:sp>
        <p:nvSpPr>
          <p:cNvPr id="19" name="Shape 16"/>
          <p:cNvSpPr/>
          <p:nvPr/>
        </p:nvSpPr>
        <p:spPr>
          <a:xfrm>
            <a:off x="4965192" y="3310128"/>
            <a:ext cx="1152144" cy="365760"/>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20" name="Text 17"/>
          <p:cNvSpPr txBox="1"/>
          <p:nvPr/>
        </p:nvSpPr>
        <p:spPr>
          <a:xfrm>
            <a:off x="4965192" y="3310128"/>
            <a:ext cx="1152144" cy="365760"/>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Dashboard</a:t>
            </a:r>
            <a:endParaRPr lang="en-US" sz="1200" dirty="0"/>
          </a:p>
        </p:txBody>
      </p:sp>
      <p:sp>
        <p:nvSpPr>
          <p:cNvPr id="21" name="Text 18"/>
          <p:cNvSpPr txBox="1"/>
          <p:nvPr/>
        </p:nvSpPr>
        <p:spPr>
          <a:xfrm>
            <a:off x="594360" y="4160520"/>
            <a:ext cx="2743200" cy="228600"/>
          </a:xfrm>
          <a:prstGeom prst="rect">
            <a:avLst/>
          </a:prstGeom>
          <a:noFill/>
          <a:ln/>
        </p:spPr>
        <p:txBody>
          <a:bodyPr wrap="square" lIns="0" tIns="0" rIns="0" bIns="0" rtlCol="0" anchor="t"/>
          <a:lstStyle/>
          <a:p>
            <a:pPr marL="0" indent="0">
              <a:buNone/>
            </a:pPr>
            <a:r>
              <a:rPr lang="en-US" sz="950" b="1" kern="0" spc="200" dirty="0">
                <a:solidFill>
                  <a:srgbClr val="4CC47A"/>
                </a:solidFill>
                <a:latin typeface="Calibri" pitchFamily="34" charset="0"/>
                <a:ea typeface="Calibri" pitchFamily="34" charset="-122"/>
                <a:cs typeface="Calibri" pitchFamily="34" charset="-120"/>
              </a:rPr>
              <a:t>PRESENTED BY</a:t>
            </a:r>
            <a:endParaRPr lang="en-US" sz="950" dirty="0"/>
          </a:p>
        </p:txBody>
      </p:sp>
      <p:sp>
        <p:nvSpPr>
          <p:cNvPr id="22" name="Text 19"/>
          <p:cNvSpPr txBox="1"/>
          <p:nvPr/>
        </p:nvSpPr>
        <p:spPr>
          <a:xfrm>
            <a:off x="594360" y="4462272"/>
            <a:ext cx="28346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Kumarathunga R C S</a:t>
            </a:r>
            <a:endParaRPr lang="en-US" sz="1250" dirty="0"/>
          </a:p>
          <a:p>
            <a:pPr marL="0" indent="0">
              <a:buNone/>
            </a:pPr>
            <a:r>
              <a:rPr lang="en-US" sz="1050" dirty="0">
                <a:solidFill>
                  <a:srgbClr val="8FD9A8"/>
                </a:solidFill>
                <a:latin typeface="Calibri" pitchFamily="34" charset="0"/>
                <a:ea typeface="Calibri" pitchFamily="34" charset="-122"/>
                <a:cs typeface="Calibri" pitchFamily="34" charset="-120"/>
              </a:rPr>
              <a:t>IT23257054</a:t>
            </a:r>
            <a:endParaRPr lang="en-US" sz="1250" dirty="0"/>
          </a:p>
        </p:txBody>
      </p:sp>
      <p:sp>
        <p:nvSpPr>
          <p:cNvPr id="23" name="Text 20"/>
          <p:cNvSpPr txBox="1"/>
          <p:nvPr/>
        </p:nvSpPr>
        <p:spPr>
          <a:xfrm>
            <a:off x="3520440" y="4462272"/>
            <a:ext cx="28346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Wathsala K L K</a:t>
            </a:r>
            <a:endParaRPr lang="en-US" sz="1250" dirty="0"/>
          </a:p>
          <a:p>
            <a:pPr marL="0" indent="0">
              <a:buNone/>
            </a:pPr>
            <a:r>
              <a:rPr lang="en-US" sz="1050" dirty="0">
                <a:solidFill>
                  <a:srgbClr val="8FD9A8"/>
                </a:solidFill>
                <a:latin typeface="Calibri" pitchFamily="34" charset="0"/>
                <a:ea typeface="Calibri" pitchFamily="34" charset="-122"/>
                <a:cs typeface="Calibri" pitchFamily="34" charset="-120"/>
              </a:rPr>
              <a:t>IT23182882</a:t>
            </a:r>
            <a:endParaRPr lang="en-US" sz="1250" dirty="0"/>
          </a:p>
        </p:txBody>
      </p:sp>
      <p:sp>
        <p:nvSpPr>
          <p:cNvPr id="24" name="Text 21"/>
          <p:cNvSpPr txBox="1"/>
          <p:nvPr/>
        </p:nvSpPr>
        <p:spPr>
          <a:xfrm>
            <a:off x="594360" y="4937760"/>
            <a:ext cx="28346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Senanayake Y M</a:t>
            </a:r>
            <a:endParaRPr lang="en-US" sz="1250" dirty="0"/>
          </a:p>
          <a:p>
            <a:pPr marL="0" indent="0">
              <a:buNone/>
            </a:pPr>
            <a:r>
              <a:rPr lang="en-US" sz="1050" dirty="0">
                <a:solidFill>
                  <a:srgbClr val="8FD9A8"/>
                </a:solidFill>
                <a:latin typeface="Calibri" pitchFamily="34" charset="0"/>
                <a:ea typeface="Calibri" pitchFamily="34" charset="-122"/>
                <a:cs typeface="Calibri" pitchFamily="34" charset="-120"/>
              </a:rPr>
              <a:t>IT23284470</a:t>
            </a:r>
            <a:endParaRPr lang="en-US" sz="1250" dirty="0"/>
          </a:p>
        </p:txBody>
      </p:sp>
      <p:sp>
        <p:nvSpPr>
          <p:cNvPr id="25" name="Text 22"/>
          <p:cNvSpPr txBox="1"/>
          <p:nvPr/>
        </p:nvSpPr>
        <p:spPr>
          <a:xfrm>
            <a:off x="3520440" y="4937760"/>
            <a:ext cx="28346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Methsuka S A I</a:t>
            </a:r>
            <a:endParaRPr lang="en-US" sz="1250" dirty="0"/>
          </a:p>
          <a:p>
            <a:pPr marL="0" indent="0">
              <a:buNone/>
            </a:pPr>
            <a:r>
              <a:rPr lang="en-US" sz="1050" dirty="0">
                <a:solidFill>
                  <a:srgbClr val="8FD9A8"/>
                </a:solidFill>
                <a:latin typeface="Calibri" pitchFamily="34" charset="0"/>
                <a:ea typeface="Calibri" pitchFamily="34" charset="-122"/>
                <a:cs typeface="Calibri" pitchFamily="34" charset="-120"/>
              </a:rPr>
              <a:t>IT23160484</a:t>
            </a:r>
            <a:endParaRPr lang="en-US" sz="1250" dirty="0"/>
          </a:p>
        </p:txBody>
      </p:sp>
      <p:sp>
        <p:nvSpPr>
          <p:cNvPr id="26" name="Shape 23"/>
          <p:cNvSpPr/>
          <p:nvPr/>
        </p:nvSpPr>
        <p:spPr>
          <a:xfrm>
            <a:off x="594360" y="5577840"/>
            <a:ext cx="5806440" cy="914"/>
          </a:xfrm>
          <a:prstGeom prst="line">
            <a:avLst/>
          </a:prstGeom>
          <a:noFill/>
          <a:ln w="9525">
            <a:solidFill>
              <a:srgbClr val="14532D"/>
            </a:solidFill>
            <a:prstDash val="solid"/>
          </a:ln>
        </p:spPr>
        <p:txBody>
          <a:bodyPr/>
          <a:lstStyle/>
          <a:p>
            <a:endParaRPr lang="en-US"/>
          </a:p>
        </p:txBody>
      </p:sp>
      <p:sp>
        <p:nvSpPr>
          <p:cNvPr id="27" name="Text 24"/>
          <p:cNvSpPr txBox="1"/>
          <p:nvPr/>
        </p:nvSpPr>
        <p:spPr>
          <a:xfrm>
            <a:off x="594360" y="5687568"/>
            <a:ext cx="6400800" cy="274320"/>
          </a:xfrm>
          <a:prstGeom prst="rect">
            <a:avLst/>
          </a:prstGeom>
          <a:noFill/>
          <a:ln/>
        </p:spPr>
        <p:txBody>
          <a:bodyPr wrap="square" lIns="0" tIns="0" rIns="0" bIns="0" rtlCol="0" anchor="t"/>
          <a:lstStyle/>
          <a:p>
            <a:pPr marL="0" indent="0">
              <a:buNone/>
            </a:pPr>
            <a:r>
              <a:rPr lang="en-US" sz="1100" dirty="0">
                <a:solidFill>
                  <a:srgbClr val="8FD9A8"/>
                </a:solidFill>
                <a:latin typeface="Calibri" pitchFamily="34" charset="0"/>
                <a:ea typeface="Calibri" pitchFamily="34" charset="-122"/>
                <a:cs typeface="Calibri" pitchFamily="34" charset="-120"/>
              </a:rPr>
              <a:t>Lecturer: </a:t>
            </a:r>
            <a:r>
              <a:rPr lang="en-US" sz="1100" b="1" dirty="0">
                <a:solidFill>
                  <a:srgbClr val="FFFFFF"/>
                </a:solidFill>
                <a:latin typeface="Calibri" pitchFamily="34" charset="0"/>
                <a:ea typeface="Calibri" pitchFamily="34" charset="-122"/>
                <a:cs typeface="Calibri" pitchFamily="34" charset="-120"/>
              </a:rPr>
              <a:t>Mr. Uditha Dharmakeerthi</a:t>
            </a:r>
            <a:r>
              <a:rPr lang="en-US" sz="1100" dirty="0">
                <a:solidFill>
                  <a:srgbClr val="8FD9A8"/>
                </a:solidFill>
                <a:latin typeface="Calibri" pitchFamily="34" charset="0"/>
                <a:ea typeface="Calibri" pitchFamily="34" charset="-122"/>
                <a:cs typeface="Calibri" pitchFamily="34" charset="-120"/>
              </a:rPr>
              <a:t>     SLIIT · Faculty of Computing · 2026</a:t>
            </a:r>
            <a:endParaRPr lang="en-US" sz="1100"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02  ·  PROBLEM &amp; MOTIVATION</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Plants Need More Than Fixed Care Schedules</a:t>
            </a:r>
            <a:endParaRPr lang="en-US" sz="2800" dirty="0"/>
          </a:p>
        </p:txBody>
      </p:sp>
      <p:sp>
        <p:nvSpPr>
          <p:cNvPr id="7" name="Shape 4"/>
          <p:cNvSpPr/>
          <p:nvPr/>
        </p:nvSpPr>
        <p:spPr>
          <a:xfrm>
            <a:off x="548640" y="1600200"/>
            <a:ext cx="2395728" cy="566928"/>
          </a:xfrm>
          <a:prstGeom prst="roundRect">
            <a:avLst>
              <a:gd name="adj" fmla="val 50000"/>
            </a:avLst>
          </a:prstGeom>
          <a:solidFill>
            <a:srgbClr val="F6F8F7"/>
          </a:solidFill>
          <a:ln w="9525">
            <a:solidFill>
              <a:srgbClr val="DCE6DF"/>
            </a:solidFill>
            <a:prstDash val="solid"/>
          </a:ln>
        </p:spPr>
        <p:txBody>
          <a:bodyPr/>
          <a:lstStyle/>
          <a:p>
            <a:endParaRPr lang="en-US"/>
          </a:p>
        </p:txBody>
      </p:sp>
      <p:sp>
        <p:nvSpPr>
          <p:cNvPr id="8" name="Text 5"/>
          <p:cNvSpPr txBox="1"/>
          <p:nvPr/>
        </p:nvSpPr>
        <p:spPr>
          <a:xfrm>
            <a:off x="548640" y="1600200"/>
            <a:ext cx="2395728" cy="566928"/>
          </a:xfrm>
          <a:prstGeom prst="rect">
            <a:avLst/>
          </a:prstGeom>
          <a:noFill/>
          <a:ln/>
        </p:spPr>
        <p:txBody>
          <a:bodyPr wrap="square" lIns="0" tIns="0" rIns="0" bIns="0" rtlCol="0" anchor="ctr"/>
          <a:lstStyle/>
          <a:p>
            <a:pPr marL="0" indent="0" algn="ctr">
              <a:buNone/>
            </a:pPr>
            <a:r>
              <a:rPr lang="en-US" sz="1250" b="1" dirty="0">
                <a:solidFill>
                  <a:srgbClr val="46555F"/>
                </a:solidFill>
                <a:latin typeface="Calibri" pitchFamily="34" charset="0"/>
                <a:ea typeface="Calibri" pitchFamily="34" charset="-122"/>
                <a:cs typeface="Calibri" pitchFamily="34" charset="-120"/>
              </a:rPr>
              <a:t>Manual Observation</a:t>
            </a:r>
            <a:endParaRPr lang="en-US" sz="1250" dirty="0"/>
          </a:p>
        </p:txBody>
      </p:sp>
      <p:sp>
        <p:nvSpPr>
          <p:cNvPr id="9" name="Shape 6"/>
          <p:cNvSpPr/>
          <p:nvPr/>
        </p:nvSpPr>
        <p:spPr>
          <a:xfrm>
            <a:off x="3035808" y="1883664"/>
            <a:ext cx="320954" cy="914"/>
          </a:xfrm>
          <a:prstGeom prst="line">
            <a:avLst/>
          </a:prstGeom>
          <a:noFill/>
          <a:ln w="19050">
            <a:solidFill>
              <a:srgbClr val="7A8A94"/>
            </a:solidFill>
            <a:prstDash val="solid"/>
            <a:tailEnd type="triangle"/>
          </a:ln>
        </p:spPr>
        <p:txBody>
          <a:bodyPr/>
          <a:lstStyle/>
          <a:p>
            <a:endParaRPr lang="en-US"/>
          </a:p>
        </p:txBody>
      </p:sp>
      <p:sp>
        <p:nvSpPr>
          <p:cNvPr id="10" name="Shape 7"/>
          <p:cNvSpPr/>
          <p:nvPr/>
        </p:nvSpPr>
        <p:spPr>
          <a:xfrm>
            <a:off x="3448202" y="1600200"/>
            <a:ext cx="2395728" cy="566928"/>
          </a:xfrm>
          <a:prstGeom prst="roundRect">
            <a:avLst>
              <a:gd name="adj" fmla="val 50000"/>
            </a:avLst>
          </a:prstGeom>
          <a:solidFill>
            <a:srgbClr val="F6F8F7"/>
          </a:solidFill>
          <a:ln w="9525">
            <a:solidFill>
              <a:srgbClr val="DCE6DF"/>
            </a:solidFill>
            <a:prstDash val="solid"/>
          </a:ln>
        </p:spPr>
        <p:txBody>
          <a:bodyPr/>
          <a:lstStyle/>
          <a:p>
            <a:endParaRPr lang="en-US"/>
          </a:p>
        </p:txBody>
      </p:sp>
      <p:sp>
        <p:nvSpPr>
          <p:cNvPr id="11" name="Text 8"/>
          <p:cNvSpPr txBox="1"/>
          <p:nvPr/>
        </p:nvSpPr>
        <p:spPr>
          <a:xfrm>
            <a:off x="3448202" y="1600200"/>
            <a:ext cx="2395728" cy="566928"/>
          </a:xfrm>
          <a:prstGeom prst="rect">
            <a:avLst/>
          </a:prstGeom>
          <a:noFill/>
          <a:ln/>
        </p:spPr>
        <p:txBody>
          <a:bodyPr wrap="square" lIns="0" tIns="0" rIns="0" bIns="0" rtlCol="0" anchor="ctr"/>
          <a:lstStyle/>
          <a:p>
            <a:pPr marL="0" indent="0" algn="ctr">
              <a:buNone/>
            </a:pPr>
            <a:r>
              <a:rPr lang="en-US" sz="1250" b="1" dirty="0">
                <a:solidFill>
                  <a:srgbClr val="46555F"/>
                </a:solidFill>
                <a:latin typeface="Calibri" pitchFamily="34" charset="0"/>
                <a:ea typeface="Calibri" pitchFamily="34" charset="-122"/>
                <a:cs typeface="Calibri" pitchFamily="34" charset="-120"/>
              </a:rPr>
              <a:t>Fixed Care Routine</a:t>
            </a:r>
            <a:endParaRPr lang="en-US" sz="1250" dirty="0"/>
          </a:p>
        </p:txBody>
      </p:sp>
      <p:sp>
        <p:nvSpPr>
          <p:cNvPr id="12" name="Shape 9"/>
          <p:cNvSpPr/>
          <p:nvPr/>
        </p:nvSpPr>
        <p:spPr>
          <a:xfrm>
            <a:off x="5935370" y="1883664"/>
            <a:ext cx="320954" cy="914"/>
          </a:xfrm>
          <a:prstGeom prst="line">
            <a:avLst/>
          </a:prstGeom>
          <a:noFill/>
          <a:ln w="19050">
            <a:solidFill>
              <a:srgbClr val="7A8A94"/>
            </a:solidFill>
            <a:prstDash val="solid"/>
            <a:tailEnd type="triangle"/>
          </a:ln>
        </p:spPr>
        <p:txBody>
          <a:bodyPr/>
          <a:lstStyle/>
          <a:p>
            <a:endParaRPr lang="en-US"/>
          </a:p>
        </p:txBody>
      </p:sp>
      <p:sp>
        <p:nvSpPr>
          <p:cNvPr id="13" name="Shape 10"/>
          <p:cNvSpPr/>
          <p:nvPr/>
        </p:nvSpPr>
        <p:spPr>
          <a:xfrm>
            <a:off x="6347765" y="1600200"/>
            <a:ext cx="2395728" cy="566928"/>
          </a:xfrm>
          <a:prstGeom prst="roundRect">
            <a:avLst>
              <a:gd name="adj" fmla="val 50000"/>
            </a:avLst>
          </a:prstGeom>
          <a:solidFill>
            <a:srgbClr val="F6F8F7"/>
          </a:solidFill>
          <a:ln w="9525">
            <a:solidFill>
              <a:srgbClr val="DCE6DF"/>
            </a:solidFill>
            <a:prstDash val="solid"/>
          </a:ln>
        </p:spPr>
        <p:txBody>
          <a:bodyPr/>
          <a:lstStyle/>
          <a:p>
            <a:endParaRPr lang="en-US"/>
          </a:p>
        </p:txBody>
      </p:sp>
      <p:sp>
        <p:nvSpPr>
          <p:cNvPr id="14" name="Text 11"/>
          <p:cNvSpPr txBox="1"/>
          <p:nvPr/>
        </p:nvSpPr>
        <p:spPr>
          <a:xfrm>
            <a:off x="6347765" y="1600200"/>
            <a:ext cx="2395728" cy="566928"/>
          </a:xfrm>
          <a:prstGeom prst="rect">
            <a:avLst/>
          </a:prstGeom>
          <a:noFill/>
          <a:ln/>
        </p:spPr>
        <p:txBody>
          <a:bodyPr wrap="square" lIns="0" tIns="0" rIns="0" bIns="0" rtlCol="0" anchor="ctr"/>
          <a:lstStyle/>
          <a:p>
            <a:pPr marL="0" indent="0" algn="ctr">
              <a:buNone/>
            </a:pPr>
            <a:r>
              <a:rPr lang="en-US" sz="1250" b="1" dirty="0">
                <a:solidFill>
                  <a:srgbClr val="46555F"/>
                </a:solidFill>
                <a:latin typeface="Calibri" pitchFamily="34" charset="0"/>
                <a:ea typeface="Calibri" pitchFamily="34" charset="-122"/>
                <a:cs typeface="Calibri" pitchFamily="34" charset="-120"/>
              </a:rPr>
              <a:t>Environmental Changes Missed</a:t>
            </a:r>
            <a:endParaRPr lang="en-US" sz="1250" dirty="0"/>
          </a:p>
        </p:txBody>
      </p:sp>
      <p:sp>
        <p:nvSpPr>
          <p:cNvPr id="15" name="Shape 12"/>
          <p:cNvSpPr/>
          <p:nvPr/>
        </p:nvSpPr>
        <p:spPr>
          <a:xfrm>
            <a:off x="8834933" y="1883664"/>
            <a:ext cx="320954" cy="914"/>
          </a:xfrm>
          <a:prstGeom prst="line">
            <a:avLst/>
          </a:prstGeom>
          <a:noFill/>
          <a:ln w="19050">
            <a:solidFill>
              <a:srgbClr val="7A8A94"/>
            </a:solidFill>
            <a:prstDash val="solid"/>
            <a:tailEnd type="triangle"/>
          </a:ln>
        </p:spPr>
        <p:txBody>
          <a:bodyPr/>
          <a:lstStyle/>
          <a:p>
            <a:endParaRPr lang="en-US"/>
          </a:p>
        </p:txBody>
      </p:sp>
      <p:sp>
        <p:nvSpPr>
          <p:cNvPr id="16" name="Shape 13"/>
          <p:cNvSpPr/>
          <p:nvPr/>
        </p:nvSpPr>
        <p:spPr>
          <a:xfrm>
            <a:off x="9247327" y="1600200"/>
            <a:ext cx="2395728" cy="566928"/>
          </a:xfrm>
          <a:prstGeom prst="roundRect">
            <a:avLst>
              <a:gd name="adj" fmla="val 50000"/>
            </a:avLst>
          </a:prstGeom>
          <a:solidFill>
            <a:srgbClr val="FDECEC"/>
          </a:solidFill>
          <a:ln w="9525">
            <a:solidFill>
              <a:srgbClr val="F5C2C4"/>
            </a:solidFill>
            <a:prstDash val="solid"/>
          </a:ln>
        </p:spPr>
        <p:txBody>
          <a:bodyPr/>
          <a:lstStyle/>
          <a:p>
            <a:endParaRPr lang="en-US"/>
          </a:p>
        </p:txBody>
      </p:sp>
      <p:sp>
        <p:nvSpPr>
          <p:cNvPr id="17" name="Text 14"/>
          <p:cNvSpPr txBox="1"/>
          <p:nvPr/>
        </p:nvSpPr>
        <p:spPr>
          <a:xfrm>
            <a:off x="9247327" y="1600200"/>
            <a:ext cx="2395728" cy="566928"/>
          </a:xfrm>
          <a:prstGeom prst="rect">
            <a:avLst/>
          </a:prstGeom>
          <a:noFill/>
          <a:ln/>
        </p:spPr>
        <p:txBody>
          <a:bodyPr wrap="square" lIns="0" tIns="0" rIns="0" bIns="0" rtlCol="0" anchor="ctr"/>
          <a:lstStyle/>
          <a:p>
            <a:pPr marL="0" indent="0" algn="ctr">
              <a:buNone/>
            </a:pPr>
            <a:r>
              <a:rPr lang="en-US" sz="1250" b="1" dirty="0">
                <a:solidFill>
                  <a:srgbClr val="B42318"/>
                </a:solidFill>
                <a:latin typeface="Calibri" pitchFamily="34" charset="0"/>
                <a:ea typeface="Calibri" pitchFamily="34" charset="-122"/>
                <a:cs typeface="Calibri" pitchFamily="34" charset="-120"/>
              </a:rPr>
              <a:t>Poor Decision Support</a:t>
            </a:r>
            <a:endParaRPr lang="en-US" sz="1250" dirty="0"/>
          </a:p>
        </p:txBody>
      </p:sp>
      <p:sp>
        <p:nvSpPr>
          <p:cNvPr id="18" name="Shape 15"/>
          <p:cNvSpPr/>
          <p:nvPr/>
        </p:nvSpPr>
        <p:spPr>
          <a:xfrm>
            <a:off x="548640" y="2514600"/>
            <a:ext cx="3484778" cy="2487168"/>
          </a:xfrm>
          <a:prstGeom prst="roundRect">
            <a:avLst>
              <a:gd name="adj" fmla="val 4412"/>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9" name="Shape 16"/>
          <p:cNvSpPr/>
          <p:nvPr/>
        </p:nvSpPr>
        <p:spPr>
          <a:xfrm>
            <a:off x="868680" y="2834640"/>
            <a:ext cx="658368" cy="658368"/>
          </a:xfrm>
          <a:prstGeom prst="roundRect">
            <a:avLst>
              <a:gd name="adj" fmla="val 24000"/>
            </a:avLst>
          </a:prstGeom>
          <a:solidFill>
            <a:srgbClr val="14532D"/>
          </a:solidFill>
          <a:ln/>
        </p:spPr>
        <p:txBody>
          <a:bodyPr/>
          <a:lstStyle/>
          <a:p>
            <a:endParaRPr lang="en-US"/>
          </a:p>
        </p:txBody>
      </p:sp>
      <p:pic>
        <p:nvPicPr>
          <p:cNvPr id="20" name="Image 1" descr="preencoded.png"/>
          <p:cNvPicPr>
            <a:picLocks noChangeAspect="1"/>
          </p:cNvPicPr>
          <p:nvPr/>
        </p:nvPicPr>
        <p:blipFill>
          <a:blip r:embed="rId3"/>
          <a:stretch>
            <a:fillRect/>
          </a:stretch>
        </p:blipFill>
        <p:spPr>
          <a:xfrm>
            <a:off x="1013521" y="2979481"/>
            <a:ext cx="368686" cy="368686"/>
          </a:xfrm>
          <a:prstGeom prst="rect">
            <a:avLst/>
          </a:prstGeom>
        </p:spPr>
      </p:pic>
      <p:sp>
        <p:nvSpPr>
          <p:cNvPr id="21" name="Text 17"/>
          <p:cNvSpPr txBox="1"/>
          <p:nvPr/>
        </p:nvSpPr>
        <p:spPr>
          <a:xfrm>
            <a:off x="2798978" y="2743200"/>
            <a:ext cx="914400" cy="731520"/>
          </a:xfrm>
          <a:prstGeom prst="rect">
            <a:avLst/>
          </a:prstGeom>
          <a:noFill/>
          <a:ln/>
        </p:spPr>
        <p:txBody>
          <a:bodyPr wrap="square" lIns="0" tIns="0" rIns="0" bIns="0" rtlCol="0" anchor="t"/>
          <a:lstStyle/>
          <a:p>
            <a:pPr marL="0" indent="0" algn="r">
              <a:buNone/>
            </a:pPr>
            <a:r>
              <a:rPr lang="en-US" sz="4000" b="1" dirty="0">
                <a:solidFill>
                  <a:srgbClr val="C4EBD0"/>
                </a:solidFill>
                <a:latin typeface="Arial" pitchFamily="34" charset="0"/>
                <a:ea typeface="Arial" pitchFamily="34" charset="-122"/>
                <a:cs typeface="Arial" pitchFamily="34" charset="-120"/>
              </a:rPr>
              <a:t>01</a:t>
            </a:r>
            <a:endParaRPr lang="en-US" sz="4000" dirty="0"/>
          </a:p>
        </p:txBody>
      </p:sp>
      <p:sp>
        <p:nvSpPr>
          <p:cNvPr id="22" name="Text 18"/>
          <p:cNvSpPr txBox="1"/>
          <p:nvPr/>
        </p:nvSpPr>
        <p:spPr>
          <a:xfrm>
            <a:off x="868680" y="3703320"/>
            <a:ext cx="3027578" cy="411480"/>
          </a:xfrm>
          <a:prstGeom prst="rect">
            <a:avLst/>
          </a:prstGeom>
          <a:noFill/>
          <a:ln/>
        </p:spPr>
        <p:txBody>
          <a:bodyPr wrap="square" lIns="0" tIns="0" rIns="0" bIns="0" rtlCol="0" anchor="t"/>
          <a:lstStyle/>
          <a:p>
            <a:pPr marL="0" indent="0">
              <a:buNone/>
            </a:pPr>
            <a:r>
              <a:rPr lang="en-US" sz="1600" b="1" dirty="0">
                <a:solidFill>
                  <a:srgbClr val="0F1B2D"/>
                </a:solidFill>
                <a:latin typeface="Arial" pitchFamily="34" charset="0"/>
                <a:ea typeface="Arial" pitchFamily="34" charset="-122"/>
                <a:cs typeface="Arial" pitchFamily="34" charset="-120"/>
              </a:rPr>
              <a:t>Limited Monitoring</a:t>
            </a:r>
            <a:endParaRPr lang="en-US" sz="1600" dirty="0"/>
          </a:p>
        </p:txBody>
      </p:sp>
      <p:sp>
        <p:nvSpPr>
          <p:cNvPr id="23" name="Text 19"/>
          <p:cNvSpPr txBox="1"/>
          <p:nvPr/>
        </p:nvSpPr>
        <p:spPr>
          <a:xfrm>
            <a:off x="868680" y="4160520"/>
            <a:ext cx="2844698" cy="731520"/>
          </a:xfrm>
          <a:prstGeom prst="rect">
            <a:avLst/>
          </a:prstGeom>
          <a:noFill/>
          <a:ln/>
        </p:spPr>
        <p:txBody>
          <a:bodyPr wrap="square" lIns="0" tIns="0" rIns="0" bIns="0" rtlCol="0" anchor="t"/>
          <a:lstStyle/>
          <a:p>
            <a:pPr marL="0" indent="0">
              <a:buNone/>
            </a:pPr>
            <a:r>
              <a:rPr lang="en-US" sz="1350" dirty="0">
                <a:solidFill>
                  <a:srgbClr val="46555F"/>
                </a:solidFill>
                <a:latin typeface="Calibri" pitchFamily="34" charset="0"/>
                <a:ea typeface="Calibri" pitchFamily="34" charset="-122"/>
                <a:cs typeface="Calibri" pitchFamily="34" charset="-120"/>
              </a:rPr>
              <a:t>Traditional care relies heavily on manual observation — changes between inspections go unnoticed.</a:t>
            </a:r>
            <a:endParaRPr lang="en-US" sz="1350" dirty="0"/>
          </a:p>
        </p:txBody>
      </p:sp>
      <p:sp>
        <p:nvSpPr>
          <p:cNvPr id="24" name="Shape 20"/>
          <p:cNvSpPr/>
          <p:nvPr/>
        </p:nvSpPr>
        <p:spPr>
          <a:xfrm>
            <a:off x="4353458" y="2514600"/>
            <a:ext cx="3484778" cy="2487168"/>
          </a:xfrm>
          <a:prstGeom prst="roundRect">
            <a:avLst>
              <a:gd name="adj" fmla="val 4412"/>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25" name="Shape 21"/>
          <p:cNvSpPr/>
          <p:nvPr/>
        </p:nvSpPr>
        <p:spPr>
          <a:xfrm>
            <a:off x="4673498" y="2834640"/>
            <a:ext cx="658368" cy="658368"/>
          </a:xfrm>
          <a:prstGeom prst="roundRect">
            <a:avLst>
              <a:gd name="adj" fmla="val 24000"/>
            </a:avLst>
          </a:prstGeom>
          <a:solidFill>
            <a:srgbClr val="14532D"/>
          </a:solidFill>
          <a:ln/>
        </p:spPr>
        <p:txBody>
          <a:bodyPr/>
          <a:lstStyle/>
          <a:p>
            <a:endParaRPr lang="en-US"/>
          </a:p>
        </p:txBody>
      </p:sp>
      <p:pic>
        <p:nvPicPr>
          <p:cNvPr id="26" name="Image 2" descr="preencoded.png"/>
          <p:cNvPicPr>
            <a:picLocks noChangeAspect="1"/>
          </p:cNvPicPr>
          <p:nvPr/>
        </p:nvPicPr>
        <p:blipFill>
          <a:blip r:embed="rId4"/>
          <a:stretch>
            <a:fillRect/>
          </a:stretch>
        </p:blipFill>
        <p:spPr>
          <a:xfrm>
            <a:off x="4818339" y="2979481"/>
            <a:ext cx="368686" cy="368686"/>
          </a:xfrm>
          <a:prstGeom prst="rect">
            <a:avLst/>
          </a:prstGeom>
        </p:spPr>
      </p:pic>
      <p:sp>
        <p:nvSpPr>
          <p:cNvPr id="27" name="Text 22"/>
          <p:cNvSpPr txBox="1"/>
          <p:nvPr/>
        </p:nvSpPr>
        <p:spPr>
          <a:xfrm>
            <a:off x="6603797" y="2743200"/>
            <a:ext cx="914400" cy="731520"/>
          </a:xfrm>
          <a:prstGeom prst="rect">
            <a:avLst/>
          </a:prstGeom>
          <a:noFill/>
          <a:ln/>
        </p:spPr>
        <p:txBody>
          <a:bodyPr wrap="square" lIns="0" tIns="0" rIns="0" bIns="0" rtlCol="0" anchor="t"/>
          <a:lstStyle/>
          <a:p>
            <a:pPr marL="0" indent="0" algn="r">
              <a:buNone/>
            </a:pPr>
            <a:r>
              <a:rPr lang="en-US" sz="4000" b="1" dirty="0">
                <a:solidFill>
                  <a:srgbClr val="C4EBD0"/>
                </a:solidFill>
                <a:latin typeface="Arial" pitchFamily="34" charset="0"/>
                <a:ea typeface="Arial" pitchFamily="34" charset="-122"/>
                <a:cs typeface="Arial" pitchFamily="34" charset="-120"/>
              </a:rPr>
              <a:t>02</a:t>
            </a:r>
            <a:endParaRPr lang="en-US" sz="4000" dirty="0"/>
          </a:p>
        </p:txBody>
      </p:sp>
      <p:sp>
        <p:nvSpPr>
          <p:cNvPr id="28" name="Text 23"/>
          <p:cNvSpPr txBox="1"/>
          <p:nvPr/>
        </p:nvSpPr>
        <p:spPr>
          <a:xfrm>
            <a:off x="4673498" y="3703320"/>
            <a:ext cx="3027578" cy="411480"/>
          </a:xfrm>
          <a:prstGeom prst="rect">
            <a:avLst/>
          </a:prstGeom>
          <a:noFill/>
          <a:ln/>
        </p:spPr>
        <p:txBody>
          <a:bodyPr wrap="square" lIns="0" tIns="0" rIns="0" bIns="0" rtlCol="0" anchor="t"/>
          <a:lstStyle/>
          <a:p>
            <a:pPr marL="0" indent="0">
              <a:buNone/>
            </a:pPr>
            <a:r>
              <a:rPr lang="en-US" sz="1600" b="1" dirty="0">
                <a:solidFill>
                  <a:srgbClr val="0F1B2D"/>
                </a:solidFill>
                <a:latin typeface="Arial" pitchFamily="34" charset="0"/>
                <a:ea typeface="Arial" pitchFamily="34" charset="-122"/>
                <a:cs typeface="Arial" pitchFamily="34" charset="-120"/>
              </a:rPr>
              <a:t>Raw Data ≠ Understanding</a:t>
            </a:r>
            <a:endParaRPr lang="en-US" sz="1600" dirty="0"/>
          </a:p>
        </p:txBody>
      </p:sp>
      <p:sp>
        <p:nvSpPr>
          <p:cNvPr id="29" name="Text 24"/>
          <p:cNvSpPr txBox="1"/>
          <p:nvPr/>
        </p:nvSpPr>
        <p:spPr>
          <a:xfrm>
            <a:off x="4673498" y="4160520"/>
            <a:ext cx="2844698" cy="731520"/>
          </a:xfrm>
          <a:prstGeom prst="rect">
            <a:avLst/>
          </a:prstGeom>
          <a:noFill/>
          <a:ln/>
        </p:spPr>
        <p:txBody>
          <a:bodyPr wrap="square" lIns="0" tIns="0" rIns="0" bIns="0" rtlCol="0" anchor="t"/>
          <a:lstStyle/>
          <a:p>
            <a:pPr marL="0" indent="0">
              <a:buNone/>
            </a:pPr>
            <a:r>
              <a:rPr lang="en-US" sz="1350" dirty="0">
                <a:solidFill>
                  <a:srgbClr val="46555F"/>
                </a:solidFill>
                <a:latin typeface="Calibri" pitchFamily="34" charset="0"/>
                <a:ea typeface="Calibri" pitchFamily="34" charset="-122"/>
                <a:cs typeface="Calibri" pitchFamily="34" charset="-120"/>
              </a:rPr>
              <a:t>Sensor values alone may not tell users which care action is appropriate.</a:t>
            </a:r>
            <a:endParaRPr lang="en-US" sz="1350" dirty="0"/>
          </a:p>
        </p:txBody>
      </p:sp>
      <p:sp>
        <p:nvSpPr>
          <p:cNvPr id="30" name="Shape 25"/>
          <p:cNvSpPr/>
          <p:nvPr/>
        </p:nvSpPr>
        <p:spPr>
          <a:xfrm>
            <a:off x="8158277" y="2514600"/>
            <a:ext cx="3484778" cy="2487168"/>
          </a:xfrm>
          <a:prstGeom prst="roundRect">
            <a:avLst>
              <a:gd name="adj" fmla="val 4412"/>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31" name="Shape 26"/>
          <p:cNvSpPr/>
          <p:nvPr/>
        </p:nvSpPr>
        <p:spPr>
          <a:xfrm>
            <a:off x="8478317" y="2834640"/>
            <a:ext cx="658368" cy="658368"/>
          </a:xfrm>
          <a:prstGeom prst="roundRect">
            <a:avLst>
              <a:gd name="adj" fmla="val 24000"/>
            </a:avLst>
          </a:prstGeom>
          <a:solidFill>
            <a:srgbClr val="14532D"/>
          </a:solidFill>
          <a:ln/>
        </p:spPr>
        <p:txBody>
          <a:bodyPr/>
          <a:lstStyle/>
          <a:p>
            <a:endParaRPr lang="en-US"/>
          </a:p>
        </p:txBody>
      </p:sp>
      <p:pic>
        <p:nvPicPr>
          <p:cNvPr id="32" name="Image 3" descr="preencoded.png"/>
          <p:cNvPicPr>
            <a:picLocks noChangeAspect="1"/>
          </p:cNvPicPr>
          <p:nvPr/>
        </p:nvPicPr>
        <p:blipFill>
          <a:blip r:embed="rId5"/>
          <a:stretch>
            <a:fillRect/>
          </a:stretch>
        </p:blipFill>
        <p:spPr>
          <a:xfrm>
            <a:off x="8623158" y="2979481"/>
            <a:ext cx="368686" cy="368686"/>
          </a:xfrm>
          <a:prstGeom prst="rect">
            <a:avLst/>
          </a:prstGeom>
        </p:spPr>
      </p:pic>
      <p:sp>
        <p:nvSpPr>
          <p:cNvPr id="33" name="Text 27"/>
          <p:cNvSpPr txBox="1"/>
          <p:nvPr/>
        </p:nvSpPr>
        <p:spPr>
          <a:xfrm>
            <a:off x="10408615" y="2743200"/>
            <a:ext cx="914400" cy="731520"/>
          </a:xfrm>
          <a:prstGeom prst="rect">
            <a:avLst/>
          </a:prstGeom>
          <a:noFill/>
          <a:ln/>
        </p:spPr>
        <p:txBody>
          <a:bodyPr wrap="square" lIns="0" tIns="0" rIns="0" bIns="0" rtlCol="0" anchor="t"/>
          <a:lstStyle/>
          <a:p>
            <a:pPr marL="0" indent="0" algn="r">
              <a:buNone/>
            </a:pPr>
            <a:r>
              <a:rPr lang="en-US" sz="4000" b="1" dirty="0">
                <a:solidFill>
                  <a:srgbClr val="C4EBD0"/>
                </a:solidFill>
                <a:latin typeface="Arial" pitchFamily="34" charset="0"/>
                <a:ea typeface="Arial" pitchFamily="34" charset="-122"/>
                <a:cs typeface="Arial" pitchFamily="34" charset="-120"/>
              </a:rPr>
              <a:t>03</a:t>
            </a:r>
            <a:endParaRPr lang="en-US" sz="4000" dirty="0"/>
          </a:p>
        </p:txBody>
      </p:sp>
      <p:sp>
        <p:nvSpPr>
          <p:cNvPr id="34" name="Text 28"/>
          <p:cNvSpPr txBox="1"/>
          <p:nvPr/>
        </p:nvSpPr>
        <p:spPr>
          <a:xfrm>
            <a:off x="8478317" y="3703320"/>
            <a:ext cx="3027578" cy="411480"/>
          </a:xfrm>
          <a:prstGeom prst="rect">
            <a:avLst/>
          </a:prstGeom>
          <a:noFill/>
          <a:ln/>
        </p:spPr>
        <p:txBody>
          <a:bodyPr wrap="square" lIns="0" tIns="0" rIns="0" bIns="0" rtlCol="0" anchor="t"/>
          <a:lstStyle/>
          <a:p>
            <a:pPr marL="0" indent="0">
              <a:buNone/>
            </a:pPr>
            <a:r>
              <a:rPr lang="en-US" sz="1600" b="1" dirty="0">
                <a:solidFill>
                  <a:srgbClr val="0F1B2D"/>
                </a:solidFill>
                <a:latin typeface="Arial" pitchFamily="34" charset="0"/>
                <a:ea typeface="Arial" pitchFamily="34" charset="-122"/>
                <a:cs typeface="Arial" pitchFamily="34" charset="-120"/>
              </a:rPr>
              <a:t>Missing Context</a:t>
            </a:r>
            <a:endParaRPr lang="en-US" sz="1600" dirty="0"/>
          </a:p>
        </p:txBody>
      </p:sp>
      <p:sp>
        <p:nvSpPr>
          <p:cNvPr id="35" name="Text 29"/>
          <p:cNvSpPr txBox="1"/>
          <p:nvPr/>
        </p:nvSpPr>
        <p:spPr>
          <a:xfrm>
            <a:off x="8478317" y="4160520"/>
            <a:ext cx="2844698" cy="731520"/>
          </a:xfrm>
          <a:prstGeom prst="rect">
            <a:avLst/>
          </a:prstGeom>
          <a:noFill/>
          <a:ln/>
        </p:spPr>
        <p:txBody>
          <a:bodyPr wrap="square" lIns="0" tIns="0" rIns="0" bIns="0" rtlCol="0" anchor="t"/>
          <a:lstStyle/>
          <a:p>
            <a:pPr marL="0" indent="0">
              <a:buNone/>
            </a:pPr>
            <a:r>
              <a:rPr lang="en-US" sz="1350" dirty="0">
                <a:solidFill>
                  <a:srgbClr val="46555F"/>
                </a:solidFill>
                <a:latin typeface="Calibri" pitchFamily="34" charset="0"/>
                <a:ea typeface="Calibri" pitchFamily="34" charset="-122"/>
                <a:cs typeface="Calibri" pitchFamily="34" charset="-120"/>
              </a:rPr>
              <a:t>Local sensing alone cannot consider broader information such as the current weather.</a:t>
            </a:r>
            <a:endParaRPr lang="en-US" sz="1350" dirty="0"/>
          </a:p>
        </p:txBody>
      </p:sp>
      <p:sp>
        <p:nvSpPr>
          <p:cNvPr id="36" name="Shape 30"/>
          <p:cNvSpPr/>
          <p:nvPr/>
        </p:nvSpPr>
        <p:spPr>
          <a:xfrm>
            <a:off x="548640" y="5321808"/>
            <a:ext cx="11094415" cy="822960"/>
          </a:xfrm>
          <a:prstGeom prst="roundRect">
            <a:avLst>
              <a:gd name="adj" fmla="val 20000"/>
            </a:avLst>
          </a:prstGeom>
          <a:solidFill>
            <a:srgbClr val="14532D"/>
          </a:solidFill>
          <a:ln/>
        </p:spPr>
        <p:txBody>
          <a:bodyPr/>
          <a:lstStyle/>
          <a:p>
            <a:endParaRPr lang="en-US"/>
          </a:p>
        </p:txBody>
      </p:sp>
      <p:pic>
        <p:nvPicPr>
          <p:cNvPr id="37" name="Image 4" descr="preencoded.png"/>
          <p:cNvPicPr>
            <a:picLocks noChangeAspect="1"/>
          </p:cNvPicPr>
          <p:nvPr/>
        </p:nvPicPr>
        <p:blipFill>
          <a:blip r:embed="rId6"/>
          <a:stretch>
            <a:fillRect/>
          </a:stretch>
        </p:blipFill>
        <p:spPr>
          <a:xfrm>
            <a:off x="868680" y="5504688"/>
            <a:ext cx="457200" cy="457200"/>
          </a:xfrm>
          <a:prstGeom prst="rect">
            <a:avLst/>
          </a:prstGeom>
        </p:spPr>
      </p:pic>
      <p:sp>
        <p:nvSpPr>
          <p:cNvPr id="38" name="Text 31"/>
          <p:cNvSpPr txBox="1"/>
          <p:nvPr/>
        </p:nvSpPr>
        <p:spPr>
          <a:xfrm>
            <a:off x="1508760" y="5321808"/>
            <a:ext cx="9814255" cy="82296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How can raw environmental data become meaningful plant-care intelligence?</a:t>
            </a:r>
            <a:endParaRPr lang="en-US" sz="1900" dirty="0"/>
          </a:p>
        </p:txBody>
      </p:sp>
      <p:sp>
        <p:nvSpPr>
          <p:cNvPr id="39" name="Text 32"/>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40" name="Text 33"/>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02</a:t>
            </a:r>
            <a:endParaRPr lang="en-US" sz="900"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03  ·  PROPOSED SOLUTION</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GreenPulse: From Sensing to Understanding</a:t>
            </a:r>
            <a:endParaRPr lang="en-US" sz="2800" dirty="0"/>
          </a:p>
        </p:txBody>
      </p:sp>
      <p:sp>
        <p:nvSpPr>
          <p:cNvPr id="7" name="Shape 4"/>
          <p:cNvSpPr/>
          <p:nvPr/>
        </p:nvSpPr>
        <p:spPr>
          <a:xfrm>
            <a:off x="1810512" y="2080260"/>
            <a:ext cx="582625" cy="914"/>
          </a:xfrm>
          <a:prstGeom prst="line">
            <a:avLst/>
          </a:prstGeom>
          <a:noFill/>
          <a:ln w="19050">
            <a:solidFill>
              <a:srgbClr val="4CC47A"/>
            </a:solidFill>
            <a:prstDash val="solid"/>
            <a:tailEnd type="triangle"/>
          </a:ln>
        </p:spPr>
        <p:txBody>
          <a:bodyPr/>
          <a:lstStyle/>
          <a:p>
            <a:endParaRPr lang="en-US"/>
          </a:p>
        </p:txBody>
      </p:sp>
      <p:sp>
        <p:nvSpPr>
          <p:cNvPr id="8" name="Shape 5"/>
          <p:cNvSpPr/>
          <p:nvPr/>
        </p:nvSpPr>
        <p:spPr>
          <a:xfrm>
            <a:off x="868680" y="1645920"/>
            <a:ext cx="868680" cy="868680"/>
          </a:xfrm>
          <a:prstGeom prst="ellipse">
            <a:avLst/>
          </a:prstGeom>
          <a:solidFill>
            <a:srgbClr val="E3F4E8"/>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1085850" y="1863090"/>
            <a:ext cx="434340" cy="434340"/>
          </a:xfrm>
          <a:prstGeom prst="rect">
            <a:avLst/>
          </a:prstGeom>
        </p:spPr>
      </p:pic>
      <p:sp>
        <p:nvSpPr>
          <p:cNvPr id="10" name="Text 6"/>
          <p:cNvSpPr txBox="1"/>
          <p:nvPr/>
        </p:nvSpPr>
        <p:spPr>
          <a:xfrm>
            <a:off x="457200"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Plant</a:t>
            </a:r>
            <a:endParaRPr lang="en-US" sz="1300" dirty="0"/>
          </a:p>
        </p:txBody>
      </p:sp>
      <p:sp>
        <p:nvSpPr>
          <p:cNvPr id="11" name="Text 7"/>
          <p:cNvSpPr txBox="1"/>
          <p:nvPr/>
        </p:nvSpPr>
        <p:spPr>
          <a:xfrm>
            <a:off x="457200"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Environment</a:t>
            </a:r>
            <a:endParaRPr lang="en-US" sz="1050" dirty="0"/>
          </a:p>
        </p:txBody>
      </p:sp>
      <p:sp>
        <p:nvSpPr>
          <p:cNvPr id="12" name="Shape 8"/>
          <p:cNvSpPr/>
          <p:nvPr/>
        </p:nvSpPr>
        <p:spPr>
          <a:xfrm>
            <a:off x="3408121" y="2080260"/>
            <a:ext cx="582625" cy="914"/>
          </a:xfrm>
          <a:prstGeom prst="line">
            <a:avLst/>
          </a:prstGeom>
          <a:noFill/>
          <a:ln w="19050">
            <a:solidFill>
              <a:srgbClr val="4CC47A"/>
            </a:solidFill>
            <a:prstDash val="solid"/>
            <a:tailEnd type="triangle"/>
          </a:ln>
        </p:spPr>
        <p:txBody>
          <a:bodyPr/>
          <a:lstStyle/>
          <a:p>
            <a:endParaRPr lang="en-US"/>
          </a:p>
        </p:txBody>
      </p:sp>
      <p:sp>
        <p:nvSpPr>
          <p:cNvPr id="13" name="Shape 9"/>
          <p:cNvSpPr/>
          <p:nvPr/>
        </p:nvSpPr>
        <p:spPr>
          <a:xfrm>
            <a:off x="2466289" y="1645920"/>
            <a:ext cx="868680" cy="868680"/>
          </a:xfrm>
          <a:prstGeom prst="ellipse">
            <a:avLst/>
          </a:prstGeom>
          <a:solidFill>
            <a:srgbClr val="E3F4E8"/>
          </a:solidFill>
          <a:ln/>
        </p:spPr>
        <p:txBody>
          <a:bodyPr/>
          <a:lstStyle/>
          <a:p>
            <a:endParaRPr lang="en-US"/>
          </a:p>
        </p:txBody>
      </p:sp>
      <p:pic>
        <p:nvPicPr>
          <p:cNvPr id="14" name="Image 2" descr="preencoded.png"/>
          <p:cNvPicPr>
            <a:picLocks noChangeAspect="1"/>
          </p:cNvPicPr>
          <p:nvPr/>
        </p:nvPicPr>
        <p:blipFill>
          <a:blip r:embed="rId4"/>
          <a:stretch>
            <a:fillRect/>
          </a:stretch>
        </p:blipFill>
        <p:spPr>
          <a:xfrm>
            <a:off x="2683459" y="1863090"/>
            <a:ext cx="434340" cy="434340"/>
          </a:xfrm>
          <a:prstGeom prst="rect">
            <a:avLst/>
          </a:prstGeom>
        </p:spPr>
      </p:pic>
      <p:sp>
        <p:nvSpPr>
          <p:cNvPr id="15" name="Text 10"/>
          <p:cNvSpPr txBox="1"/>
          <p:nvPr/>
        </p:nvSpPr>
        <p:spPr>
          <a:xfrm>
            <a:off x="2054809"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Sensors</a:t>
            </a:r>
            <a:endParaRPr lang="en-US" sz="1300" dirty="0"/>
          </a:p>
        </p:txBody>
      </p:sp>
      <p:sp>
        <p:nvSpPr>
          <p:cNvPr id="16" name="Text 11"/>
          <p:cNvSpPr txBox="1"/>
          <p:nvPr/>
        </p:nvSpPr>
        <p:spPr>
          <a:xfrm>
            <a:off x="2054809"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Soil · DHT22 · BH1750</a:t>
            </a:r>
            <a:endParaRPr lang="en-US" sz="1050" dirty="0"/>
          </a:p>
        </p:txBody>
      </p:sp>
      <p:sp>
        <p:nvSpPr>
          <p:cNvPr id="17" name="Shape 12"/>
          <p:cNvSpPr/>
          <p:nvPr/>
        </p:nvSpPr>
        <p:spPr>
          <a:xfrm>
            <a:off x="5005730" y="2080260"/>
            <a:ext cx="582625" cy="914"/>
          </a:xfrm>
          <a:prstGeom prst="line">
            <a:avLst/>
          </a:prstGeom>
          <a:noFill/>
          <a:ln w="19050">
            <a:solidFill>
              <a:srgbClr val="4CC47A"/>
            </a:solidFill>
            <a:prstDash val="solid"/>
            <a:tailEnd type="triangle"/>
          </a:ln>
        </p:spPr>
        <p:txBody>
          <a:bodyPr/>
          <a:lstStyle/>
          <a:p>
            <a:endParaRPr lang="en-US"/>
          </a:p>
        </p:txBody>
      </p:sp>
      <p:sp>
        <p:nvSpPr>
          <p:cNvPr id="18" name="Shape 13"/>
          <p:cNvSpPr/>
          <p:nvPr/>
        </p:nvSpPr>
        <p:spPr>
          <a:xfrm>
            <a:off x="4063898" y="1645920"/>
            <a:ext cx="868680" cy="868680"/>
          </a:xfrm>
          <a:prstGeom prst="ellipse">
            <a:avLst/>
          </a:prstGeom>
          <a:solidFill>
            <a:srgbClr val="1E7A46"/>
          </a:solidFill>
          <a:ln/>
        </p:spPr>
        <p:txBody>
          <a:bodyPr/>
          <a:lstStyle/>
          <a:p>
            <a:endParaRPr lang="en-US"/>
          </a:p>
        </p:txBody>
      </p:sp>
      <p:pic>
        <p:nvPicPr>
          <p:cNvPr id="19" name="Image 3" descr="preencoded.png"/>
          <p:cNvPicPr>
            <a:picLocks noChangeAspect="1"/>
          </p:cNvPicPr>
          <p:nvPr/>
        </p:nvPicPr>
        <p:blipFill>
          <a:blip r:embed="rId5"/>
          <a:stretch>
            <a:fillRect/>
          </a:stretch>
        </p:blipFill>
        <p:spPr>
          <a:xfrm>
            <a:off x="4281068" y="1863090"/>
            <a:ext cx="434340" cy="434340"/>
          </a:xfrm>
          <a:prstGeom prst="rect">
            <a:avLst/>
          </a:prstGeom>
        </p:spPr>
      </p:pic>
      <p:sp>
        <p:nvSpPr>
          <p:cNvPr id="20" name="Text 14"/>
          <p:cNvSpPr txBox="1"/>
          <p:nvPr/>
        </p:nvSpPr>
        <p:spPr>
          <a:xfrm>
            <a:off x="3652418"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ESP32</a:t>
            </a:r>
            <a:endParaRPr lang="en-US" sz="1300" dirty="0"/>
          </a:p>
        </p:txBody>
      </p:sp>
      <p:sp>
        <p:nvSpPr>
          <p:cNvPr id="21" name="Text 15"/>
          <p:cNvSpPr txBox="1"/>
          <p:nvPr/>
        </p:nvSpPr>
        <p:spPr>
          <a:xfrm>
            <a:off x="3652418"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Acquire · display</a:t>
            </a:r>
            <a:endParaRPr lang="en-US" sz="1050" dirty="0"/>
          </a:p>
        </p:txBody>
      </p:sp>
      <p:sp>
        <p:nvSpPr>
          <p:cNvPr id="22" name="Shape 16"/>
          <p:cNvSpPr/>
          <p:nvPr/>
        </p:nvSpPr>
        <p:spPr>
          <a:xfrm>
            <a:off x="6603340" y="2080260"/>
            <a:ext cx="582625" cy="914"/>
          </a:xfrm>
          <a:prstGeom prst="line">
            <a:avLst/>
          </a:prstGeom>
          <a:noFill/>
          <a:ln w="19050">
            <a:solidFill>
              <a:srgbClr val="4CC47A"/>
            </a:solidFill>
            <a:prstDash val="solid"/>
            <a:tailEnd type="triangle"/>
          </a:ln>
        </p:spPr>
        <p:txBody>
          <a:bodyPr/>
          <a:lstStyle/>
          <a:p>
            <a:endParaRPr lang="en-US"/>
          </a:p>
        </p:txBody>
      </p:sp>
      <p:sp>
        <p:nvSpPr>
          <p:cNvPr id="23" name="Shape 17"/>
          <p:cNvSpPr/>
          <p:nvPr/>
        </p:nvSpPr>
        <p:spPr>
          <a:xfrm>
            <a:off x="5661508" y="1645920"/>
            <a:ext cx="868680" cy="868680"/>
          </a:xfrm>
          <a:prstGeom prst="ellipse">
            <a:avLst/>
          </a:prstGeom>
          <a:solidFill>
            <a:srgbClr val="0F766E"/>
          </a:solidFill>
          <a:ln/>
        </p:spPr>
        <p:txBody>
          <a:bodyPr/>
          <a:lstStyle/>
          <a:p>
            <a:endParaRPr lang="en-US"/>
          </a:p>
        </p:txBody>
      </p:sp>
      <p:pic>
        <p:nvPicPr>
          <p:cNvPr id="24" name="Image 4" descr="preencoded.png"/>
          <p:cNvPicPr>
            <a:picLocks noChangeAspect="1"/>
          </p:cNvPicPr>
          <p:nvPr/>
        </p:nvPicPr>
        <p:blipFill>
          <a:blip r:embed="rId6"/>
          <a:stretch>
            <a:fillRect/>
          </a:stretch>
        </p:blipFill>
        <p:spPr>
          <a:xfrm>
            <a:off x="5878678" y="1863090"/>
            <a:ext cx="434340" cy="434340"/>
          </a:xfrm>
          <a:prstGeom prst="rect">
            <a:avLst/>
          </a:prstGeom>
        </p:spPr>
      </p:pic>
      <p:sp>
        <p:nvSpPr>
          <p:cNvPr id="25" name="Text 18"/>
          <p:cNvSpPr txBox="1"/>
          <p:nvPr/>
        </p:nvSpPr>
        <p:spPr>
          <a:xfrm>
            <a:off x="5250028"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Secure MQTT</a:t>
            </a:r>
            <a:endParaRPr lang="en-US" sz="1300" dirty="0"/>
          </a:p>
        </p:txBody>
      </p:sp>
      <p:sp>
        <p:nvSpPr>
          <p:cNvPr id="26" name="Text 19"/>
          <p:cNvSpPr txBox="1"/>
          <p:nvPr/>
        </p:nvSpPr>
        <p:spPr>
          <a:xfrm>
            <a:off x="5250028"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TLS · AWS IoT Core</a:t>
            </a:r>
            <a:endParaRPr lang="en-US" sz="1050" dirty="0"/>
          </a:p>
        </p:txBody>
      </p:sp>
      <p:sp>
        <p:nvSpPr>
          <p:cNvPr id="27" name="Shape 20"/>
          <p:cNvSpPr/>
          <p:nvPr/>
        </p:nvSpPr>
        <p:spPr>
          <a:xfrm>
            <a:off x="8200949" y="2080260"/>
            <a:ext cx="582625" cy="914"/>
          </a:xfrm>
          <a:prstGeom prst="line">
            <a:avLst/>
          </a:prstGeom>
          <a:noFill/>
          <a:ln w="19050">
            <a:solidFill>
              <a:srgbClr val="4CC47A"/>
            </a:solidFill>
            <a:prstDash val="solid"/>
            <a:tailEnd type="triangle"/>
          </a:ln>
        </p:spPr>
        <p:txBody>
          <a:bodyPr/>
          <a:lstStyle/>
          <a:p>
            <a:endParaRPr lang="en-US"/>
          </a:p>
        </p:txBody>
      </p:sp>
      <p:sp>
        <p:nvSpPr>
          <p:cNvPr id="28" name="Shape 21"/>
          <p:cNvSpPr/>
          <p:nvPr/>
        </p:nvSpPr>
        <p:spPr>
          <a:xfrm>
            <a:off x="7259117" y="1645920"/>
            <a:ext cx="868680" cy="868680"/>
          </a:xfrm>
          <a:prstGeom prst="ellipse">
            <a:avLst/>
          </a:prstGeom>
          <a:solidFill>
            <a:srgbClr val="1E3A5F"/>
          </a:solidFill>
          <a:ln/>
        </p:spPr>
        <p:txBody>
          <a:bodyPr/>
          <a:lstStyle/>
          <a:p>
            <a:endParaRPr lang="en-US"/>
          </a:p>
        </p:txBody>
      </p:sp>
      <p:pic>
        <p:nvPicPr>
          <p:cNvPr id="29" name="Image 5" descr="preencoded.png"/>
          <p:cNvPicPr>
            <a:picLocks noChangeAspect="1"/>
          </p:cNvPicPr>
          <p:nvPr/>
        </p:nvPicPr>
        <p:blipFill>
          <a:blip r:embed="rId7"/>
          <a:stretch>
            <a:fillRect/>
          </a:stretch>
        </p:blipFill>
        <p:spPr>
          <a:xfrm>
            <a:off x="7476287" y="1863090"/>
            <a:ext cx="434340" cy="434340"/>
          </a:xfrm>
          <a:prstGeom prst="rect">
            <a:avLst/>
          </a:prstGeom>
        </p:spPr>
      </p:pic>
      <p:sp>
        <p:nvSpPr>
          <p:cNvPr id="30" name="Text 22"/>
          <p:cNvSpPr txBox="1"/>
          <p:nvPr/>
        </p:nvSpPr>
        <p:spPr>
          <a:xfrm>
            <a:off x="6847637"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Cloud + LLM</a:t>
            </a:r>
            <a:endParaRPr lang="en-US" sz="1300" dirty="0"/>
          </a:p>
        </p:txBody>
      </p:sp>
      <p:sp>
        <p:nvSpPr>
          <p:cNvPr id="31" name="Text 23"/>
          <p:cNvSpPr txBox="1"/>
          <p:nvPr/>
        </p:nvSpPr>
        <p:spPr>
          <a:xfrm>
            <a:off x="6847637"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Store · understand</a:t>
            </a:r>
            <a:endParaRPr lang="en-US" sz="1050" dirty="0"/>
          </a:p>
        </p:txBody>
      </p:sp>
      <p:sp>
        <p:nvSpPr>
          <p:cNvPr id="32" name="Shape 24"/>
          <p:cNvSpPr/>
          <p:nvPr/>
        </p:nvSpPr>
        <p:spPr>
          <a:xfrm>
            <a:off x="9798558" y="2080260"/>
            <a:ext cx="582625" cy="914"/>
          </a:xfrm>
          <a:prstGeom prst="line">
            <a:avLst/>
          </a:prstGeom>
          <a:noFill/>
          <a:ln w="19050">
            <a:solidFill>
              <a:srgbClr val="4CC47A"/>
            </a:solidFill>
            <a:prstDash val="solid"/>
            <a:tailEnd type="triangle"/>
          </a:ln>
        </p:spPr>
        <p:txBody>
          <a:bodyPr/>
          <a:lstStyle/>
          <a:p>
            <a:endParaRPr lang="en-US"/>
          </a:p>
        </p:txBody>
      </p:sp>
      <p:sp>
        <p:nvSpPr>
          <p:cNvPr id="33" name="Shape 25"/>
          <p:cNvSpPr/>
          <p:nvPr/>
        </p:nvSpPr>
        <p:spPr>
          <a:xfrm>
            <a:off x="8856726" y="1645920"/>
            <a:ext cx="868680" cy="868680"/>
          </a:xfrm>
          <a:prstGeom prst="ellipse">
            <a:avLst/>
          </a:prstGeom>
          <a:solidFill>
            <a:srgbClr val="4D7C0F"/>
          </a:solidFill>
          <a:ln/>
        </p:spPr>
        <p:txBody>
          <a:bodyPr/>
          <a:lstStyle/>
          <a:p>
            <a:endParaRPr lang="en-US"/>
          </a:p>
        </p:txBody>
      </p:sp>
      <p:pic>
        <p:nvPicPr>
          <p:cNvPr id="34" name="Image 6" descr="preencoded.png"/>
          <p:cNvPicPr>
            <a:picLocks noChangeAspect="1"/>
          </p:cNvPicPr>
          <p:nvPr/>
        </p:nvPicPr>
        <p:blipFill>
          <a:blip r:embed="rId8"/>
          <a:stretch>
            <a:fillRect/>
          </a:stretch>
        </p:blipFill>
        <p:spPr>
          <a:xfrm>
            <a:off x="9073896" y="1863090"/>
            <a:ext cx="434340" cy="434340"/>
          </a:xfrm>
          <a:prstGeom prst="rect">
            <a:avLst/>
          </a:prstGeom>
        </p:spPr>
      </p:pic>
      <p:sp>
        <p:nvSpPr>
          <p:cNvPr id="35" name="Text 26"/>
          <p:cNvSpPr txBox="1"/>
          <p:nvPr/>
        </p:nvSpPr>
        <p:spPr>
          <a:xfrm>
            <a:off x="8445246"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Node-RED</a:t>
            </a:r>
            <a:endParaRPr lang="en-US" sz="1300" dirty="0"/>
          </a:p>
        </p:txBody>
      </p:sp>
      <p:sp>
        <p:nvSpPr>
          <p:cNvPr id="36" name="Text 27"/>
          <p:cNvSpPr txBox="1"/>
          <p:nvPr/>
        </p:nvSpPr>
        <p:spPr>
          <a:xfrm>
            <a:off x="8445246"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Visualize</a:t>
            </a:r>
            <a:endParaRPr lang="en-US" sz="1050" dirty="0"/>
          </a:p>
        </p:txBody>
      </p:sp>
      <p:sp>
        <p:nvSpPr>
          <p:cNvPr id="37" name="Shape 28"/>
          <p:cNvSpPr/>
          <p:nvPr/>
        </p:nvSpPr>
        <p:spPr>
          <a:xfrm>
            <a:off x="10454335" y="1645920"/>
            <a:ext cx="868680" cy="868680"/>
          </a:xfrm>
          <a:prstGeom prst="ellipse">
            <a:avLst/>
          </a:prstGeom>
          <a:solidFill>
            <a:srgbClr val="E3F4E8"/>
          </a:solidFill>
          <a:ln/>
        </p:spPr>
        <p:txBody>
          <a:bodyPr/>
          <a:lstStyle/>
          <a:p>
            <a:endParaRPr lang="en-US"/>
          </a:p>
        </p:txBody>
      </p:sp>
      <p:pic>
        <p:nvPicPr>
          <p:cNvPr id="38" name="Image 7" descr="preencoded.png"/>
          <p:cNvPicPr>
            <a:picLocks noChangeAspect="1"/>
          </p:cNvPicPr>
          <p:nvPr/>
        </p:nvPicPr>
        <p:blipFill>
          <a:blip r:embed="rId9"/>
          <a:stretch>
            <a:fillRect/>
          </a:stretch>
        </p:blipFill>
        <p:spPr>
          <a:xfrm>
            <a:off x="10671505" y="1863090"/>
            <a:ext cx="434340" cy="434340"/>
          </a:xfrm>
          <a:prstGeom prst="rect">
            <a:avLst/>
          </a:prstGeom>
        </p:spPr>
      </p:pic>
      <p:sp>
        <p:nvSpPr>
          <p:cNvPr id="39" name="Text 29"/>
          <p:cNvSpPr txBox="1"/>
          <p:nvPr/>
        </p:nvSpPr>
        <p:spPr>
          <a:xfrm>
            <a:off x="10042855" y="2615184"/>
            <a:ext cx="1691640" cy="274320"/>
          </a:xfrm>
          <a:prstGeom prst="rect">
            <a:avLst/>
          </a:prstGeom>
          <a:noFill/>
          <a:ln/>
        </p:spPr>
        <p:txBody>
          <a:bodyPr wrap="square" lIns="0" tIns="0" rIns="0" bIns="0" rtlCol="0" anchor="t"/>
          <a:lstStyle/>
          <a:p>
            <a:pPr marL="0" indent="0" algn="ctr">
              <a:buNone/>
            </a:pPr>
            <a:r>
              <a:rPr lang="en-US" sz="1300" b="1" dirty="0">
                <a:solidFill>
                  <a:srgbClr val="0F1B2D"/>
                </a:solidFill>
                <a:latin typeface="Arial" pitchFamily="34" charset="0"/>
                <a:ea typeface="Arial" pitchFamily="34" charset="-122"/>
                <a:cs typeface="Arial" pitchFamily="34" charset="-120"/>
              </a:rPr>
              <a:t>User</a:t>
            </a:r>
            <a:endParaRPr lang="en-US" sz="1300" dirty="0"/>
          </a:p>
        </p:txBody>
      </p:sp>
      <p:sp>
        <p:nvSpPr>
          <p:cNvPr id="40" name="Text 30"/>
          <p:cNvSpPr txBox="1"/>
          <p:nvPr/>
        </p:nvSpPr>
        <p:spPr>
          <a:xfrm>
            <a:off x="10042855" y="2880360"/>
            <a:ext cx="1691640" cy="256032"/>
          </a:xfrm>
          <a:prstGeom prst="rect">
            <a:avLst/>
          </a:prstGeom>
          <a:noFill/>
          <a:ln/>
        </p:spPr>
        <p:txBody>
          <a:bodyPr wrap="square" lIns="0" tIns="0" rIns="0" bIns="0" rtlCol="0" anchor="t"/>
          <a:lstStyle/>
          <a:p>
            <a:pPr marL="0" indent="0" algn="ctr">
              <a:buNone/>
            </a:pPr>
            <a:r>
              <a:rPr lang="en-US" sz="1050" dirty="0">
                <a:solidFill>
                  <a:srgbClr val="7A8A94"/>
                </a:solidFill>
                <a:latin typeface="Calibri" pitchFamily="34" charset="0"/>
                <a:ea typeface="Calibri" pitchFamily="34" charset="-122"/>
                <a:cs typeface="Calibri" pitchFamily="34" charset="-120"/>
              </a:rPr>
              <a:t>Better decisions</a:t>
            </a:r>
            <a:endParaRPr lang="en-US" sz="1050" dirty="0"/>
          </a:p>
        </p:txBody>
      </p:sp>
      <p:sp>
        <p:nvSpPr>
          <p:cNvPr id="41" name="Shape 31"/>
          <p:cNvSpPr/>
          <p:nvPr/>
        </p:nvSpPr>
        <p:spPr>
          <a:xfrm>
            <a:off x="548640" y="3520440"/>
            <a:ext cx="2567864" cy="2331720"/>
          </a:xfrm>
          <a:prstGeom prst="roundRect">
            <a:avLst>
              <a:gd name="adj" fmla="val 470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42" name="Shape 32"/>
          <p:cNvSpPr/>
          <p:nvPr/>
        </p:nvSpPr>
        <p:spPr>
          <a:xfrm>
            <a:off x="822960" y="3794760"/>
            <a:ext cx="566928" cy="566928"/>
          </a:xfrm>
          <a:prstGeom prst="roundRect">
            <a:avLst>
              <a:gd name="adj" fmla="val 24000"/>
            </a:avLst>
          </a:prstGeom>
          <a:solidFill>
            <a:srgbClr val="1E7A46"/>
          </a:solidFill>
          <a:ln/>
        </p:spPr>
        <p:txBody>
          <a:bodyPr/>
          <a:lstStyle/>
          <a:p>
            <a:endParaRPr lang="en-US"/>
          </a:p>
        </p:txBody>
      </p:sp>
      <p:pic>
        <p:nvPicPr>
          <p:cNvPr id="43" name="Image 8" descr="preencoded.png"/>
          <p:cNvPicPr>
            <a:picLocks noChangeAspect="1"/>
          </p:cNvPicPr>
          <p:nvPr/>
        </p:nvPicPr>
        <p:blipFill>
          <a:blip r:embed="rId10"/>
          <a:stretch>
            <a:fillRect/>
          </a:stretch>
        </p:blipFill>
        <p:spPr>
          <a:xfrm>
            <a:off x="947684" y="3919484"/>
            <a:ext cx="317480" cy="317480"/>
          </a:xfrm>
          <a:prstGeom prst="rect">
            <a:avLst/>
          </a:prstGeom>
        </p:spPr>
      </p:pic>
      <p:sp>
        <p:nvSpPr>
          <p:cNvPr id="44" name="Text 33"/>
          <p:cNvSpPr txBox="1"/>
          <p:nvPr/>
        </p:nvSpPr>
        <p:spPr>
          <a:xfrm>
            <a:off x="1527048" y="3794760"/>
            <a:ext cx="1470584" cy="566928"/>
          </a:xfrm>
          <a:prstGeom prst="rect">
            <a:avLst/>
          </a:prstGeom>
          <a:noFill/>
          <a:ln/>
        </p:spPr>
        <p:txBody>
          <a:bodyPr wrap="square" lIns="0" tIns="0" rIns="0" bIns="0" rtlCol="0" anchor="ctr"/>
          <a:lstStyle/>
          <a:p>
            <a:pPr marL="0" indent="0">
              <a:buNone/>
            </a:pPr>
            <a:r>
              <a:rPr lang="en-US" sz="1400" b="1" kern="0" spc="50" dirty="0">
                <a:solidFill>
                  <a:srgbClr val="0F1B2D"/>
                </a:solidFill>
                <a:latin typeface="Arial" pitchFamily="34" charset="0"/>
                <a:ea typeface="Arial" pitchFamily="34" charset="-122"/>
                <a:cs typeface="Arial" pitchFamily="34" charset="-120"/>
              </a:rPr>
              <a:t>MONITOR</a:t>
            </a:r>
            <a:endParaRPr lang="en-US" sz="1400" dirty="0"/>
          </a:p>
        </p:txBody>
      </p:sp>
      <p:sp>
        <p:nvSpPr>
          <p:cNvPr id="45" name="Text 34"/>
          <p:cNvSpPr txBox="1"/>
          <p:nvPr/>
        </p:nvSpPr>
        <p:spPr>
          <a:xfrm>
            <a:off x="822960" y="4544568"/>
            <a:ext cx="2019224" cy="685800"/>
          </a:xfrm>
          <a:prstGeom prst="rect">
            <a:avLst/>
          </a:prstGeom>
          <a:noFill/>
          <a:ln/>
        </p:spPr>
        <p:txBody>
          <a:bodyPr wrap="square" lIns="0" tIns="0" rIns="0" bIns="0" rtlCol="0" anchor="t"/>
          <a:lstStyle/>
          <a:p>
            <a:pPr marL="0" indent="0">
              <a:buNone/>
            </a:pPr>
            <a:r>
              <a:rPr lang="en-US" sz="1300" dirty="0">
                <a:solidFill>
                  <a:srgbClr val="46555F"/>
                </a:solidFill>
                <a:latin typeface="Calibri" pitchFamily="34" charset="0"/>
                <a:ea typeface="Calibri" pitchFamily="34" charset="-122"/>
                <a:cs typeface="Calibri" pitchFamily="34" charset="-120"/>
              </a:rPr>
              <a:t>Real-time plant environmental sensing on an ESP32 device.</a:t>
            </a:r>
            <a:endParaRPr lang="en-US" sz="1300" dirty="0"/>
          </a:p>
        </p:txBody>
      </p:sp>
      <p:sp>
        <p:nvSpPr>
          <p:cNvPr id="46" name="Shape 35"/>
          <p:cNvSpPr/>
          <p:nvPr/>
        </p:nvSpPr>
        <p:spPr>
          <a:xfrm>
            <a:off x="822960" y="5285232"/>
            <a:ext cx="2019224" cy="914"/>
          </a:xfrm>
          <a:prstGeom prst="line">
            <a:avLst/>
          </a:prstGeom>
          <a:noFill/>
          <a:ln w="9525">
            <a:solidFill>
              <a:srgbClr val="DCE6DF"/>
            </a:solidFill>
            <a:prstDash val="solid"/>
          </a:ln>
        </p:spPr>
        <p:txBody>
          <a:bodyPr/>
          <a:lstStyle/>
          <a:p>
            <a:endParaRPr lang="en-US"/>
          </a:p>
        </p:txBody>
      </p:sp>
      <p:sp>
        <p:nvSpPr>
          <p:cNvPr id="47" name="Text 36"/>
          <p:cNvSpPr txBox="1"/>
          <p:nvPr/>
        </p:nvSpPr>
        <p:spPr>
          <a:xfrm>
            <a:off x="822960" y="5349240"/>
            <a:ext cx="2019224" cy="384048"/>
          </a:xfrm>
          <a:prstGeom prst="rect">
            <a:avLst/>
          </a:prstGeom>
          <a:noFill/>
          <a:ln/>
        </p:spPr>
        <p:txBody>
          <a:bodyPr wrap="square" lIns="0" tIns="0" rIns="0" bIns="0" rtlCol="0" anchor="ctr"/>
          <a:lstStyle/>
          <a:p>
            <a:pPr marL="0" indent="0">
              <a:buNone/>
            </a:pPr>
            <a:r>
              <a:rPr lang="en-US" sz="1050" b="1" dirty="0">
                <a:solidFill>
                  <a:srgbClr val="1E7A46"/>
                </a:solidFill>
                <a:latin typeface="Calibri" pitchFamily="34" charset="0"/>
                <a:ea typeface="Calibri" pitchFamily="34" charset="-122"/>
                <a:cs typeface="Calibri" pitchFamily="34" charset="-120"/>
              </a:rPr>
              <a:t>Soil moisture · temperature · humidity · light</a:t>
            </a:r>
            <a:endParaRPr lang="en-US" sz="1050" dirty="0"/>
          </a:p>
        </p:txBody>
      </p:sp>
      <p:sp>
        <p:nvSpPr>
          <p:cNvPr id="48" name="Shape 37"/>
          <p:cNvSpPr/>
          <p:nvPr/>
        </p:nvSpPr>
        <p:spPr>
          <a:xfrm>
            <a:off x="3390824" y="3520440"/>
            <a:ext cx="2567864" cy="2331720"/>
          </a:xfrm>
          <a:prstGeom prst="roundRect">
            <a:avLst>
              <a:gd name="adj" fmla="val 470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49" name="Shape 38"/>
          <p:cNvSpPr/>
          <p:nvPr/>
        </p:nvSpPr>
        <p:spPr>
          <a:xfrm>
            <a:off x="3665144" y="3794760"/>
            <a:ext cx="566928" cy="566928"/>
          </a:xfrm>
          <a:prstGeom prst="roundRect">
            <a:avLst>
              <a:gd name="adj" fmla="val 24000"/>
            </a:avLst>
          </a:prstGeom>
          <a:solidFill>
            <a:srgbClr val="0F766E"/>
          </a:solidFill>
          <a:ln/>
        </p:spPr>
        <p:txBody>
          <a:bodyPr/>
          <a:lstStyle/>
          <a:p>
            <a:endParaRPr lang="en-US"/>
          </a:p>
        </p:txBody>
      </p:sp>
      <p:pic>
        <p:nvPicPr>
          <p:cNvPr id="50" name="Image 9" descr="preencoded.png"/>
          <p:cNvPicPr>
            <a:picLocks noChangeAspect="1"/>
          </p:cNvPicPr>
          <p:nvPr/>
        </p:nvPicPr>
        <p:blipFill>
          <a:blip r:embed="rId11"/>
          <a:stretch>
            <a:fillRect/>
          </a:stretch>
        </p:blipFill>
        <p:spPr>
          <a:xfrm>
            <a:off x="3789868" y="3919484"/>
            <a:ext cx="317480" cy="317480"/>
          </a:xfrm>
          <a:prstGeom prst="rect">
            <a:avLst/>
          </a:prstGeom>
        </p:spPr>
      </p:pic>
      <p:sp>
        <p:nvSpPr>
          <p:cNvPr id="51" name="Text 39"/>
          <p:cNvSpPr txBox="1"/>
          <p:nvPr/>
        </p:nvSpPr>
        <p:spPr>
          <a:xfrm>
            <a:off x="4369232" y="3794760"/>
            <a:ext cx="1470584" cy="566928"/>
          </a:xfrm>
          <a:prstGeom prst="rect">
            <a:avLst/>
          </a:prstGeom>
          <a:noFill/>
          <a:ln/>
        </p:spPr>
        <p:txBody>
          <a:bodyPr wrap="square" lIns="0" tIns="0" rIns="0" bIns="0" rtlCol="0" anchor="ctr"/>
          <a:lstStyle/>
          <a:p>
            <a:pPr marL="0" indent="0">
              <a:buNone/>
            </a:pPr>
            <a:r>
              <a:rPr lang="en-US" sz="1400" b="1" kern="0" spc="50" dirty="0">
                <a:solidFill>
                  <a:srgbClr val="0F1B2D"/>
                </a:solidFill>
                <a:latin typeface="Arial" pitchFamily="34" charset="0"/>
                <a:ea typeface="Arial" pitchFamily="34" charset="-122"/>
                <a:cs typeface="Arial" pitchFamily="34" charset="-120"/>
              </a:rPr>
              <a:t>CONNECT</a:t>
            </a:r>
            <a:endParaRPr lang="en-US" sz="1400" dirty="0"/>
          </a:p>
        </p:txBody>
      </p:sp>
      <p:sp>
        <p:nvSpPr>
          <p:cNvPr id="52" name="Text 40"/>
          <p:cNvSpPr txBox="1"/>
          <p:nvPr/>
        </p:nvSpPr>
        <p:spPr>
          <a:xfrm>
            <a:off x="3665144" y="4544568"/>
            <a:ext cx="2019224" cy="685800"/>
          </a:xfrm>
          <a:prstGeom prst="rect">
            <a:avLst/>
          </a:prstGeom>
          <a:noFill/>
          <a:ln/>
        </p:spPr>
        <p:txBody>
          <a:bodyPr wrap="square" lIns="0" tIns="0" rIns="0" bIns="0" rtlCol="0" anchor="t"/>
          <a:lstStyle/>
          <a:p>
            <a:pPr marL="0" indent="0">
              <a:buNone/>
            </a:pPr>
            <a:r>
              <a:rPr lang="en-US" sz="1300" dirty="0">
                <a:solidFill>
                  <a:srgbClr val="46555F"/>
                </a:solidFill>
                <a:latin typeface="Calibri" pitchFamily="34" charset="0"/>
                <a:ea typeface="Calibri" pitchFamily="34" charset="-122"/>
                <a:cs typeface="Calibri" pitchFamily="34" charset="-120"/>
              </a:rPr>
              <a:t>Secure, bidirectional MQTT communication with the cloud.</a:t>
            </a:r>
            <a:endParaRPr lang="en-US" sz="1300" dirty="0"/>
          </a:p>
        </p:txBody>
      </p:sp>
      <p:sp>
        <p:nvSpPr>
          <p:cNvPr id="53" name="Shape 41"/>
          <p:cNvSpPr/>
          <p:nvPr/>
        </p:nvSpPr>
        <p:spPr>
          <a:xfrm>
            <a:off x="3665144" y="5285232"/>
            <a:ext cx="2019224" cy="914"/>
          </a:xfrm>
          <a:prstGeom prst="line">
            <a:avLst/>
          </a:prstGeom>
          <a:noFill/>
          <a:ln w="9525">
            <a:solidFill>
              <a:srgbClr val="DCE6DF"/>
            </a:solidFill>
            <a:prstDash val="solid"/>
          </a:ln>
        </p:spPr>
        <p:txBody>
          <a:bodyPr/>
          <a:lstStyle/>
          <a:p>
            <a:endParaRPr lang="en-US"/>
          </a:p>
        </p:txBody>
      </p:sp>
      <p:sp>
        <p:nvSpPr>
          <p:cNvPr id="54" name="Text 42"/>
          <p:cNvSpPr txBox="1"/>
          <p:nvPr/>
        </p:nvSpPr>
        <p:spPr>
          <a:xfrm>
            <a:off x="3665144" y="5349240"/>
            <a:ext cx="2019224" cy="384048"/>
          </a:xfrm>
          <a:prstGeom prst="rect">
            <a:avLst/>
          </a:prstGeom>
          <a:noFill/>
          <a:ln/>
        </p:spPr>
        <p:txBody>
          <a:bodyPr wrap="square" lIns="0" tIns="0" rIns="0" bIns="0" rtlCol="0" anchor="ctr"/>
          <a:lstStyle/>
          <a:p>
            <a:pPr marL="0" indent="0">
              <a:buNone/>
            </a:pPr>
            <a:r>
              <a:rPr lang="en-US" sz="1050" b="1" dirty="0">
                <a:solidFill>
                  <a:srgbClr val="0F766E"/>
                </a:solidFill>
                <a:latin typeface="Calibri" pitchFamily="34" charset="0"/>
                <a:ea typeface="Calibri" pitchFamily="34" charset="-122"/>
                <a:cs typeface="Calibri" pitchFamily="34" charset="-120"/>
              </a:rPr>
              <a:t>MQTT over TLS · AWS IoT Core · JSON</a:t>
            </a:r>
            <a:endParaRPr lang="en-US" sz="1050" dirty="0"/>
          </a:p>
        </p:txBody>
      </p:sp>
      <p:sp>
        <p:nvSpPr>
          <p:cNvPr id="55" name="Shape 43"/>
          <p:cNvSpPr/>
          <p:nvPr/>
        </p:nvSpPr>
        <p:spPr>
          <a:xfrm>
            <a:off x="6233008" y="3520440"/>
            <a:ext cx="2567864" cy="2331720"/>
          </a:xfrm>
          <a:prstGeom prst="roundRect">
            <a:avLst>
              <a:gd name="adj" fmla="val 470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56" name="Shape 44"/>
          <p:cNvSpPr/>
          <p:nvPr/>
        </p:nvSpPr>
        <p:spPr>
          <a:xfrm>
            <a:off x="6507328" y="3794760"/>
            <a:ext cx="566928" cy="566928"/>
          </a:xfrm>
          <a:prstGeom prst="roundRect">
            <a:avLst>
              <a:gd name="adj" fmla="val 24000"/>
            </a:avLst>
          </a:prstGeom>
          <a:solidFill>
            <a:srgbClr val="1E3A5F"/>
          </a:solidFill>
          <a:ln/>
        </p:spPr>
        <p:txBody>
          <a:bodyPr/>
          <a:lstStyle/>
          <a:p>
            <a:endParaRPr lang="en-US"/>
          </a:p>
        </p:txBody>
      </p:sp>
      <p:pic>
        <p:nvPicPr>
          <p:cNvPr id="57" name="Image 10" descr="preencoded.png"/>
          <p:cNvPicPr>
            <a:picLocks noChangeAspect="1"/>
          </p:cNvPicPr>
          <p:nvPr/>
        </p:nvPicPr>
        <p:blipFill>
          <a:blip r:embed="rId12"/>
          <a:stretch>
            <a:fillRect/>
          </a:stretch>
        </p:blipFill>
        <p:spPr>
          <a:xfrm>
            <a:off x="6632052" y="3919484"/>
            <a:ext cx="317480" cy="317480"/>
          </a:xfrm>
          <a:prstGeom prst="rect">
            <a:avLst/>
          </a:prstGeom>
        </p:spPr>
      </p:pic>
      <p:sp>
        <p:nvSpPr>
          <p:cNvPr id="58" name="Text 45"/>
          <p:cNvSpPr txBox="1"/>
          <p:nvPr/>
        </p:nvSpPr>
        <p:spPr>
          <a:xfrm>
            <a:off x="7211416" y="3794760"/>
            <a:ext cx="1470584" cy="566928"/>
          </a:xfrm>
          <a:prstGeom prst="rect">
            <a:avLst/>
          </a:prstGeom>
          <a:noFill/>
          <a:ln/>
        </p:spPr>
        <p:txBody>
          <a:bodyPr wrap="square" lIns="0" tIns="0" rIns="0" bIns="0" rtlCol="0" anchor="ctr"/>
          <a:lstStyle/>
          <a:p>
            <a:pPr marL="0" indent="0">
              <a:buNone/>
            </a:pPr>
            <a:r>
              <a:rPr lang="en-US" sz="1400" b="1" kern="0" spc="50" dirty="0">
                <a:solidFill>
                  <a:srgbClr val="0F1B2D"/>
                </a:solidFill>
                <a:latin typeface="Arial" pitchFamily="34" charset="0"/>
                <a:ea typeface="Arial" pitchFamily="34" charset="-122"/>
                <a:cs typeface="Arial" pitchFamily="34" charset="-120"/>
              </a:rPr>
              <a:t>UNDERSTAND</a:t>
            </a:r>
            <a:endParaRPr lang="en-US" sz="1400" dirty="0"/>
          </a:p>
        </p:txBody>
      </p:sp>
      <p:sp>
        <p:nvSpPr>
          <p:cNvPr id="59" name="Text 46"/>
          <p:cNvSpPr txBox="1"/>
          <p:nvPr/>
        </p:nvSpPr>
        <p:spPr>
          <a:xfrm>
            <a:off x="6507328" y="4544568"/>
            <a:ext cx="2019224" cy="685800"/>
          </a:xfrm>
          <a:prstGeom prst="rect">
            <a:avLst/>
          </a:prstGeom>
          <a:noFill/>
          <a:ln/>
        </p:spPr>
        <p:txBody>
          <a:bodyPr wrap="square" lIns="0" tIns="0" rIns="0" bIns="0" rtlCol="0" anchor="t"/>
          <a:lstStyle/>
          <a:p>
            <a:pPr marL="0" indent="0">
              <a:buNone/>
            </a:pPr>
            <a:r>
              <a:rPr lang="en-US" sz="1300" dirty="0">
                <a:solidFill>
                  <a:srgbClr val="46555F"/>
                </a:solidFill>
                <a:latin typeface="Calibri" pitchFamily="34" charset="0"/>
                <a:ea typeface="Calibri" pitchFamily="34" charset="-122"/>
                <a:cs typeface="Calibri" pitchFamily="34" charset="-120"/>
              </a:rPr>
              <a:t>Cloud and LLM-based contextual processing of the data.</a:t>
            </a:r>
            <a:endParaRPr lang="en-US" sz="1300" dirty="0"/>
          </a:p>
        </p:txBody>
      </p:sp>
      <p:sp>
        <p:nvSpPr>
          <p:cNvPr id="60" name="Shape 47"/>
          <p:cNvSpPr/>
          <p:nvPr/>
        </p:nvSpPr>
        <p:spPr>
          <a:xfrm>
            <a:off x="6507328" y="5285232"/>
            <a:ext cx="2019224" cy="914"/>
          </a:xfrm>
          <a:prstGeom prst="line">
            <a:avLst/>
          </a:prstGeom>
          <a:noFill/>
          <a:ln w="9525">
            <a:solidFill>
              <a:srgbClr val="DCE6DF"/>
            </a:solidFill>
            <a:prstDash val="solid"/>
          </a:ln>
        </p:spPr>
        <p:txBody>
          <a:bodyPr/>
          <a:lstStyle/>
          <a:p>
            <a:endParaRPr lang="en-US"/>
          </a:p>
        </p:txBody>
      </p:sp>
      <p:sp>
        <p:nvSpPr>
          <p:cNvPr id="61" name="Text 48"/>
          <p:cNvSpPr txBox="1"/>
          <p:nvPr/>
        </p:nvSpPr>
        <p:spPr>
          <a:xfrm>
            <a:off x="6507328" y="5349240"/>
            <a:ext cx="2019224" cy="384048"/>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Python · DynamoDB · LLM · weather · email</a:t>
            </a:r>
            <a:endParaRPr lang="en-US" sz="1050" dirty="0"/>
          </a:p>
        </p:txBody>
      </p:sp>
      <p:sp>
        <p:nvSpPr>
          <p:cNvPr id="62" name="Shape 49"/>
          <p:cNvSpPr/>
          <p:nvPr/>
        </p:nvSpPr>
        <p:spPr>
          <a:xfrm>
            <a:off x="9075191" y="3520440"/>
            <a:ext cx="2567864" cy="2331720"/>
          </a:xfrm>
          <a:prstGeom prst="roundRect">
            <a:avLst>
              <a:gd name="adj" fmla="val 470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63" name="Shape 50"/>
          <p:cNvSpPr/>
          <p:nvPr/>
        </p:nvSpPr>
        <p:spPr>
          <a:xfrm>
            <a:off x="9349511" y="3794760"/>
            <a:ext cx="566928" cy="566928"/>
          </a:xfrm>
          <a:prstGeom prst="roundRect">
            <a:avLst>
              <a:gd name="adj" fmla="val 24000"/>
            </a:avLst>
          </a:prstGeom>
          <a:solidFill>
            <a:srgbClr val="4D7C0F"/>
          </a:solidFill>
          <a:ln/>
        </p:spPr>
        <p:txBody>
          <a:bodyPr/>
          <a:lstStyle/>
          <a:p>
            <a:endParaRPr lang="en-US"/>
          </a:p>
        </p:txBody>
      </p:sp>
      <p:pic>
        <p:nvPicPr>
          <p:cNvPr id="64" name="Image 11" descr="preencoded.png"/>
          <p:cNvPicPr>
            <a:picLocks noChangeAspect="1"/>
          </p:cNvPicPr>
          <p:nvPr/>
        </p:nvPicPr>
        <p:blipFill>
          <a:blip r:embed="rId8"/>
          <a:stretch>
            <a:fillRect/>
          </a:stretch>
        </p:blipFill>
        <p:spPr>
          <a:xfrm>
            <a:off x="9474236" y="3919484"/>
            <a:ext cx="317480" cy="317480"/>
          </a:xfrm>
          <a:prstGeom prst="rect">
            <a:avLst/>
          </a:prstGeom>
        </p:spPr>
      </p:pic>
      <p:sp>
        <p:nvSpPr>
          <p:cNvPr id="65" name="Text 51"/>
          <p:cNvSpPr txBox="1"/>
          <p:nvPr/>
        </p:nvSpPr>
        <p:spPr>
          <a:xfrm>
            <a:off x="10053599" y="3794760"/>
            <a:ext cx="1470584" cy="566928"/>
          </a:xfrm>
          <a:prstGeom prst="rect">
            <a:avLst/>
          </a:prstGeom>
          <a:noFill/>
          <a:ln/>
        </p:spPr>
        <p:txBody>
          <a:bodyPr wrap="square" lIns="0" tIns="0" rIns="0" bIns="0" rtlCol="0" anchor="ctr"/>
          <a:lstStyle/>
          <a:p>
            <a:pPr marL="0" indent="0">
              <a:buNone/>
            </a:pPr>
            <a:r>
              <a:rPr lang="en-US" sz="1400" b="1" kern="0" spc="50" dirty="0">
                <a:solidFill>
                  <a:srgbClr val="0F1B2D"/>
                </a:solidFill>
                <a:latin typeface="Arial" pitchFamily="34" charset="0"/>
                <a:ea typeface="Arial" pitchFamily="34" charset="-122"/>
                <a:cs typeface="Arial" pitchFamily="34" charset="-120"/>
              </a:rPr>
              <a:t>VISUALIZE</a:t>
            </a:r>
            <a:endParaRPr lang="en-US" sz="1400" dirty="0"/>
          </a:p>
        </p:txBody>
      </p:sp>
      <p:sp>
        <p:nvSpPr>
          <p:cNvPr id="66" name="Text 52"/>
          <p:cNvSpPr txBox="1"/>
          <p:nvPr/>
        </p:nvSpPr>
        <p:spPr>
          <a:xfrm>
            <a:off x="9349511" y="4544568"/>
            <a:ext cx="2019224" cy="685800"/>
          </a:xfrm>
          <a:prstGeom prst="rect">
            <a:avLst/>
          </a:prstGeom>
          <a:noFill/>
          <a:ln/>
        </p:spPr>
        <p:txBody>
          <a:bodyPr wrap="square" lIns="0" tIns="0" rIns="0" bIns="0" rtlCol="0" anchor="t"/>
          <a:lstStyle/>
          <a:p>
            <a:pPr marL="0" indent="0">
              <a:buNone/>
            </a:pPr>
            <a:r>
              <a:rPr lang="en-US" sz="1300" dirty="0">
                <a:solidFill>
                  <a:srgbClr val="46555F"/>
                </a:solidFill>
                <a:latin typeface="Calibri" pitchFamily="34" charset="0"/>
                <a:ea typeface="Calibri" pitchFamily="34" charset="-122"/>
                <a:cs typeface="Calibri" pitchFamily="34" charset="-120"/>
              </a:rPr>
              <a:t>Real-time Node-RED monitoring and intelligent information.</a:t>
            </a:r>
            <a:endParaRPr lang="en-US" sz="1300" dirty="0"/>
          </a:p>
        </p:txBody>
      </p:sp>
      <p:sp>
        <p:nvSpPr>
          <p:cNvPr id="67" name="Shape 53"/>
          <p:cNvSpPr/>
          <p:nvPr/>
        </p:nvSpPr>
        <p:spPr>
          <a:xfrm>
            <a:off x="9349511" y="5285232"/>
            <a:ext cx="2019224" cy="914"/>
          </a:xfrm>
          <a:prstGeom prst="line">
            <a:avLst/>
          </a:prstGeom>
          <a:noFill/>
          <a:ln w="9525">
            <a:solidFill>
              <a:srgbClr val="DCE6DF"/>
            </a:solidFill>
            <a:prstDash val="solid"/>
          </a:ln>
        </p:spPr>
        <p:txBody>
          <a:bodyPr/>
          <a:lstStyle/>
          <a:p>
            <a:endParaRPr lang="en-US"/>
          </a:p>
        </p:txBody>
      </p:sp>
      <p:sp>
        <p:nvSpPr>
          <p:cNvPr id="68" name="Text 54"/>
          <p:cNvSpPr txBox="1"/>
          <p:nvPr/>
        </p:nvSpPr>
        <p:spPr>
          <a:xfrm>
            <a:off x="9349511" y="5349240"/>
            <a:ext cx="2019224" cy="384048"/>
          </a:xfrm>
          <a:prstGeom prst="rect">
            <a:avLst/>
          </a:prstGeom>
          <a:noFill/>
          <a:ln/>
        </p:spPr>
        <p:txBody>
          <a:bodyPr wrap="square" lIns="0" tIns="0" rIns="0" bIns="0" rtlCol="0" anchor="ctr"/>
          <a:lstStyle/>
          <a:p>
            <a:pPr marL="0" indent="0">
              <a:buNone/>
            </a:pPr>
            <a:r>
              <a:rPr lang="en-US" sz="1050" b="1" dirty="0">
                <a:solidFill>
                  <a:srgbClr val="4D7C0F"/>
                </a:solidFill>
                <a:latin typeface="Calibri" pitchFamily="34" charset="0"/>
                <a:ea typeface="Calibri" pitchFamily="34" charset="-122"/>
                <a:cs typeface="Calibri" pitchFamily="34" charset="-120"/>
              </a:rPr>
              <a:t>Sensors · MQTT info · LLM input / output</a:t>
            </a:r>
            <a:endParaRPr lang="en-US" sz="1050" dirty="0"/>
          </a:p>
        </p:txBody>
      </p:sp>
      <p:sp>
        <p:nvSpPr>
          <p:cNvPr id="70" name="Text 56"/>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71" name="Text 57"/>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03</a:t>
            </a:r>
            <a:endParaRPr lang="en-US" sz="90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04  ·  OVERALL SYSTEM ARCHITECTURE</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Four Layers, One Connected System</a:t>
            </a:r>
            <a:endParaRPr lang="en-US" sz="2800" dirty="0"/>
          </a:p>
        </p:txBody>
      </p:sp>
      <p:sp>
        <p:nvSpPr>
          <p:cNvPr id="7" name="Shape 4"/>
          <p:cNvSpPr/>
          <p:nvPr/>
        </p:nvSpPr>
        <p:spPr>
          <a:xfrm>
            <a:off x="548640" y="1481328"/>
            <a:ext cx="11094415" cy="987552"/>
          </a:xfrm>
          <a:prstGeom prst="roundRect">
            <a:avLst>
              <a:gd name="adj" fmla="val 12963"/>
            </a:avLst>
          </a:prstGeom>
          <a:solidFill>
            <a:srgbClr val="E6F3EA"/>
          </a:solidFill>
          <a:ln/>
        </p:spPr>
        <p:txBody>
          <a:bodyPr/>
          <a:lstStyle/>
          <a:p>
            <a:endParaRPr lang="en-US"/>
          </a:p>
        </p:txBody>
      </p:sp>
      <p:sp>
        <p:nvSpPr>
          <p:cNvPr id="8" name="Shape 5"/>
          <p:cNvSpPr/>
          <p:nvPr/>
        </p:nvSpPr>
        <p:spPr>
          <a:xfrm>
            <a:off x="777240" y="1746504"/>
            <a:ext cx="457200" cy="457200"/>
          </a:xfrm>
          <a:prstGeom prst="ellipse">
            <a:avLst/>
          </a:prstGeom>
          <a:solidFill>
            <a:srgbClr val="1E7A46"/>
          </a:solidFill>
          <a:ln/>
        </p:spPr>
        <p:txBody>
          <a:bodyPr/>
          <a:lstStyle/>
          <a:p>
            <a:endParaRPr lang="en-US"/>
          </a:p>
        </p:txBody>
      </p:sp>
      <p:sp>
        <p:nvSpPr>
          <p:cNvPr id="9" name="Text 6"/>
          <p:cNvSpPr txBox="1"/>
          <p:nvPr/>
        </p:nvSpPr>
        <p:spPr>
          <a:xfrm>
            <a:off x="777240" y="17465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1371600" y="1700784"/>
            <a:ext cx="2468880" cy="310896"/>
          </a:xfrm>
          <a:prstGeom prst="rect">
            <a:avLst/>
          </a:prstGeom>
          <a:noFill/>
          <a:ln/>
        </p:spPr>
        <p:txBody>
          <a:bodyPr wrap="square" lIns="0" tIns="0" rIns="0" bIns="0" rtlCol="0" anchor="t"/>
          <a:lstStyle/>
          <a:p>
            <a:pPr marL="0" indent="0">
              <a:buNone/>
            </a:pPr>
            <a:r>
              <a:rPr lang="en-US" sz="1400" b="1" dirty="0">
                <a:solidFill>
                  <a:srgbClr val="0F1B2D"/>
                </a:solidFill>
                <a:latin typeface="Arial" pitchFamily="34" charset="0"/>
                <a:ea typeface="Arial" pitchFamily="34" charset="-122"/>
                <a:cs typeface="Arial" pitchFamily="34" charset="-120"/>
              </a:rPr>
              <a:t>IoT Device</a:t>
            </a:r>
            <a:endParaRPr lang="en-US" sz="1400" dirty="0"/>
          </a:p>
        </p:txBody>
      </p:sp>
      <p:sp>
        <p:nvSpPr>
          <p:cNvPr id="11" name="Text 8"/>
          <p:cNvSpPr txBox="1"/>
          <p:nvPr/>
        </p:nvSpPr>
        <p:spPr>
          <a:xfrm>
            <a:off x="1371600" y="2011680"/>
            <a:ext cx="2286000" cy="256032"/>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Sensing + device processing</a:t>
            </a:r>
            <a:endParaRPr lang="en-US" sz="1100" dirty="0"/>
          </a:p>
        </p:txBody>
      </p:sp>
      <p:sp>
        <p:nvSpPr>
          <p:cNvPr id="12" name="Shape 9"/>
          <p:cNvSpPr/>
          <p:nvPr/>
        </p:nvSpPr>
        <p:spPr>
          <a:xfrm>
            <a:off x="3794760" y="1700784"/>
            <a:ext cx="233172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3941064" y="1856232"/>
            <a:ext cx="237744" cy="237744"/>
          </a:xfrm>
          <a:prstGeom prst="rect">
            <a:avLst/>
          </a:prstGeom>
        </p:spPr>
      </p:pic>
      <p:sp>
        <p:nvSpPr>
          <p:cNvPr id="14" name="Text 10"/>
          <p:cNvSpPr txBox="1"/>
          <p:nvPr/>
        </p:nvSpPr>
        <p:spPr>
          <a:xfrm>
            <a:off x="4251960" y="1700784"/>
            <a:ext cx="1828800" cy="54864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Soil · DHT22 · BH1750</a:t>
            </a:r>
            <a:endParaRPr lang="en-US" sz="1200" dirty="0"/>
          </a:p>
        </p:txBody>
      </p:sp>
      <p:sp>
        <p:nvSpPr>
          <p:cNvPr id="15" name="Shape 11"/>
          <p:cNvSpPr/>
          <p:nvPr/>
        </p:nvSpPr>
        <p:spPr>
          <a:xfrm>
            <a:off x="6190488" y="1975104"/>
            <a:ext cx="237744" cy="914"/>
          </a:xfrm>
          <a:prstGeom prst="line">
            <a:avLst/>
          </a:prstGeom>
          <a:noFill/>
          <a:ln w="19050">
            <a:solidFill>
              <a:srgbClr val="1E7A46"/>
            </a:solidFill>
            <a:prstDash val="solid"/>
            <a:tailEnd type="triangle"/>
          </a:ln>
        </p:spPr>
        <p:txBody>
          <a:bodyPr/>
          <a:lstStyle/>
          <a:p>
            <a:endParaRPr lang="en-US"/>
          </a:p>
        </p:txBody>
      </p:sp>
      <p:sp>
        <p:nvSpPr>
          <p:cNvPr id="16" name="Shape 12"/>
          <p:cNvSpPr/>
          <p:nvPr/>
        </p:nvSpPr>
        <p:spPr>
          <a:xfrm>
            <a:off x="6492240" y="1700784"/>
            <a:ext cx="1325880" cy="548640"/>
          </a:xfrm>
          <a:prstGeom prst="roundRect">
            <a:avLst>
              <a:gd name="adj" fmla="val 20000"/>
            </a:avLst>
          </a:prstGeom>
          <a:solidFill>
            <a:srgbClr val="1E7A46"/>
          </a:solidFill>
          <a:ln/>
        </p:spPr>
        <p:txBody>
          <a:bodyPr/>
          <a:lstStyle/>
          <a:p>
            <a:endParaRPr lang="en-US"/>
          </a:p>
        </p:txBody>
      </p:sp>
      <p:pic>
        <p:nvPicPr>
          <p:cNvPr id="17" name="Image 2" descr="preencoded.png"/>
          <p:cNvPicPr>
            <a:picLocks noChangeAspect="1"/>
          </p:cNvPicPr>
          <p:nvPr/>
        </p:nvPicPr>
        <p:blipFill>
          <a:blip r:embed="rId4"/>
          <a:stretch>
            <a:fillRect/>
          </a:stretch>
        </p:blipFill>
        <p:spPr>
          <a:xfrm>
            <a:off x="6638544" y="1856232"/>
            <a:ext cx="237744" cy="237744"/>
          </a:xfrm>
          <a:prstGeom prst="rect">
            <a:avLst/>
          </a:prstGeom>
        </p:spPr>
      </p:pic>
      <p:sp>
        <p:nvSpPr>
          <p:cNvPr id="18" name="Text 13"/>
          <p:cNvSpPr txBox="1"/>
          <p:nvPr/>
        </p:nvSpPr>
        <p:spPr>
          <a:xfrm>
            <a:off x="6949440" y="1700784"/>
            <a:ext cx="822960" cy="5486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ESP32</a:t>
            </a:r>
            <a:endParaRPr lang="en-US" sz="1200" dirty="0"/>
          </a:p>
        </p:txBody>
      </p:sp>
      <p:sp>
        <p:nvSpPr>
          <p:cNvPr id="19" name="Shape 14"/>
          <p:cNvSpPr/>
          <p:nvPr/>
        </p:nvSpPr>
        <p:spPr>
          <a:xfrm>
            <a:off x="7882128" y="1975104"/>
            <a:ext cx="237744" cy="914"/>
          </a:xfrm>
          <a:prstGeom prst="line">
            <a:avLst/>
          </a:prstGeom>
          <a:noFill/>
          <a:ln w="19050">
            <a:solidFill>
              <a:srgbClr val="1E7A46"/>
            </a:solidFill>
            <a:prstDash val="solid"/>
            <a:tailEnd type="triangle"/>
          </a:ln>
        </p:spPr>
        <p:txBody>
          <a:bodyPr/>
          <a:lstStyle/>
          <a:p>
            <a:endParaRPr lang="en-US"/>
          </a:p>
        </p:txBody>
      </p:sp>
      <p:sp>
        <p:nvSpPr>
          <p:cNvPr id="20" name="Shape 15"/>
          <p:cNvSpPr/>
          <p:nvPr/>
        </p:nvSpPr>
        <p:spPr>
          <a:xfrm>
            <a:off x="8183880" y="1700784"/>
            <a:ext cx="192024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21" name="Image 3" descr="preencoded.png"/>
          <p:cNvPicPr>
            <a:picLocks noChangeAspect="1"/>
          </p:cNvPicPr>
          <p:nvPr/>
        </p:nvPicPr>
        <p:blipFill>
          <a:blip r:embed="rId5"/>
          <a:stretch>
            <a:fillRect/>
          </a:stretch>
        </p:blipFill>
        <p:spPr>
          <a:xfrm>
            <a:off x="8330184" y="1856232"/>
            <a:ext cx="237744" cy="237744"/>
          </a:xfrm>
          <a:prstGeom prst="rect">
            <a:avLst/>
          </a:prstGeom>
        </p:spPr>
      </p:pic>
      <p:sp>
        <p:nvSpPr>
          <p:cNvPr id="22" name="Text 16"/>
          <p:cNvSpPr txBox="1"/>
          <p:nvPr/>
        </p:nvSpPr>
        <p:spPr>
          <a:xfrm>
            <a:off x="8641080" y="1700784"/>
            <a:ext cx="1417320" cy="54864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OLED + RGB LED</a:t>
            </a:r>
            <a:endParaRPr lang="en-US" sz="1200" dirty="0"/>
          </a:p>
        </p:txBody>
      </p:sp>
      <p:sp>
        <p:nvSpPr>
          <p:cNvPr id="23" name="Text 17"/>
          <p:cNvSpPr txBox="1"/>
          <p:nvPr/>
        </p:nvSpPr>
        <p:spPr>
          <a:xfrm>
            <a:off x="10332720" y="1481328"/>
            <a:ext cx="1127455" cy="987552"/>
          </a:xfrm>
          <a:prstGeom prst="rect">
            <a:avLst/>
          </a:prstGeom>
          <a:noFill/>
          <a:ln/>
        </p:spPr>
        <p:txBody>
          <a:bodyPr wrap="square" lIns="0" tIns="0" rIns="0" bIns="0" rtlCol="0" anchor="ctr"/>
          <a:lstStyle/>
          <a:p>
            <a:pPr marL="0" indent="0" algn="r">
              <a:buNone/>
            </a:pPr>
            <a:r>
              <a:rPr lang="en-US" sz="1050" i="1" dirty="0">
                <a:solidFill>
                  <a:srgbClr val="1E7A46"/>
                </a:solidFill>
                <a:latin typeface="Calibri" pitchFamily="34" charset="0"/>
                <a:ea typeface="Calibri" pitchFamily="34" charset="-122"/>
                <a:cs typeface="Calibri" pitchFamily="34" charset="-120"/>
              </a:rPr>
              <a:t>Local status only</a:t>
            </a:r>
            <a:endParaRPr lang="en-US" sz="1050" dirty="0"/>
          </a:p>
        </p:txBody>
      </p:sp>
      <p:sp>
        <p:nvSpPr>
          <p:cNvPr id="24" name="Shape 18"/>
          <p:cNvSpPr/>
          <p:nvPr/>
        </p:nvSpPr>
        <p:spPr>
          <a:xfrm>
            <a:off x="850392" y="2404872"/>
            <a:ext cx="310896" cy="310896"/>
          </a:xfrm>
          <a:prstGeom prst="ellipse">
            <a:avLst/>
          </a:prstGeom>
          <a:solidFill>
            <a:srgbClr val="FFFFFF"/>
          </a:solidFill>
          <a:ln w="9525">
            <a:solidFill>
              <a:srgbClr val="DCE6DF"/>
            </a:solidFill>
            <a:prstDash val="solid"/>
          </a:ln>
        </p:spPr>
        <p:txBody>
          <a:bodyPr/>
          <a:lstStyle/>
          <a:p>
            <a:endParaRPr lang="en-US"/>
          </a:p>
        </p:txBody>
      </p:sp>
      <p:pic>
        <p:nvPicPr>
          <p:cNvPr id="25" name="Image 4" descr="preencoded.png"/>
          <p:cNvPicPr>
            <a:picLocks noChangeAspect="1"/>
          </p:cNvPicPr>
          <p:nvPr/>
        </p:nvPicPr>
        <p:blipFill>
          <a:blip r:embed="rId6"/>
          <a:stretch>
            <a:fillRect/>
          </a:stretch>
        </p:blipFill>
        <p:spPr>
          <a:xfrm>
            <a:off x="905256" y="2459736"/>
            <a:ext cx="201168" cy="201168"/>
          </a:xfrm>
          <a:prstGeom prst="rect">
            <a:avLst/>
          </a:prstGeom>
        </p:spPr>
      </p:pic>
      <p:sp>
        <p:nvSpPr>
          <p:cNvPr id="26" name="Shape 19"/>
          <p:cNvSpPr/>
          <p:nvPr/>
        </p:nvSpPr>
        <p:spPr>
          <a:xfrm>
            <a:off x="548640" y="2651760"/>
            <a:ext cx="11094415" cy="987552"/>
          </a:xfrm>
          <a:prstGeom prst="roundRect">
            <a:avLst>
              <a:gd name="adj" fmla="val 12963"/>
            </a:avLst>
          </a:prstGeom>
          <a:solidFill>
            <a:srgbClr val="E3F1F0"/>
          </a:solidFill>
          <a:ln/>
        </p:spPr>
        <p:txBody>
          <a:bodyPr/>
          <a:lstStyle/>
          <a:p>
            <a:endParaRPr lang="en-US"/>
          </a:p>
        </p:txBody>
      </p:sp>
      <p:sp>
        <p:nvSpPr>
          <p:cNvPr id="27" name="Shape 20"/>
          <p:cNvSpPr/>
          <p:nvPr/>
        </p:nvSpPr>
        <p:spPr>
          <a:xfrm>
            <a:off x="777240" y="2916936"/>
            <a:ext cx="457200" cy="457200"/>
          </a:xfrm>
          <a:prstGeom prst="ellipse">
            <a:avLst/>
          </a:prstGeom>
          <a:solidFill>
            <a:srgbClr val="0F766E"/>
          </a:solidFill>
          <a:ln/>
        </p:spPr>
        <p:txBody>
          <a:bodyPr/>
          <a:lstStyle/>
          <a:p>
            <a:endParaRPr lang="en-US"/>
          </a:p>
        </p:txBody>
      </p:sp>
      <p:sp>
        <p:nvSpPr>
          <p:cNvPr id="28" name="Text 21"/>
          <p:cNvSpPr txBox="1"/>
          <p:nvPr/>
        </p:nvSpPr>
        <p:spPr>
          <a:xfrm>
            <a:off x="777240" y="291693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9" name="Text 22"/>
          <p:cNvSpPr txBox="1"/>
          <p:nvPr/>
        </p:nvSpPr>
        <p:spPr>
          <a:xfrm>
            <a:off x="1371600" y="2871216"/>
            <a:ext cx="2468880" cy="310896"/>
          </a:xfrm>
          <a:prstGeom prst="rect">
            <a:avLst/>
          </a:prstGeom>
          <a:noFill/>
          <a:ln/>
        </p:spPr>
        <p:txBody>
          <a:bodyPr wrap="square" lIns="0" tIns="0" rIns="0" bIns="0" rtlCol="0" anchor="t"/>
          <a:lstStyle/>
          <a:p>
            <a:pPr marL="0" indent="0">
              <a:buNone/>
            </a:pPr>
            <a:r>
              <a:rPr lang="en-US" sz="1400" b="1" dirty="0">
                <a:solidFill>
                  <a:srgbClr val="0F1B2D"/>
                </a:solidFill>
                <a:latin typeface="Arial" pitchFamily="34" charset="0"/>
                <a:ea typeface="Arial" pitchFamily="34" charset="-122"/>
                <a:cs typeface="Arial" pitchFamily="34" charset="-120"/>
              </a:rPr>
              <a:t>Secure Communication</a:t>
            </a:r>
            <a:endParaRPr lang="en-US" sz="1400" dirty="0"/>
          </a:p>
        </p:txBody>
      </p:sp>
      <p:sp>
        <p:nvSpPr>
          <p:cNvPr id="30" name="Text 23"/>
          <p:cNvSpPr txBox="1"/>
          <p:nvPr/>
        </p:nvSpPr>
        <p:spPr>
          <a:xfrm>
            <a:off x="1371600" y="3182112"/>
            <a:ext cx="2286000" cy="256032"/>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Transport between device &amp; cloud</a:t>
            </a:r>
            <a:endParaRPr lang="en-US" sz="1100" dirty="0"/>
          </a:p>
        </p:txBody>
      </p:sp>
      <p:sp>
        <p:nvSpPr>
          <p:cNvPr id="31" name="Shape 24"/>
          <p:cNvSpPr/>
          <p:nvPr/>
        </p:nvSpPr>
        <p:spPr>
          <a:xfrm>
            <a:off x="3794760" y="2871216"/>
            <a:ext cx="118872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32" name="Image 5" descr="preencoded.png"/>
          <p:cNvPicPr>
            <a:picLocks noChangeAspect="1"/>
          </p:cNvPicPr>
          <p:nvPr/>
        </p:nvPicPr>
        <p:blipFill>
          <a:blip r:embed="rId7"/>
          <a:stretch>
            <a:fillRect/>
          </a:stretch>
        </p:blipFill>
        <p:spPr>
          <a:xfrm>
            <a:off x="3941064" y="3026664"/>
            <a:ext cx="237744" cy="237744"/>
          </a:xfrm>
          <a:prstGeom prst="rect">
            <a:avLst/>
          </a:prstGeom>
        </p:spPr>
      </p:pic>
      <p:sp>
        <p:nvSpPr>
          <p:cNvPr id="33" name="Text 25"/>
          <p:cNvSpPr txBox="1"/>
          <p:nvPr/>
        </p:nvSpPr>
        <p:spPr>
          <a:xfrm>
            <a:off x="4251960" y="2871216"/>
            <a:ext cx="685800" cy="54864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Wi-Fi</a:t>
            </a:r>
            <a:endParaRPr lang="en-US" sz="1200" dirty="0"/>
          </a:p>
        </p:txBody>
      </p:sp>
      <p:sp>
        <p:nvSpPr>
          <p:cNvPr id="34" name="Shape 26"/>
          <p:cNvSpPr/>
          <p:nvPr/>
        </p:nvSpPr>
        <p:spPr>
          <a:xfrm>
            <a:off x="5047488" y="3145536"/>
            <a:ext cx="237744" cy="914"/>
          </a:xfrm>
          <a:prstGeom prst="line">
            <a:avLst/>
          </a:prstGeom>
          <a:noFill/>
          <a:ln w="19050">
            <a:solidFill>
              <a:srgbClr val="0F766E"/>
            </a:solidFill>
            <a:prstDash val="solid"/>
            <a:tailEnd type="triangle"/>
          </a:ln>
        </p:spPr>
        <p:txBody>
          <a:bodyPr/>
          <a:lstStyle/>
          <a:p>
            <a:endParaRPr lang="en-US"/>
          </a:p>
        </p:txBody>
      </p:sp>
      <p:sp>
        <p:nvSpPr>
          <p:cNvPr id="35" name="Shape 27"/>
          <p:cNvSpPr/>
          <p:nvPr/>
        </p:nvSpPr>
        <p:spPr>
          <a:xfrm>
            <a:off x="5349240" y="2871216"/>
            <a:ext cx="2377440" cy="548640"/>
          </a:xfrm>
          <a:prstGeom prst="roundRect">
            <a:avLst>
              <a:gd name="adj" fmla="val 20000"/>
            </a:avLst>
          </a:prstGeom>
          <a:solidFill>
            <a:srgbClr val="0F766E"/>
          </a:solidFill>
          <a:ln/>
        </p:spPr>
        <p:txBody>
          <a:bodyPr/>
          <a:lstStyle/>
          <a:p>
            <a:endParaRPr lang="en-US"/>
          </a:p>
        </p:txBody>
      </p:sp>
      <p:pic>
        <p:nvPicPr>
          <p:cNvPr id="36" name="Image 6" descr="preencoded.png"/>
          <p:cNvPicPr>
            <a:picLocks noChangeAspect="1"/>
          </p:cNvPicPr>
          <p:nvPr/>
        </p:nvPicPr>
        <p:blipFill>
          <a:blip r:embed="rId8"/>
          <a:stretch>
            <a:fillRect/>
          </a:stretch>
        </p:blipFill>
        <p:spPr>
          <a:xfrm>
            <a:off x="5495544" y="3026664"/>
            <a:ext cx="237744" cy="237744"/>
          </a:xfrm>
          <a:prstGeom prst="rect">
            <a:avLst/>
          </a:prstGeom>
        </p:spPr>
      </p:pic>
      <p:sp>
        <p:nvSpPr>
          <p:cNvPr id="37" name="Text 28"/>
          <p:cNvSpPr txBox="1"/>
          <p:nvPr/>
        </p:nvSpPr>
        <p:spPr>
          <a:xfrm>
            <a:off x="5806440" y="2871216"/>
            <a:ext cx="1874520" cy="5486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MQTT over TLS · 8883</a:t>
            </a:r>
            <a:endParaRPr lang="en-US" sz="1200" dirty="0"/>
          </a:p>
        </p:txBody>
      </p:sp>
      <p:sp>
        <p:nvSpPr>
          <p:cNvPr id="38" name="Shape 29"/>
          <p:cNvSpPr/>
          <p:nvPr/>
        </p:nvSpPr>
        <p:spPr>
          <a:xfrm>
            <a:off x="7790688" y="3145536"/>
            <a:ext cx="237744" cy="914"/>
          </a:xfrm>
          <a:prstGeom prst="line">
            <a:avLst/>
          </a:prstGeom>
          <a:noFill/>
          <a:ln w="19050">
            <a:solidFill>
              <a:srgbClr val="0F766E"/>
            </a:solidFill>
            <a:prstDash val="solid"/>
            <a:tailEnd type="triangle"/>
          </a:ln>
        </p:spPr>
        <p:txBody>
          <a:bodyPr/>
          <a:lstStyle/>
          <a:p>
            <a:endParaRPr lang="en-US"/>
          </a:p>
        </p:txBody>
      </p:sp>
      <p:sp>
        <p:nvSpPr>
          <p:cNvPr id="39" name="Shape 30"/>
          <p:cNvSpPr/>
          <p:nvPr/>
        </p:nvSpPr>
        <p:spPr>
          <a:xfrm>
            <a:off x="8092440" y="2871216"/>
            <a:ext cx="187452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40" name="Image 7" descr="preencoded.png"/>
          <p:cNvPicPr>
            <a:picLocks noChangeAspect="1"/>
          </p:cNvPicPr>
          <p:nvPr/>
        </p:nvPicPr>
        <p:blipFill>
          <a:blip r:embed="rId9"/>
          <a:stretch>
            <a:fillRect/>
          </a:stretch>
        </p:blipFill>
        <p:spPr>
          <a:xfrm>
            <a:off x="8238744" y="3026664"/>
            <a:ext cx="237744" cy="237744"/>
          </a:xfrm>
          <a:prstGeom prst="rect">
            <a:avLst/>
          </a:prstGeom>
        </p:spPr>
      </p:pic>
      <p:sp>
        <p:nvSpPr>
          <p:cNvPr id="41" name="Text 31"/>
          <p:cNvSpPr txBox="1"/>
          <p:nvPr/>
        </p:nvSpPr>
        <p:spPr>
          <a:xfrm>
            <a:off x="8549640" y="2871216"/>
            <a:ext cx="1371600" cy="54864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AWS IoT Core</a:t>
            </a:r>
            <a:endParaRPr lang="en-US" sz="1200" dirty="0"/>
          </a:p>
        </p:txBody>
      </p:sp>
      <p:sp>
        <p:nvSpPr>
          <p:cNvPr id="42" name="Text 32"/>
          <p:cNvSpPr txBox="1"/>
          <p:nvPr/>
        </p:nvSpPr>
        <p:spPr>
          <a:xfrm>
            <a:off x="10195560" y="2651760"/>
            <a:ext cx="1264615" cy="987552"/>
          </a:xfrm>
          <a:prstGeom prst="rect">
            <a:avLst/>
          </a:prstGeom>
          <a:noFill/>
          <a:ln/>
        </p:spPr>
        <p:txBody>
          <a:bodyPr wrap="square" lIns="0" tIns="0" rIns="0" bIns="0" rtlCol="0" anchor="ctr"/>
          <a:lstStyle/>
          <a:p>
            <a:pPr marL="0" indent="0" algn="r">
              <a:buNone/>
            </a:pPr>
            <a:r>
              <a:rPr lang="en-US" sz="1050" i="1" dirty="0">
                <a:solidFill>
                  <a:srgbClr val="0F766E"/>
                </a:solidFill>
                <a:latin typeface="Calibri" pitchFamily="34" charset="0"/>
                <a:ea typeface="Calibri" pitchFamily="34" charset="-122"/>
                <a:cs typeface="Calibri" pitchFamily="34" charset="-120"/>
              </a:rPr>
              <a:t>Certificates · policies</a:t>
            </a:r>
            <a:endParaRPr lang="en-US" sz="1050" dirty="0"/>
          </a:p>
        </p:txBody>
      </p:sp>
      <p:sp>
        <p:nvSpPr>
          <p:cNvPr id="43" name="Shape 33"/>
          <p:cNvSpPr/>
          <p:nvPr/>
        </p:nvSpPr>
        <p:spPr>
          <a:xfrm>
            <a:off x="850392" y="3575304"/>
            <a:ext cx="310896" cy="310896"/>
          </a:xfrm>
          <a:prstGeom prst="ellipse">
            <a:avLst/>
          </a:prstGeom>
          <a:solidFill>
            <a:srgbClr val="FFFFFF"/>
          </a:solidFill>
          <a:ln w="9525">
            <a:solidFill>
              <a:srgbClr val="DCE6DF"/>
            </a:solidFill>
            <a:prstDash val="solid"/>
          </a:ln>
        </p:spPr>
        <p:txBody>
          <a:bodyPr/>
          <a:lstStyle/>
          <a:p>
            <a:endParaRPr lang="en-US"/>
          </a:p>
        </p:txBody>
      </p:sp>
      <p:pic>
        <p:nvPicPr>
          <p:cNvPr id="44" name="Image 8" descr="preencoded.png"/>
          <p:cNvPicPr>
            <a:picLocks noChangeAspect="1"/>
          </p:cNvPicPr>
          <p:nvPr/>
        </p:nvPicPr>
        <p:blipFill>
          <a:blip r:embed="rId6"/>
          <a:stretch>
            <a:fillRect/>
          </a:stretch>
        </p:blipFill>
        <p:spPr>
          <a:xfrm>
            <a:off x="905256" y="3630168"/>
            <a:ext cx="201168" cy="201168"/>
          </a:xfrm>
          <a:prstGeom prst="rect">
            <a:avLst/>
          </a:prstGeom>
        </p:spPr>
      </p:pic>
      <p:sp>
        <p:nvSpPr>
          <p:cNvPr id="45" name="Shape 34"/>
          <p:cNvSpPr/>
          <p:nvPr/>
        </p:nvSpPr>
        <p:spPr>
          <a:xfrm>
            <a:off x="548640" y="3822192"/>
            <a:ext cx="11094415" cy="987552"/>
          </a:xfrm>
          <a:prstGeom prst="roundRect">
            <a:avLst>
              <a:gd name="adj" fmla="val 12963"/>
            </a:avLst>
          </a:prstGeom>
          <a:solidFill>
            <a:srgbClr val="E7ECF3"/>
          </a:solidFill>
          <a:ln/>
        </p:spPr>
        <p:txBody>
          <a:bodyPr/>
          <a:lstStyle/>
          <a:p>
            <a:endParaRPr lang="en-US"/>
          </a:p>
        </p:txBody>
      </p:sp>
      <p:sp>
        <p:nvSpPr>
          <p:cNvPr id="46" name="Shape 35"/>
          <p:cNvSpPr/>
          <p:nvPr/>
        </p:nvSpPr>
        <p:spPr>
          <a:xfrm>
            <a:off x="777240" y="4087368"/>
            <a:ext cx="457200" cy="457200"/>
          </a:xfrm>
          <a:prstGeom prst="ellipse">
            <a:avLst/>
          </a:prstGeom>
          <a:solidFill>
            <a:srgbClr val="1E3A5F"/>
          </a:solidFill>
          <a:ln/>
        </p:spPr>
        <p:txBody>
          <a:bodyPr/>
          <a:lstStyle/>
          <a:p>
            <a:endParaRPr lang="en-US"/>
          </a:p>
        </p:txBody>
      </p:sp>
      <p:sp>
        <p:nvSpPr>
          <p:cNvPr id="47" name="Text 36"/>
          <p:cNvSpPr txBox="1"/>
          <p:nvPr/>
        </p:nvSpPr>
        <p:spPr>
          <a:xfrm>
            <a:off x="777240" y="40873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48" name="Text 37"/>
          <p:cNvSpPr txBox="1"/>
          <p:nvPr/>
        </p:nvSpPr>
        <p:spPr>
          <a:xfrm>
            <a:off x="1371600" y="4041648"/>
            <a:ext cx="2468880" cy="310896"/>
          </a:xfrm>
          <a:prstGeom prst="rect">
            <a:avLst/>
          </a:prstGeom>
          <a:noFill/>
          <a:ln/>
        </p:spPr>
        <p:txBody>
          <a:bodyPr wrap="square" lIns="0" tIns="0" rIns="0" bIns="0" rtlCol="0" anchor="t"/>
          <a:lstStyle/>
          <a:p>
            <a:pPr marL="0" indent="0">
              <a:buNone/>
            </a:pPr>
            <a:r>
              <a:rPr lang="en-US" sz="1400" b="1" dirty="0">
                <a:solidFill>
                  <a:srgbClr val="0F1B2D"/>
                </a:solidFill>
                <a:latin typeface="Arial" pitchFamily="34" charset="0"/>
                <a:ea typeface="Arial" pitchFamily="34" charset="-122"/>
                <a:cs typeface="Arial" pitchFamily="34" charset="-120"/>
              </a:rPr>
              <a:t>Cloud Intelligence</a:t>
            </a:r>
            <a:endParaRPr lang="en-US" sz="1400" dirty="0"/>
          </a:p>
        </p:txBody>
      </p:sp>
      <p:sp>
        <p:nvSpPr>
          <p:cNvPr id="49" name="Text 38"/>
          <p:cNvSpPr txBox="1"/>
          <p:nvPr/>
        </p:nvSpPr>
        <p:spPr>
          <a:xfrm>
            <a:off x="1371600" y="4352544"/>
            <a:ext cx="2286000" cy="256032"/>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Store, enrich &amp; interpret</a:t>
            </a:r>
            <a:endParaRPr lang="en-US" sz="1100" dirty="0"/>
          </a:p>
        </p:txBody>
      </p:sp>
      <p:sp>
        <p:nvSpPr>
          <p:cNvPr id="50" name="Shape 39"/>
          <p:cNvSpPr/>
          <p:nvPr/>
        </p:nvSpPr>
        <p:spPr>
          <a:xfrm>
            <a:off x="3794760" y="4041648"/>
            <a:ext cx="1691640" cy="548640"/>
          </a:xfrm>
          <a:prstGeom prst="roundRect">
            <a:avLst>
              <a:gd name="adj" fmla="val 20000"/>
            </a:avLst>
          </a:prstGeom>
          <a:solidFill>
            <a:srgbClr val="1E3A5F"/>
          </a:solidFill>
          <a:ln/>
        </p:spPr>
        <p:txBody>
          <a:bodyPr/>
          <a:lstStyle/>
          <a:p>
            <a:endParaRPr lang="en-US"/>
          </a:p>
        </p:txBody>
      </p:sp>
      <p:pic>
        <p:nvPicPr>
          <p:cNvPr id="51" name="Image 9" descr="preencoded.png"/>
          <p:cNvPicPr>
            <a:picLocks noChangeAspect="1"/>
          </p:cNvPicPr>
          <p:nvPr/>
        </p:nvPicPr>
        <p:blipFill>
          <a:blip r:embed="rId10"/>
          <a:stretch>
            <a:fillRect/>
          </a:stretch>
        </p:blipFill>
        <p:spPr>
          <a:xfrm>
            <a:off x="3941064" y="4197096"/>
            <a:ext cx="237744" cy="237744"/>
          </a:xfrm>
          <a:prstGeom prst="rect">
            <a:avLst/>
          </a:prstGeom>
        </p:spPr>
      </p:pic>
      <p:sp>
        <p:nvSpPr>
          <p:cNvPr id="52" name="Text 40"/>
          <p:cNvSpPr txBox="1"/>
          <p:nvPr/>
        </p:nvSpPr>
        <p:spPr>
          <a:xfrm>
            <a:off x="4251960" y="4041648"/>
            <a:ext cx="1188720" cy="5486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Python Backend</a:t>
            </a:r>
            <a:endParaRPr lang="en-US" sz="1100" dirty="0"/>
          </a:p>
        </p:txBody>
      </p:sp>
      <p:sp>
        <p:nvSpPr>
          <p:cNvPr id="53" name="Shape 41"/>
          <p:cNvSpPr/>
          <p:nvPr/>
        </p:nvSpPr>
        <p:spPr>
          <a:xfrm>
            <a:off x="5550408" y="4315968"/>
            <a:ext cx="237744" cy="914"/>
          </a:xfrm>
          <a:prstGeom prst="line">
            <a:avLst/>
          </a:prstGeom>
          <a:noFill/>
          <a:ln w="19050">
            <a:solidFill>
              <a:srgbClr val="1E3A5F"/>
            </a:solidFill>
            <a:prstDash val="solid"/>
            <a:tailEnd type="triangle"/>
          </a:ln>
        </p:spPr>
        <p:txBody>
          <a:bodyPr/>
          <a:lstStyle/>
          <a:p>
            <a:endParaRPr lang="en-US"/>
          </a:p>
        </p:txBody>
      </p:sp>
      <p:sp>
        <p:nvSpPr>
          <p:cNvPr id="54" name="Shape 42"/>
          <p:cNvSpPr/>
          <p:nvPr/>
        </p:nvSpPr>
        <p:spPr>
          <a:xfrm>
            <a:off x="5852160" y="4041648"/>
            <a:ext cx="118872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55" name="Image 10" descr="preencoded.png"/>
          <p:cNvPicPr>
            <a:picLocks noChangeAspect="1"/>
          </p:cNvPicPr>
          <p:nvPr/>
        </p:nvPicPr>
        <p:blipFill>
          <a:blip r:embed="rId11"/>
          <a:stretch>
            <a:fillRect/>
          </a:stretch>
        </p:blipFill>
        <p:spPr>
          <a:xfrm>
            <a:off x="5998464" y="4197096"/>
            <a:ext cx="237744" cy="237744"/>
          </a:xfrm>
          <a:prstGeom prst="rect">
            <a:avLst/>
          </a:prstGeom>
        </p:spPr>
      </p:pic>
      <p:sp>
        <p:nvSpPr>
          <p:cNvPr id="56" name="Text 43"/>
          <p:cNvSpPr txBox="1"/>
          <p:nvPr/>
        </p:nvSpPr>
        <p:spPr>
          <a:xfrm>
            <a:off x="6309360" y="4041648"/>
            <a:ext cx="685800" cy="548640"/>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DynamoDB</a:t>
            </a:r>
            <a:endParaRPr lang="en-US" sz="1100" dirty="0"/>
          </a:p>
        </p:txBody>
      </p:sp>
      <p:sp>
        <p:nvSpPr>
          <p:cNvPr id="57" name="Shape 44"/>
          <p:cNvSpPr/>
          <p:nvPr/>
        </p:nvSpPr>
        <p:spPr>
          <a:xfrm>
            <a:off x="7150608" y="4041648"/>
            <a:ext cx="132588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58" name="Image 11" descr="preencoded.png"/>
          <p:cNvPicPr>
            <a:picLocks noChangeAspect="1"/>
          </p:cNvPicPr>
          <p:nvPr/>
        </p:nvPicPr>
        <p:blipFill>
          <a:blip r:embed="rId12"/>
          <a:stretch>
            <a:fillRect/>
          </a:stretch>
        </p:blipFill>
        <p:spPr>
          <a:xfrm>
            <a:off x="7296912" y="4197096"/>
            <a:ext cx="237744" cy="237744"/>
          </a:xfrm>
          <a:prstGeom prst="rect">
            <a:avLst/>
          </a:prstGeom>
        </p:spPr>
      </p:pic>
      <p:sp>
        <p:nvSpPr>
          <p:cNvPr id="59" name="Text 45"/>
          <p:cNvSpPr txBox="1"/>
          <p:nvPr/>
        </p:nvSpPr>
        <p:spPr>
          <a:xfrm>
            <a:off x="7607808" y="4041648"/>
            <a:ext cx="822960" cy="548640"/>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Weather API</a:t>
            </a:r>
            <a:endParaRPr lang="en-US" sz="1100" dirty="0"/>
          </a:p>
        </p:txBody>
      </p:sp>
      <p:sp>
        <p:nvSpPr>
          <p:cNvPr id="60" name="Shape 46"/>
          <p:cNvSpPr/>
          <p:nvPr/>
        </p:nvSpPr>
        <p:spPr>
          <a:xfrm>
            <a:off x="8586216" y="4041648"/>
            <a:ext cx="196596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61" name="Image 12" descr="preencoded.png"/>
          <p:cNvPicPr>
            <a:picLocks noChangeAspect="1"/>
          </p:cNvPicPr>
          <p:nvPr/>
        </p:nvPicPr>
        <p:blipFill>
          <a:blip r:embed="rId13"/>
          <a:stretch>
            <a:fillRect/>
          </a:stretch>
        </p:blipFill>
        <p:spPr>
          <a:xfrm>
            <a:off x="8732520" y="4197096"/>
            <a:ext cx="237744" cy="237744"/>
          </a:xfrm>
          <a:prstGeom prst="rect">
            <a:avLst/>
          </a:prstGeom>
        </p:spPr>
      </p:pic>
      <p:sp>
        <p:nvSpPr>
          <p:cNvPr id="62" name="Text 47"/>
          <p:cNvSpPr txBox="1"/>
          <p:nvPr/>
        </p:nvSpPr>
        <p:spPr>
          <a:xfrm>
            <a:off x="9043416" y="4041648"/>
            <a:ext cx="1463040" cy="548640"/>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Email / Notifications</a:t>
            </a:r>
            <a:endParaRPr lang="en-US" sz="1100" dirty="0"/>
          </a:p>
        </p:txBody>
      </p:sp>
      <p:sp>
        <p:nvSpPr>
          <p:cNvPr id="63" name="Shape 48"/>
          <p:cNvSpPr/>
          <p:nvPr/>
        </p:nvSpPr>
        <p:spPr>
          <a:xfrm>
            <a:off x="10661904" y="4041648"/>
            <a:ext cx="82296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64" name="Image 13" descr="preencoded.png"/>
          <p:cNvPicPr>
            <a:picLocks noChangeAspect="1"/>
          </p:cNvPicPr>
          <p:nvPr/>
        </p:nvPicPr>
        <p:blipFill>
          <a:blip r:embed="rId14"/>
          <a:stretch>
            <a:fillRect/>
          </a:stretch>
        </p:blipFill>
        <p:spPr>
          <a:xfrm>
            <a:off x="10808208" y="4197096"/>
            <a:ext cx="237744" cy="237744"/>
          </a:xfrm>
          <a:prstGeom prst="rect">
            <a:avLst/>
          </a:prstGeom>
        </p:spPr>
      </p:pic>
      <p:sp>
        <p:nvSpPr>
          <p:cNvPr id="65" name="Text 49"/>
          <p:cNvSpPr txBox="1"/>
          <p:nvPr/>
        </p:nvSpPr>
        <p:spPr>
          <a:xfrm>
            <a:off x="11119104" y="4041648"/>
            <a:ext cx="320040" cy="548640"/>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LLM</a:t>
            </a:r>
            <a:endParaRPr lang="en-US" sz="1100" dirty="0"/>
          </a:p>
        </p:txBody>
      </p:sp>
      <p:sp>
        <p:nvSpPr>
          <p:cNvPr id="66" name="Shape 50"/>
          <p:cNvSpPr/>
          <p:nvPr/>
        </p:nvSpPr>
        <p:spPr>
          <a:xfrm>
            <a:off x="850392" y="4745736"/>
            <a:ext cx="310896" cy="310896"/>
          </a:xfrm>
          <a:prstGeom prst="ellipse">
            <a:avLst/>
          </a:prstGeom>
          <a:solidFill>
            <a:srgbClr val="FFFFFF"/>
          </a:solidFill>
          <a:ln w="9525">
            <a:solidFill>
              <a:srgbClr val="DCE6DF"/>
            </a:solidFill>
            <a:prstDash val="solid"/>
          </a:ln>
        </p:spPr>
        <p:txBody>
          <a:bodyPr/>
          <a:lstStyle/>
          <a:p>
            <a:endParaRPr lang="en-US"/>
          </a:p>
        </p:txBody>
      </p:sp>
      <p:pic>
        <p:nvPicPr>
          <p:cNvPr id="67" name="Image 14" descr="preencoded.png"/>
          <p:cNvPicPr>
            <a:picLocks noChangeAspect="1"/>
          </p:cNvPicPr>
          <p:nvPr/>
        </p:nvPicPr>
        <p:blipFill>
          <a:blip r:embed="rId6"/>
          <a:stretch>
            <a:fillRect/>
          </a:stretch>
        </p:blipFill>
        <p:spPr>
          <a:xfrm>
            <a:off x="905256" y="4800600"/>
            <a:ext cx="201168" cy="201168"/>
          </a:xfrm>
          <a:prstGeom prst="rect">
            <a:avLst/>
          </a:prstGeom>
        </p:spPr>
      </p:pic>
      <p:sp>
        <p:nvSpPr>
          <p:cNvPr id="68" name="Shape 51"/>
          <p:cNvSpPr/>
          <p:nvPr/>
        </p:nvSpPr>
        <p:spPr>
          <a:xfrm>
            <a:off x="548640" y="4992624"/>
            <a:ext cx="11094415" cy="987552"/>
          </a:xfrm>
          <a:prstGeom prst="roundRect">
            <a:avLst>
              <a:gd name="adj" fmla="val 12963"/>
            </a:avLst>
          </a:prstGeom>
          <a:solidFill>
            <a:srgbClr val="EEF4E4"/>
          </a:solidFill>
          <a:ln/>
        </p:spPr>
        <p:txBody>
          <a:bodyPr/>
          <a:lstStyle/>
          <a:p>
            <a:endParaRPr lang="en-US"/>
          </a:p>
        </p:txBody>
      </p:sp>
      <p:sp>
        <p:nvSpPr>
          <p:cNvPr id="69" name="Shape 52"/>
          <p:cNvSpPr/>
          <p:nvPr/>
        </p:nvSpPr>
        <p:spPr>
          <a:xfrm>
            <a:off x="777240" y="5257800"/>
            <a:ext cx="457200" cy="457200"/>
          </a:xfrm>
          <a:prstGeom prst="ellipse">
            <a:avLst/>
          </a:prstGeom>
          <a:solidFill>
            <a:srgbClr val="4D7C0F"/>
          </a:solidFill>
          <a:ln/>
        </p:spPr>
        <p:txBody>
          <a:bodyPr/>
          <a:lstStyle/>
          <a:p>
            <a:endParaRPr lang="en-US"/>
          </a:p>
        </p:txBody>
      </p:sp>
      <p:sp>
        <p:nvSpPr>
          <p:cNvPr id="70" name="Text 53"/>
          <p:cNvSpPr txBox="1"/>
          <p:nvPr/>
        </p:nvSpPr>
        <p:spPr>
          <a:xfrm>
            <a:off x="777240" y="5257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71" name="Text 54"/>
          <p:cNvSpPr txBox="1"/>
          <p:nvPr/>
        </p:nvSpPr>
        <p:spPr>
          <a:xfrm>
            <a:off x="1371600" y="5212080"/>
            <a:ext cx="2468880" cy="310896"/>
          </a:xfrm>
          <a:prstGeom prst="rect">
            <a:avLst/>
          </a:prstGeom>
          <a:noFill/>
          <a:ln/>
        </p:spPr>
        <p:txBody>
          <a:bodyPr wrap="square" lIns="0" tIns="0" rIns="0" bIns="0" rtlCol="0" anchor="t"/>
          <a:lstStyle/>
          <a:p>
            <a:pPr marL="0" indent="0">
              <a:buNone/>
            </a:pPr>
            <a:r>
              <a:rPr lang="en-US" sz="1400" b="1" dirty="0">
                <a:solidFill>
                  <a:srgbClr val="0F1B2D"/>
                </a:solidFill>
                <a:latin typeface="Arial" pitchFamily="34" charset="0"/>
                <a:ea typeface="Arial" pitchFamily="34" charset="-122"/>
                <a:cs typeface="Arial" pitchFamily="34" charset="-120"/>
              </a:rPr>
              <a:t>Visualization</a:t>
            </a:r>
            <a:endParaRPr lang="en-US" sz="1400" dirty="0"/>
          </a:p>
        </p:txBody>
      </p:sp>
      <p:sp>
        <p:nvSpPr>
          <p:cNvPr id="72" name="Text 55"/>
          <p:cNvSpPr txBox="1"/>
          <p:nvPr/>
        </p:nvSpPr>
        <p:spPr>
          <a:xfrm>
            <a:off x="1371600" y="5522976"/>
            <a:ext cx="2286000" cy="256032"/>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Unified user interface</a:t>
            </a:r>
            <a:endParaRPr lang="en-US" sz="1100" dirty="0"/>
          </a:p>
        </p:txBody>
      </p:sp>
      <p:sp>
        <p:nvSpPr>
          <p:cNvPr id="73" name="Shape 56"/>
          <p:cNvSpPr/>
          <p:nvPr/>
        </p:nvSpPr>
        <p:spPr>
          <a:xfrm>
            <a:off x="3794760" y="5212080"/>
            <a:ext cx="2331720" cy="548640"/>
          </a:xfrm>
          <a:prstGeom prst="roundRect">
            <a:avLst>
              <a:gd name="adj" fmla="val 20000"/>
            </a:avLst>
          </a:prstGeom>
          <a:solidFill>
            <a:srgbClr val="4D7C0F"/>
          </a:solidFill>
          <a:ln/>
        </p:spPr>
        <p:txBody>
          <a:bodyPr/>
          <a:lstStyle/>
          <a:p>
            <a:endParaRPr lang="en-US"/>
          </a:p>
        </p:txBody>
      </p:sp>
      <p:pic>
        <p:nvPicPr>
          <p:cNvPr id="74" name="Image 15" descr="preencoded.png"/>
          <p:cNvPicPr>
            <a:picLocks noChangeAspect="1"/>
          </p:cNvPicPr>
          <p:nvPr/>
        </p:nvPicPr>
        <p:blipFill>
          <a:blip r:embed="rId15"/>
          <a:stretch>
            <a:fillRect/>
          </a:stretch>
        </p:blipFill>
        <p:spPr>
          <a:xfrm>
            <a:off x="3941064" y="5367528"/>
            <a:ext cx="237744" cy="237744"/>
          </a:xfrm>
          <a:prstGeom prst="rect">
            <a:avLst/>
          </a:prstGeom>
        </p:spPr>
      </p:pic>
      <p:sp>
        <p:nvSpPr>
          <p:cNvPr id="75" name="Text 57"/>
          <p:cNvSpPr txBox="1"/>
          <p:nvPr/>
        </p:nvSpPr>
        <p:spPr>
          <a:xfrm>
            <a:off x="4251960" y="5212080"/>
            <a:ext cx="1828800" cy="5486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Node-RED Dashboard</a:t>
            </a:r>
            <a:endParaRPr lang="en-US" sz="1200" dirty="0"/>
          </a:p>
        </p:txBody>
      </p:sp>
      <p:sp>
        <p:nvSpPr>
          <p:cNvPr id="76" name="Shape 58"/>
          <p:cNvSpPr/>
          <p:nvPr/>
        </p:nvSpPr>
        <p:spPr>
          <a:xfrm>
            <a:off x="6190488" y="5486400"/>
            <a:ext cx="237744" cy="914"/>
          </a:xfrm>
          <a:prstGeom prst="line">
            <a:avLst/>
          </a:prstGeom>
          <a:noFill/>
          <a:ln w="19050">
            <a:solidFill>
              <a:srgbClr val="4D7C0F"/>
            </a:solidFill>
            <a:prstDash val="solid"/>
            <a:tailEnd type="triangle"/>
          </a:ln>
        </p:spPr>
        <p:txBody>
          <a:bodyPr/>
          <a:lstStyle/>
          <a:p>
            <a:endParaRPr lang="en-US"/>
          </a:p>
        </p:txBody>
      </p:sp>
      <p:sp>
        <p:nvSpPr>
          <p:cNvPr id="77" name="Shape 59"/>
          <p:cNvSpPr/>
          <p:nvPr/>
        </p:nvSpPr>
        <p:spPr>
          <a:xfrm>
            <a:off x="6492240" y="5212080"/>
            <a:ext cx="1097280" cy="548640"/>
          </a:xfrm>
          <a:prstGeom prst="roundRect">
            <a:avLst>
              <a:gd name="adj" fmla="val 20000"/>
            </a:avLst>
          </a:prstGeom>
          <a:solidFill>
            <a:srgbClr val="FFFFFF"/>
          </a:solidFill>
          <a:ln w="9525">
            <a:solidFill>
              <a:srgbClr val="DCE6DF"/>
            </a:solidFill>
            <a:prstDash val="solid"/>
          </a:ln>
        </p:spPr>
        <p:txBody>
          <a:bodyPr/>
          <a:lstStyle/>
          <a:p>
            <a:endParaRPr lang="en-US"/>
          </a:p>
        </p:txBody>
      </p:sp>
      <p:pic>
        <p:nvPicPr>
          <p:cNvPr id="78" name="Image 16" descr="preencoded.png"/>
          <p:cNvPicPr>
            <a:picLocks noChangeAspect="1"/>
          </p:cNvPicPr>
          <p:nvPr/>
        </p:nvPicPr>
        <p:blipFill>
          <a:blip r:embed="rId16"/>
          <a:stretch>
            <a:fillRect/>
          </a:stretch>
        </p:blipFill>
        <p:spPr>
          <a:xfrm>
            <a:off x="6638544" y="5367528"/>
            <a:ext cx="237744" cy="237744"/>
          </a:xfrm>
          <a:prstGeom prst="rect">
            <a:avLst/>
          </a:prstGeom>
        </p:spPr>
      </p:pic>
      <p:sp>
        <p:nvSpPr>
          <p:cNvPr id="79" name="Text 60"/>
          <p:cNvSpPr txBox="1"/>
          <p:nvPr/>
        </p:nvSpPr>
        <p:spPr>
          <a:xfrm>
            <a:off x="6949440" y="5212080"/>
            <a:ext cx="594360" cy="54864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User</a:t>
            </a:r>
            <a:endParaRPr lang="en-US" sz="1200" dirty="0"/>
          </a:p>
        </p:txBody>
      </p:sp>
      <p:sp>
        <p:nvSpPr>
          <p:cNvPr id="80" name="Text 61"/>
          <p:cNvSpPr txBox="1"/>
          <p:nvPr/>
        </p:nvSpPr>
        <p:spPr>
          <a:xfrm>
            <a:off x="7818120" y="4992624"/>
            <a:ext cx="3642055" cy="987552"/>
          </a:xfrm>
          <a:prstGeom prst="rect">
            <a:avLst/>
          </a:prstGeom>
          <a:noFill/>
          <a:ln/>
        </p:spPr>
        <p:txBody>
          <a:bodyPr wrap="square" lIns="0" tIns="0" rIns="0" bIns="0" rtlCol="0" anchor="ctr"/>
          <a:lstStyle/>
          <a:p>
            <a:pPr marL="0" indent="0" algn="r">
              <a:buNone/>
            </a:pPr>
            <a:r>
              <a:rPr lang="en-US" sz="1050" i="1" dirty="0">
                <a:solidFill>
                  <a:srgbClr val="4D7C0F"/>
                </a:solidFill>
                <a:latin typeface="Calibri" pitchFamily="34" charset="0"/>
                <a:ea typeface="Calibri" pitchFamily="34" charset="-122"/>
                <a:cs typeface="Calibri" pitchFamily="34" charset="-120"/>
              </a:rPr>
              <a:t>Sensors · MQTT info · LLM I/O</a:t>
            </a:r>
            <a:endParaRPr lang="en-US" sz="1050" dirty="0"/>
          </a:p>
        </p:txBody>
      </p:sp>
      <p:sp>
        <p:nvSpPr>
          <p:cNvPr id="81" name="Text 62"/>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82" name="Text 63"/>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04</a:t>
            </a:r>
            <a:endParaRPr lang="en-US" sz="900"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05  ·  IOT HARDWARE &amp; EMBEDDED SENSING</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The ESP32 at the Heart of the Device</a:t>
            </a:r>
            <a:endParaRPr lang="en-US" sz="2800" dirty="0"/>
          </a:p>
        </p:txBody>
      </p:sp>
      <p:sp>
        <p:nvSpPr>
          <p:cNvPr id="7" name="Text 4"/>
          <p:cNvSpPr txBox="1"/>
          <p:nvPr/>
        </p:nvSpPr>
        <p:spPr>
          <a:xfrm>
            <a:off x="548640" y="1481328"/>
            <a:ext cx="3108960" cy="228600"/>
          </a:xfrm>
          <a:prstGeom prst="rect">
            <a:avLst/>
          </a:prstGeom>
          <a:noFill/>
          <a:ln/>
        </p:spPr>
        <p:txBody>
          <a:bodyPr wrap="square" lIns="0" tIns="0" rIns="0" bIns="0" rtlCol="0" anchor="t"/>
          <a:lstStyle/>
          <a:p>
            <a:pPr marL="0" indent="0">
              <a:buNone/>
            </a:pPr>
            <a:r>
              <a:rPr lang="en-US" sz="1000" b="1" kern="0" spc="200" dirty="0">
                <a:solidFill>
                  <a:srgbClr val="2E9E5B"/>
                </a:solidFill>
                <a:latin typeface="Calibri" pitchFamily="34" charset="0"/>
                <a:ea typeface="Calibri" pitchFamily="34" charset="-122"/>
                <a:cs typeface="Calibri" pitchFamily="34" charset="-120"/>
              </a:rPr>
              <a:t>SENSING INPUTS</a:t>
            </a:r>
            <a:endParaRPr lang="en-US" sz="1000" dirty="0"/>
          </a:p>
        </p:txBody>
      </p:sp>
      <p:sp>
        <p:nvSpPr>
          <p:cNvPr id="8" name="Text 5"/>
          <p:cNvSpPr txBox="1"/>
          <p:nvPr/>
        </p:nvSpPr>
        <p:spPr>
          <a:xfrm>
            <a:off x="8549640" y="1481328"/>
            <a:ext cx="3108960" cy="228600"/>
          </a:xfrm>
          <a:prstGeom prst="rect">
            <a:avLst/>
          </a:prstGeom>
          <a:noFill/>
          <a:ln/>
        </p:spPr>
        <p:txBody>
          <a:bodyPr wrap="square" lIns="0" tIns="0" rIns="0" bIns="0" rtlCol="0" anchor="t"/>
          <a:lstStyle/>
          <a:p>
            <a:pPr marL="0" indent="0">
              <a:buNone/>
            </a:pPr>
            <a:r>
              <a:rPr lang="en-US" sz="1000" b="1" kern="0" spc="200" dirty="0">
                <a:solidFill>
                  <a:srgbClr val="2E9E5B"/>
                </a:solidFill>
                <a:latin typeface="Calibri" pitchFamily="34" charset="0"/>
                <a:ea typeface="Calibri" pitchFamily="34" charset="-122"/>
                <a:cs typeface="Calibri" pitchFamily="34" charset="-120"/>
              </a:rPr>
              <a:t>LOCAL OUTPUTS</a:t>
            </a:r>
            <a:endParaRPr lang="en-US" sz="1000" dirty="0"/>
          </a:p>
        </p:txBody>
      </p:sp>
      <p:sp>
        <p:nvSpPr>
          <p:cNvPr id="9" name="Shape 6"/>
          <p:cNvSpPr/>
          <p:nvPr/>
        </p:nvSpPr>
        <p:spPr>
          <a:xfrm>
            <a:off x="548640" y="1801368"/>
            <a:ext cx="315468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0" name="Shape 7"/>
          <p:cNvSpPr/>
          <p:nvPr/>
        </p:nvSpPr>
        <p:spPr>
          <a:xfrm>
            <a:off x="731520" y="1984248"/>
            <a:ext cx="548640" cy="548640"/>
          </a:xfrm>
          <a:prstGeom prst="roundRect">
            <a:avLst>
              <a:gd name="adj" fmla="val 24000"/>
            </a:avLst>
          </a:prstGeom>
          <a:solidFill>
            <a:srgbClr val="1E7A46"/>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852221" y="2104949"/>
            <a:ext cx="307238" cy="307238"/>
          </a:xfrm>
          <a:prstGeom prst="rect">
            <a:avLst/>
          </a:prstGeom>
        </p:spPr>
      </p:pic>
      <p:sp>
        <p:nvSpPr>
          <p:cNvPr id="12" name="Text 8"/>
          <p:cNvSpPr txBox="1"/>
          <p:nvPr/>
        </p:nvSpPr>
        <p:spPr>
          <a:xfrm>
            <a:off x="1444752" y="1956816"/>
            <a:ext cx="2148840" cy="310896"/>
          </a:xfrm>
          <a:prstGeom prst="rect">
            <a:avLst/>
          </a:prstGeom>
          <a:noFill/>
          <a:ln/>
        </p:spPr>
        <p:txBody>
          <a:bodyPr wrap="square" lIns="0" tIns="0" rIns="0" bIns="0" rtlCol="0" anchor="t"/>
          <a:lstStyle/>
          <a:p>
            <a:pPr marL="0" indent="0">
              <a:buNone/>
            </a:pPr>
            <a:r>
              <a:rPr lang="en-US" sz="1450" b="1" dirty="0">
                <a:solidFill>
                  <a:srgbClr val="0F1B2D"/>
                </a:solidFill>
                <a:latin typeface="Arial" pitchFamily="34" charset="0"/>
                <a:ea typeface="Arial" pitchFamily="34" charset="-122"/>
                <a:cs typeface="Arial" pitchFamily="34" charset="-120"/>
              </a:rPr>
              <a:t>Soil Moisture</a:t>
            </a:r>
            <a:endParaRPr lang="en-US" sz="1450" dirty="0"/>
          </a:p>
        </p:txBody>
      </p:sp>
      <p:sp>
        <p:nvSpPr>
          <p:cNvPr id="13" name="Text 9"/>
          <p:cNvSpPr txBox="1"/>
          <p:nvPr/>
        </p:nvSpPr>
        <p:spPr>
          <a:xfrm>
            <a:off x="1444752" y="2276856"/>
            <a:ext cx="2148840" cy="274320"/>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Analog · GPIO34 · dry/wet calibration</a:t>
            </a:r>
            <a:endParaRPr lang="en-US" sz="1100" dirty="0"/>
          </a:p>
        </p:txBody>
      </p:sp>
      <p:sp>
        <p:nvSpPr>
          <p:cNvPr id="14" name="Shape 10"/>
          <p:cNvSpPr/>
          <p:nvPr/>
        </p:nvSpPr>
        <p:spPr>
          <a:xfrm>
            <a:off x="3776472" y="2258568"/>
            <a:ext cx="722376" cy="438912"/>
          </a:xfrm>
          <a:prstGeom prst="line">
            <a:avLst/>
          </a:prstGeom>
          <a:noFill/>
          <a:ln w="19050">
            <a:solidFill>
              <a:srgbClr val="4CC47A"/>
            </a:solidFill>
            <a:prstDash val="solid"/>
            <a:tailEnd type="triangle"/>
          </a:ln>
        </p:spPr>
        <p:txBody>
          <a:bodyPr/>
          <a:lstStyle/>
          <a:p>
            <a:endParaRPr lang="en-US"/>
          </a:p>
        </p:txBody>
      </p:sp>
      <p:sp>
        <p:nvSpPr>
          <p:cNvPr id="15" name="Shape 11"/>
          <p:cNvSpPr/>
          <p:nvPr/>
        </p:nvSpPr>
        <p:spPr>
          <a:xfrm>
            <a:off x="548640" y="2898648"/>
            <a:ext cx="315468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6" name="Shape 12"/>
          <p:cNvSpPr/>
          <p:nvPr/>
        </p:nvSpPr>
        <p:spPr>
          <a:xfrm>
            <a:off x="731520" y="3081528"/>
            <a:ext cx="548640" cy="548640"/>
          </a:xfrm>
          <a:prstGeom prst="roundRect">
            <a:avLst>
              <a:gd name="adj" fmla="val 24000"/>
            </a:avLst>
          </a:prstGeom>
          <a:solidFill>
            <a:srgbClr val="1E7A46"/>
          </a:solidFill>
          <a:ln/>
        </p:spPr>
        <p:txBody>
          <a:bodyPr/>
          <a:lstStyle/>
          <a:p>
            <a:endParaRPr lang="en-US"/>
          </a:p>
        </p:txBody>
      </p:sp>
      <p:pic>
        <p:nvPicPr>
          <p:cNvPr id="17" name="Image 2" descr="preencoded.png"/>
          <p:cNvPicPr>
            <a:picLocks noChangeAspect="1"/>
          </p:cNvPicPr>
          <p:nvPr/>
        </p:nvPicPr>
        <p:blipFill>
          <a:blip r:embed="rId4"/>
          <a:stretch>
            <a:fillRect/>
          </a:stretch>
        </p:blipFill>
        <p:spPr>
          <a:xfrm>
            <a:off x="852221" y="3202229"/>
            <a:ext cx="307238" cy="307238"/>
          </a:xfrm>
          <a:prstGeom prst="rect">
            <a:avLst/>
          </a:prstGeom>
        </p:spPr>
      </p:pic>
      <p:sp>
        <p:nvSpPr>
          <p:cNvPr id="18" name="Text 13"/>
          <p:cNvSpPr txBox="1"/>
          <p:nvPr/>
        </p:nvSpPr>
        <p:spPr>
          <a:xfrm>
            <a:off x="1444752" y="3054096"/>
            <a:ext cx="2148840" cy="310896"/>
          </a:xfrm>
          <a:prstGeom prst="rect">
            <a:avLst/>
          </a:prstGeom>
          <a:noFill/>
          <a:ln/>
        </p:spPr>
        <p:txBody>
          <a:bodyPr wrap="square" lIns="0" tIns="0" rIns="0" bIns="0" rtlCol="0" anchor="t"/>
          <a:lstStyle/>
          <a:p>
            <a:pPr marL="0" indent="0">
              <a:buNone/>
            </a:pPr>
            <a:r>
              <a:rPr lang="en-US" sz="1450" b="1" dirty="0">
                <a:solidFill>
                  <a:srgbClr val="0F1B2D"/>
                </a:solidFill>
                <a:latin typeface="Arial" pitchFamily="34" charset="0"/>
                <a:ea typeface="Arial" pitchFamily="34" charset="-122"/>
                <a:cs typeface="Arial" pitchFamily="34" charset="-120"/>
              </a:rPr>
              <a:t>DHT22</a:t>
            </a:r>
            <a:endParaRPr lang="en-US" sz="1450" dirty="0"/>
          </a:p>
        </p:txBody>
      </p:sp>
      <p:sp>
        <p:nvSpPr>
          <p:cNvPr id="19" name="Text 14"/>
          <p:cNvSpPr txBox="1"/>
          <p:nvPr/>
        </p:nvSpPr>
        <p:spPr>
          <a:xfrm>
            <a:off x="1444752" y="3374136"/>
            <a:ext cx="2148840" cy="274320"/>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Digital · GPIO4 · temp &amp; humidity</a:t>
            </a:r>
            <a:endParaRPr lang="en-US" sz="1100" dirty="0"/>
          </a:p>
        </p:txBody>
      </p:sp>
      <p:sp>
        <p:nvSpPr>
          <p:cNvPr id="20" name="Shape 15"/>
          <p:cNvSpPr/>
          <p:nvPr/>
        </p:nvSpPr>
        <p:spPr>
          <a:xfrm>
            <a:off x="3776472" y="3355848"/>
            <a:ext cx="722376" cy="914"/>
          </a:xfrm>
          <a:prstGeom prst="line">
            <a:avLst/>
          </a:prstGeom>
          <a:noFill/>
          <a:ln w="19050">
            <a:solidFill>
              <a:srgbClr val="4CC47A"/>
            </a:solidFill>
            <a:prstDash val="solid"/>
            <a:tailEnd type="triangle"/>
          </a:ln>
        </p:spPr>
        <p:txBody>
          <a:bodyPr/>
          <a:lstStyle/>
          <a:p>
            <a:endParaRPr lang="en-US"/>
          </a:p>
        </p:txBody>
      </p:sp>
      <p:sp>
        <p:nvSpPr>
          <p:cNvPr id="21" name="Shape 16"/>
          <p:cNvSpPr/>
          <p:nvPr/>
        </p:nvSpPr>
        <p:spPr>
          <a:xfrm>
            <a:off x="548640" y="3995928"/>
            <a:ext cx="315468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22" name="Shape 17"/>
          <p:cNvSpPr/>
          <p:nvPr/>
        </p:nvSpPr>
        <p:spPr>
          <a:xfrm>
            <a:off x="731520" y="4178808"/>
            <a:ext cx="548640" cy="548640"/>
          </a:xfrm>
          <a:prstGeom prst="roundRect">
            <a:avLst>
              <a:gd name="adj" fmla="val 24000"/>
            </a:avLst>
          </a:prstGeom>
          <a:solidFill>
            <a:srgbClr val="1E7A46"/>
          </a:solidFill>
          <a:ln/>
        </p:spPr>
        <p:txBody>
          <a:bodyPr/>
          <a:lstStyle/>
          <a:p>
            <a:endParaRPr lang="en-US"/>
          </a:p>
        </p:txBody>
      </p:sp>
      <p:pic>
        <p:nvPicPr>
          <p:cNvPr id="23" name="Image 3" descr="preencoded.png"/>
          <p:cNvPicPr>
            <a:picLocks noChangeAspect="1"/>
          </p:cNvPicPr>
          <p:nvPr/>
        </p:nvPicPr>
        <p:blipFill>
          <a:blip r:embed="rId5"/>
          <a:stretch>
            <a:fillRect/>
          </a:stretch>
        </p:blipFill>
        <p:spPr>
          <a:xfrm>
            <a:off x="852221" y="4299509"/>
            <a:ext cx="307238" cy="307238"/>
          </a:xfrm>
          <a:prstGeom prst="rect">
            <a:avLst/>
          </a:prstGeom>
        </p:spPr>
      </p:pic>
      <p:sp>
        <p:nvSpPr>
          <p:cNvPr id="24" name="Text 18"/>
          <p:cNvSpPr txBox="1"/>
          <p:nvPr/>
        </p:nvSpPr>
        <p:spPr>
          <a:xfrm>
            <a:off x="1444752" y="4151376"/>
            <a:ext cx="2148840" cy="310896"/>
          </a:xfrm>
          <a:prstGeom prst="rect">
            <a:avLst/>
          </a:prstGeom>
          <a:noFill/>
          <a:ln/>
        </p:spPr>
        <p:txBody>
          <a:bodyPr wrap="square" lIns="0" tIns="0" rIns="0" bIns="0" rtlCol="0" anchor="t"/>
          <a:lstStyle/>
          <a:p>
            <a:pPr marL="0" indent="0">
              <a:buNone/>
            </a:pPr>
            <a:r>
              <a:rPr lang="en-US" sz="1450" b="1" dirty="0">
                <a:solidFill>
                  <a:srgbClr val="0F1B2D"/>
                </a:solidFill>
                <a:latin typeface="Arial" pitchFamily="34" charset="0"/>
                <a:ea typeface="Arial" pitchFamily="34" charset="-122"/>
                <a:cs typeface="Arial" pitchFamily="34" charset="-120"/>
              </a:rPr>
              <a:t>BH1750</a:t>
            </a:r>
            <a:endParaRPr lang="en-US" sz="1450" dirty="0"/>
          </a:p>
        </p:txBody>
      </p:sp>
      <p:sp>
        <p:nvSpPr>
          <p:cNvPr id="25" name="Text 19"/>
          <p:cNvSpPr txBox="1"/>
          <p:nvPr/>
        </p:nvSpPr>
        <p:spPr>
          <a:xfrm>
            <a:off x="1444752" y="4471416"/>
            <a:ext cx="2148840" cy="274320"/>
          </a:xfrm>
          <a:prstGeom prst="rect">
            <a:avLst/>
          </a:prstGeom>
          <a:noFill/>
          <a:ln/>
        </p:spPr>
        <p:txBody>
          <a:bodyPr wrap="square" lIns="0" tIns="0" rIns="0" bIns="0" rtlCol="0" anchor="t"/>
          <a:lstStyle/>
          <a:p>
            <a:pPr marL="0" indent="0">
              <a:buNone/>
            </a:pPr>
            <a:r>
              <a:rPr lang="en-US" sz="1100" dirty="0">
                <a:solidFill>
                  <a:srgbClr val="46555F"/>
                </a:solidFill>
                <a:latin typeface="Calibri" pitchFamily="34" charset="0"/>
                <a:ea typeface="Calibri" pitchFamily="34" charset="-122"/>
                <a:cs typeface="Calibri" pitchFamily="34" charset="-120"/>
              </a:rPr>
              <a:t>I²C · GPIO21/22 · light in lux</a:t>
            </a:r>
            <a:endParaRPr lang="en-US" sz="1100" dirty="0"/>
          </a:p>
        </p:txBody>
      </p:sp>
      <p:sp>
        <p:nvSpPr>
          <p:cNvPr id="26" name="Shape 20"/>
          <p:cNvSpPr/>
          <p:nvPr/>
        </p:nvSpPr>
        <p:spPr>
          <a:xfrm flipV="1">
            <a:off x="3776472" y="4014216"/>
            <a:ext cx="722376" cy="438912"/>
          </a:xfrm>
          <a:prstGeom prst="line">
            <a:avLst/>
          </a:prstGeom>
          <a:noFill/>
          <a:ln w="19050">
            <a:solidFill>
              <a:srgbClr val="4CC47A"/>
            </a:solidFill>
            <a:prstDash val="solid"/>
            <a:tailEnd type="triangle"/>
          </a:ln>
        </p:spPr>
        <p:txBody>
          <a:bodyPr/>
          <a:lstStyle/>
          <a:p>
            <a:endParaRPr lang="en-US"/>
          </a:p>
        </p:txBody>
      </p:sp>
      <p:sp>
        <p:nvSpPr>
          <p:cNvPr id="27" name="Shape 21"/>
          <p:cNvSpPr/>
          <p:nvPr/>
        </p:nvSpPr>
        <p:spPr>
          <a:xfrm>
            <a:off x="4572000" y="2011680"/>
            <a:ext cx="3063240" cy="2697480"/>
          </a:xfrm>
          <a:prstGeom prst="roundRect">
            <a:avLst>
              <a:gd name="adj" fmla="val 6780"/>
            </a:avLst>
          </a:prstGeom>
          <a:solidFill>
            <a:srgbClr val="0F1B2D"/>
          </a:solidFill>
          <a:ln/>
          <a:effectLst>
            <a:outerShdw blurRad="152400" dist="25400" dir="5400000" algn="bl" rotWithShape="0">
              <a:srgbClr val="0B2A1C">
                <a:alpha val="9000"/>
              </a:srgbClr>
            </a:outerShdw>
          </a:effectLst>
        </p:spPr>
        <p:txBody>
          <a:bodyPr/>
          <a:lstStyle/>
          <a:p>
            <a:endParaRPr lang="en-US"/>
          </a:p>
        </p:txBody>
      </p:sp>
      <p:sp>
        <p:nvSpPr>
          <p:cNvPr id="28" name="Shape 22"/>
          <p:cNvSpPr/>
          <p:nvPr/>
        </p:nvSpPr>
        <p:spPr>
          <a:xfrm>
            <a:off x="4892040" y="1920240"/>
            <a:ext cx="128016" cy="146304"/>
          </a:xfrm>
          <a:prstGeom prst="rect">
            <a:avLst/>
          </a:prstGeom>
          <a:solidFill>
            <a:srgbClr val="9AA8B4"/>
          </a:solidFill>
          <a:ln/>
        </p:spPr>
        <p:txBody>
          <a:bodyPr/>
          <a:lstStyle/>
          <a:p>
            <a:endParaRPr lang="en-US"/>
          </a:p>
        </p:txBody>
      </p:sp>
      <p:sp>
        <p:nvSpPr>
          <p:cNvPr id="29" name="Shape 23"/>
          <p:cNvSpPr/>
          <p:nvPr/>
        </p:nvSpPr>
        <p:spPr>
          <a:xfrm>
            <a:off x="4892040" y="4654296"/>
            <a:ext cx="128016" cy="146304"/>
          </a:xfrm>
          <a:prstGeom prst="rect">
            <a:avLst/>
          </a:prstGeom>
          <a:solidFill>
            <a:srgbClr val="9AA8B4"/>
          </a:solidFill>
          <a:ln/>
        </p:spPr>
        <p:txBody>
          <a:bodyPr/>
          <a:lstStyle/>
          <a:p>
            <a:endParaRPr lang="en-US"/>
          </a:p>
        </p:txBody>
      </p:sp>
      <p:sp>
        <p:nvSpPr>
          <p:cNvPr id="30" name="Shape 24"/>
          <p:cNvSpPr/>
          <p:nvPr/>
        </p:nvSpPr>
        <p:spPr>
          <a:xfrm>
            <a:off x="5221224" y="1920240"/>
            <a:ext cx="128016" cy="146304"/>
          </a:xfrm>
          <a:prstGeom prst="rect">
            <a:avLst/>
          </a:prstGeom>
          <a:solidFill>
            <a:srgbClr val="9AA8B4"/>
          </a:solidFill>
          <a:ln/>
        </p:spPr>
        <p:txBody>
          <a:bodyPr/>
          <a:lstStyle/>
          <a:p>
            <a:endParaRPr lang="en-US"/>
          </a:p>
        </p:txBody>
      </p:sp>
      <p:sp>
        <p:nvSpPr>
          <p:cNvPr id="31" name="Shape 25"/>
          <p:cNvSpPr/>
          <p:nvPr/>
        </p:nvSpPr>
        <p:spPr>
          <a:xfrm>
            <a:off x="5221224" y="4654296"/>
            <a:ext cx="128016" cy="146304"/>
          </a:xfrm>
          <a:prstGeom prst="rect">
            <a:avLst/>
          </a:prstGeom>
          <a:solidFill>
            <a:srgbClr val="9AA8B4"/>
          </a:solidFill>
          <a:ln/>
        </p:spPr>
        <p:txBody>
          <a:bodyPr/>
          <a:lstStyle/>
          <a:p>
            <a:endParaRPr lang="en-US"/>
          </a:p>
        </p:txBody>
      </p:sp>
      <p:sp>
        <p:nvSpPr>
          <p:cNvPr id="32" name="Shape 26"/>
          <p:cNvSpPr/>
          <p:nvPr/>
        </p:nvSpPr>
        <p:spPr>
          <a:xfrm>
            <a:off x="5550408" y="1920240"/>
            <a:ext cx="128016" cy="146304"/>
          </a:xfrm>
          <a:prstGeom prst="rect">
            <a:avLst/>
          </a:prstGeom>
          <a:solidFill>
            <a:srgbClr val="9AA8B4"/>
          </a:solidFill>
          <a:ln/>
        </p:spPr>
        <p:txBody>
          <a:bodyPr/>
          <a:lstStyle/>
          <a:p>
            <a:endParaRPr lang="en-US"/>
          </a:p>
        </p:txBody>
      </p:sp>
      <p:sp>
        <p:nvSpPr>
          <p:cNvPr id="33" name="Shape 27"/>
          <p:cNvSpPr/>
          <p:nvPr/>
        </p:nvSpPr>
        <p:spPr>
          <a:xfrm>
            <a:off x="5550408" y="4654296"/>
            <a:ext cx="128016" cy="146304"/>
          </a:xfrm>
          <a:prstGeom prst="rect">
            <a:avLst/>
          </a:prstGeom>
          <a:solidFill>
            <a:srgbClr val="9AA8B4"/>
          </a:solidFill>
          <a:ln/>
        </p:spPr>
        <p:txBody>
          <a:bodyPr/>
          <a:lstStyle/>
          <a:p>
            <a:endParaRPr lang="en-US"/>
          </a:p>
        </p:txBody>
      </p:sp>
      <p:sp>
        <p:nvSpPr>
          <p:cNvPr id="34" name="Shape 28"/>
          <p:cNvSpPr/>
          <p:nvPr/>
        </p:nvSpPr>
        <p:spPr>
          <a:xfrm>
            <a:off x="5879592" y="1920240"/>
            <a:ext cx="128016" cy="146304"/>
          </a:xfrm>
          <a:prstGeom prst="rect">
            <a:avLst/>
          </a:prstGeom>
          <a:solidFill>
            <a:srgbClr val="9AA8B4"/>
          </a:solidFill>
          <a:ln/>
        </p:spPr>
        <p:txBody>
          <a:bodyPr/>
          <a:lstStyle/>
          <a:p>
            <a:endParaRPr lang="en-US"/>
          </a:p>
        </p:txBody>
      </p:sp>
      <p:sp>
        <p:nvSpPr>
          <p:cNvPr id="35" name="Shape 29"/>
          <p:cNvSpPr/>
          <p:nvPr/>
        </p:nvSpPr>
        <p:spPr>
          <a:xfrm>
            <a:off x="5879592" y="4654296"/>
            <a:ext cx="128016" cy="146304"/>
          </a:xfrm>
          <a:prstGeom prst="rect">
            <a:avLst/>
          </a:prstGeom>
          <a:solidFill>
            <a:srgbClr val="9AA8B4"/>
          </a:solidFill>
          <a:ln/>
        </p:spPr>
        <p:txBody>
          <a:bodyPr/>
          <a:lstStyle/>
          <a:p>
            <a:endParaRPr lang="en-US"/>
          </a:p>
        </p:txBody>
      </p:sp>
      <p:sp>
        <p:nvSpPr>
          <p:cNvPr id="36" name="Shape 30"/>
          <p:cNvSpPr/>
          <p:nvPr/>
        </p:nvSpPr>
        <p:spPr>
          <a:xfrm>
            <a:off x="6208776" y="1920240"/>
            <a:ext cx="128016" cy="146304"/>
          </a:xfrm>
          <a:prstGeom prst="rect">
            <a:avLst/>
          </a:prstGeom>
          <a:solidFill>
            <a:srgbClr val="9AA8B4"/>
          </a:solidFill>
          <a:ln/>
        </p:spPr>
        <p:txBody>
          <a:bodyPr/>
          <a:lstStyle/>
          <a:p>
            <a:endParaRPr lang="en-US"/>
          </a:p>
        </p:txBody>
      </p:sp>
      <p:sp>
        <p:nvSpPr>
          <p:cNvPr id="37" name="Shape 31"/>
          <p:cNvSpPr/>
          <p:nvPr/>
        </p:nvSpPr>
        <p:spPr>
          <a:xfrm>
            <a:off x="6208776" y="4654296"/>
            <a:ext cx="128016" cy="146304"/>
          </a:xfrm>
          <a:prstGeom prst="rect">
            <a:avLst/>
          </a:prstGeom>
          <a:solidFill>
            <a:srgbClr val="9AA8B4"/>
          </a:solidFill>
          <a:ln/>
        </p:spPr>
        <p:txBody>
          <a:bodyPr/>
          <a:lstStyle/>
          <a:p>
            <a:endParaRPr lang="en-US"/>
          </a:p>
        </p:txBody>
      </p:sp>
      <p:sp>
        <p:nvSpPr>
          <p:cNvPr id="38" name="Shape 32"/>
          <p:cNvSpPr/>
          <p:nvPr/>
        </p:nvSpPr>
        <p:spPr>
          <a:xfrm>
            <a:off x="6537960" y="1920240"/>
            <a:ext cx="128016" cy="146304"/>
          </a:xfrm>
          <a:prstGeom prst="rect">
            <a:avLst/>
          </a:prstGeom>
          <a:solidFill>
            <a:srgbClr val="9AA8B4"/>
          </a:solidFill>
          <a:ln/>
        </p:spPr>
        <p:txBody>
          <a:bodyPr/>
          <a:lstStyle/>
          <a:p>
            <a:endParaRPr lang="en-US"/>
          </a:p>
        </p:txBody>
      </p:sp>
      <p:sp>
        <p:nvSpPr>
          <p:cNvPr id="39" name="Shape 33"/>
          <p:cNvSpPr/>
          <p:nvPr/>
        </p:nvSpPr>
        <p:spPr>
          <a:xfrm>
            <a:off x="6537960" y="4654296"/>
            <a:ext cx="128016" cy="146304"/>
          </a:xfrm>
          <a:prstGeom prst="rect">
            <a:avLst/>
          </a:prstGeom>
          <a:solidFill>
            <a:srgbClr val="9AA8B4"/>
          </a:solidFill>
          <a:ln/>
        </p:spPr>
        <p:txBody>
          <a:bodyPr/>
          <a:lstStyle/>
          <a:p>
            <a:endParaRPr lang="en-US"/>
          </a:p>
        </p:txBody>
      </p:sp>
      <p:sp>
        <p:nvSpPr>
          <p:cNvPr id="40" name="Shape 34"/>
          <p:cNvSpPr/>
          <p:nvPr/>
        </p:nvSpPr>
        <p:spPr>
          <a:xfrm>
            <a:off x="6867144" y="1920240"/>
            <a:ext cx="128016" cy="146304"/>
          </a:xfrm>
          <a:prstGeom prst="rect">
            <a:avLst/>
          </a:prstGeom>
          <a:solidFill>
            <a:srgbClr val="9AA8B4"/>
          </a:solidFill>
          <a:ln/>
        </p:spPr>
        <p:txBody>
          <a:bodyPr/>
          <a:lstStyle/>
          <a:p>
            <a:endParaRPr lang="en-US"/>
          </a:p>
        </p:txBody>
      </p:sp>
      <p:sp>
        <p:nvSpPr>
          <p:cNvPr id="41" name="Shape 35"/>
          <p:cNvSpPr/>
          <p:nvPr/>
        </p:nvSpPr>
        <p:spPr>
          <a:xfrm>
            <a:off x="6867144" y="4654296"/>
            <a:ext cx="128016" cy="146304"/>
          </a:xfrm>
          <a:prstGeom prst="rect">
            <a:avLst/>
          </a:prstGeom>
          <a:solidFill>
            <a:srgbClr val="9AA8B4"/>
          </a:solidFill>
          <a:ln/>
        </p:spPr>
        <p:txBody>
          <a:bodyPr/>
          <a:lstStyle/>
          <a:p>
            <a:endParaRPr lang="en-US"/>
          </a:p>
        </p:txBody>
      </p:sp>
      <p:sp>
        <p:nvSpPr>
          <p:cNvPr id="42" name="Shape 36"/>
          <p:cNvSpPr/>
          <p:nvPr/>
        </p:nvSpPr>
        <p:spPr>
          <a:xfrm>
            <a:off x="7196328" y="1920240"/>
            <a:ext cx="128016" cy="146304"/>
          </a:xfrm>
          <a:prstGeom prst="rect">
            <a:avLst/>
          </a:prstGeom>
          <a:solidFill>
            <a:srgbClr val="9AA8B4"/>
          </a:solidFill>
          <a:ln/>
        </p:spPr>
        <p:txBody>
          <a:bodyPr/>
          <a:lstStyle/>
          <a:p>
            <a:endParaRPr lang="en-US"/>
          </a:p>
        </p:txBody>
      </p:sp>
      <p:sp>
        <p:nvSpPr>
          <p:cNvPr id="43" name="Shape 37"/>
          <p:cNvSpPr/>
          <p:nvPr/>
        </p:nvSpPr>
        <p:spPr>
          <a:xfrm>
            <a:off x="7196328" y="4654296"/>
            <a:ext cx="128016" cy="146304"/>
          </a:xfrm>
          <a:prstGeom prst="rect">
            <a:avLst/>
          </a:prstGeom>
          <a:solidFill>
            <a:srgbClr val="9AA8B4"/>
          </a:solidFill>
          <a:ln/>
        </p:spPr>
        <p:txBody>
          <a:bodyPr/>
          <a:lstStyle/>
          <a:p>
            <a:endParaRPr lang="en-US"/>
          </a:p>
        </p:txBody>
      </p:sp>
      <p:sp>
        <p:nvSpPr>
          <p:cNvPr id="44" name="Shape 38"/>
          <p:cNvSpPr/>
          <p:nvPr/>
        </p:nvSpPr>
        <p:spPr>
          <a:xfrm>
            <a:off x="4892040" y="2331720"/>
            <a:ext cx="2423160" cy="2057400"/>
          </a:xfrm>
          <a:prstGeom prst="roundRect">
            <a:avLst>
              <a:gd name="adj" fmla="val 4444"/>
            </a:avLst>
          </a:prstGeom>
          <a:solidFill>
            <a:srgbClr val="18293F"/>
          </a:solidFill>
          <a:ln w="12700">
            <a:solidFill>
              <a:srgbClr val="2C4462"/>
            </a:solidFill>
            <a:prstDash val="solid"/>
          </a:ln>
        </p:spPr>
        <p:txBody>
          <a:bodyPr/>
          <a:lstStyle/>
          <a:p>
            <a:endParaRPr lang="en-US"/>
          </a:p>
        </p:txBody>
      </p:sp>
      <p:pic>
        <p:nvPicPr>
          <p:cNvPr id="45" name="Image 4" descr="preencoded.png"/>
          <p:cNvPicPr>
            <a:picLocks noChangeAspect="1"/>
          </p:cNvPicPr>
          <p:nvPr/>
        </p:nvPicPr>
        <p:blipFill>
          <a:blip r:embed="rId6"/>
          <a:stretch>
            <a:fillRect/>
          </a:stretch>
        </p:blipFill>
        <p:spPr>
          <a:xfrm>
            <a:off x="5829300" y="2514600"/>
            <a:ext cx="548640" cy="548640"/>
          </a:xfrm>
          <a:prstGeom prst="rect">
            <a:avLst/>
          </a:prstGeom>
        </p:spPr>
      </p:pic>
      <p:sp>
        <p:nvSpPr>
          <p:cNvPr id="46" name="Text 39"/>
          <p:cNvSpPr txBox="1"/>
          <p:nvPr/>
        </p:nvSpPr>
        <p:spPr>
          <a:xfrm>
            <a:off x="4572000" y="3090672"/>
            <a:ext cx="306324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ESP32</a:t>
            </a:r>
            <a:endParaRPr lang="en-US" sz="2800" dirty="0"/>
          </a:p>
        </p:txBody>
      </p:sp>
      <p:sp>
        <p:nvSpPr>
          <p:cNvPr id="47" name="Text 40"/>
          <p:cNvSpPr txBox="1"/>
          <p:nvPr/>
        </p:nvSpPr>
        <p:spPr>
          <a:xfrm>
            <a:off x="4983480" y="3611880"/>
            <a:ext cx="2240280" cy="502920"/>
          </a:xfrm>
          <a:prstGeom prst="rect">
            <a:avLst/>
          </a:prstGeom>
          <a:noFill/>
          <a:ln/>
        </p:spPr>
        <p:txBody>
          <a:bodyPr wrap="square" lIns="0" tIns="0" rIns="0" bIns="0" rtlCol="0" anchor="t"/>
          <a:lstStyle/>
          <a:p>
            <a:pPr marL="0" indent="0" algn="ctr">
              <a:buNone/>
            </a:pPr>
            <a:r>
              <a:rPr lang="en-US" sz="1050" dirty="0">
                <a:solidFill>
                  <a:srgbClr val="8FD9A8"/>
                </a:solidFill>
                <a:latin typeface="Calibri" pitchFamily="34" charset="0"/>
                <a:ea typeface="Calibri" pitchFamily="34" charset="-122"/>
                <a:cs typeface="Calibri" pitchFamily="34" charset="-120"/>
              </a:rPr>
              <a:t>Acquire · validate · prioritise · publish</a:t>
            </a:r>
            <a:endParaRPr lang="en-US" sz="1050" dirty="0"/>
          </a:p>
        </p:txBody>
      </p:sp>
      <p:sp>
        <p:nvSpPr>
          <p:cNvPr id="48" name="Shape 41"/>
          <p:cNvSpPr/>
          <p:nvPr/>
        </p:nvSpPr>
        <p:spPr>
          <a:xfrm>
            <a:off x="8549640" y="1801368"/>
            <a:ext cx="3090672" cy="1783080"/>
          </a:xfrm>
          <a:prstGeom prst="roundRect">
            <a:avLst>
              <a:gd name="adj" fmla="val 7179"/>
            </a:avLst>
          </a:prstGeom>
          <a:solidFill>
            <a:srgbClr val="1A1F24"/>
          </a:solidFill>
          <a:ln/>
          <a:effectLst>
            <a:outerShdw blurRad="152400" dist="25400" dir="5400000" algn="bl" rotWithShape="0">
              <a:srgbClr val="0B2A1C">
                <a:alpha val="9000"/>
              </a:srgbClr>
            </a:outerShdw>
          </a:effectLst>
        </p:spPr>
        <p:txBody>
          <a:bodyPr/>
          <a:lstStyle/>
          <a:p>
            <a:endParaRPr lang="en-US"/>
          </a:p>
        </p:txBody>
      </p:sp>
      <p:sp>
        <p:nvSpPr>
          <p:cNvPr id="49" name="Shape 42"/>
          <p:cNvSpPr/>
          <p:nvPr/>
        </p:nvSpPr>
        <p:spPr>
          <a:xfrm>
            <a:off x="8714232" y="1938528"/>
            <a:ext cx="2761488" cy="1234440"/>
          </a:xfrm>
          <a:prstGeom prst="roundRect">
            <a:avLst>
              <a:gd name="adj" fmla="val 3704"/>
            </a:avLst>
          </a:prstGeom>
          <a:solidFill>
            <a:srgbClr val="000000"/>
          </a:solidFill>
          <a:ln/>
        </p:spPr>
        <p:txBody>
          <a:bodyPr/>
          <a:lstStyle/>
          <a:p>
            <a:endParaRPr lang="en-US"/>
          </a:p>
        </p:txBody>
      </p:sp>
      <p:sp>
        <p:nvSpPr>
          <p:cNvPr id="50" name="Text 43"/>
          <p:cNvSpPr txBox="1"/>
          <p:nvPr/>
        </p:nvSpPr>
        <p:spPr>
          <a:xfrm>
            <a:off x="8878824" y="1993392"/>
            <a:ext cx="2450592" cy="1143000"/>
          </a:xfrm>
          <a:prstGeom prst="rect">
            <a:avLst/>
          </a:prstGeom>
          <a:noFill/>
          <a:ln/>
        </p:spPr>
        <p:txBody>
          <a:bodyPr wrap="square" lIns="0" tIns="0" rIns="0" bIns="0" rtlCol="0" anchor="ctr"/>
          <a:lstStyle/>
          <a:p>
            <a:pPr marL="0" indent="0">
              <a:buNone/>
            </a:pPr>
            <a:r>
              <a:rPr lang="en-US" sz="1150" b="1" dirty="0">
                <a:solidFill>
                  <a:srgbClr val="E5F2FF"/>
                </a:solidFill>
                <a:latin typeface="Courier New" pitchFamily="34" charset="0"/>
                <a:ea typeface="Courier New" pitchFamily="34" charset="-122"/>
                <a:cs typeface="Courier New" pitchFamily="34" charset="-120"/>
              </a:rPr>
              <a:t>SOIL   45 %</a:t>
            </a:r>
            <a:endParaRPr lang="en-US" sz="1150" dirty="0"/>
          </a:p>
          <a:p>
            <a:pPr marL="0" indent="0">
              <a:buNone/>
            </a:pPr>
            <a:r>
              <a:rPr lang="en-US" sz="1150" b="1" dirty="0">
                <a:solidFill>
                  <a:srgbClr val="E5F2FF"/>
                </a:solidFill>
                <a:latin typeface="Courier New" pitchFamily="34" charset="0"/>
                <a:ea typeface="Courier New" pitchFamily="34" charset="-122"/>
                <a:cs typeface="Courier New" pitchFamily="34" charset="-120"/>
              </a:rPr>
              <a:t>TEMP   28.1 °C</a:t>
            </a:r>
            <a:endParaRPr lang="en-US" sz="1150" dirty="0"/>
          </a:p>
          <a:p>
            <a:pPr marL="0" indent="0">
              <a:buNone/>
            </a:pPr>
            <a:r>
              <a:rPr lang="en-US" sz="1150" b="1" dirty="0">
                <a:solidFill>
                  <a:srgbClr val="E5F2FF"/>
                </a:solidFill>
                <a:latin typeface="Courier New" pitchFamily="34" charset="0"/>
                <a:ea typeface="Courier New" pitchFamily="34" charset="-122"/>
                <a:cs typeface="Courier New" pitchFamily="34" charset="-120"/>
              </a:rPr>
              <a:t>HUM    62 %</a:t>
            </a:r>
            <a:endParaRPr lang="en-US" sz="1150" dirty="0"/>
          </a:p>
          <a:p>
            <a:pPr marL="0" indent="0">
              <a:buNone/>
            </a:pPr>
            <a:r>
              <a:rPr lang="en-US" sz="1150" b="1" dirty="0">
                <a:solidFill>
                  <a:srgbClr val="E5F2FF"/>
                </a:solidFill>
                <a:latin typeface="Courier New" pitchFamily="34" charset="0"/>
                <a:ea typeface="Courier New" pitchFamily="34" charset="-122"/>
                <a:cs typeface="Courier New" pitchFamily="34" charset="-120"/>
              </a:rPr>
              <a:t>LIGHT  320 lx</a:t>
            </a:r>
            <a:endParaRPr lang="en-US" sz="1150" dirty="0"/>
          </a:p>
          <a:p>
            <a:pPr marL="0" indent="0">
              <a:buNone/>
            </a:pPr>
            <a:r>
              <a:rPr lang="en-US" sz="1150" b="1" dirty="0">
                <a:solidFill>
                  <a:srgbClr val="5EEAD4"/>
                </a:solidFill>
                <a:latin typeface="Courier New" pitchFamily="34" charset="0"/>
                <a:ea typeface="Courier New" pitchFamily="34" charset="-122"/>
                <a:cs typeface="Courier New" pitchFamily="34" charset="-120"/>
              </a:rPr>
              <a:t>MQTT   CONNECTED</a:t>
            </a:r>
            <a:endParaRPr lang="en-US" sz="1150" dirty="0"/>
          </a:p>
        </p:txBody>
      </p:sp>
      <p:sp>
        <p:nvSpPr>
          <p:cNvPr id="51" name="Text 44"/>
          <p:cNvSpPr txBox="1"/>
          <p:nvPr/>
        </p:nvSpPr>
        <p:spPr>
          <a:xfrm>
            <a:off x="8714232" y="3218688"/>
            <a:ext cx="2761488" cy="274320"/>
          </a:xfrm>
          <a:prstGeom prst="rect">
            <a:avLst/>
          </a:prstGeom>
          <a:noFill/>
          <a:ln/>
        </p:spPr>
        <p:txBody>
          <a:bodyPr wrap="square" lIns="0" tIns="0" rIns="0" bIns="0" rtlCol="0" anchor="ctr"/>
          <a:lstStyle/>
          <a:p>
            <a:pPr marL="0" indent="0" algn="ctr">
              <a:buNone/>
            </a:pPr>
            <a:r>
              <a:rPr lang="en-US" sz="1050" b="1" dirty="0">
                <a:solidFill>
                  <a:srgbClr val="B6C2CC"/>
                </a:solidFill>
                <a:latin typeface="Calibri" pitchFamily="34" charset="0"/>
                <a:ea typeface="Calibri" pitchFamily="34" charset="-122"/>
                <a:cs typeface="Calibri" pitchFamily="34" charset="-120"/>
              </a:rPr>
              <a:t>OLED · readings + MQTT status only</a:t>
            </a:r>
            <a:endParaRPr lang="en-US" sz="1050" dirty="0"/>
          </a:p>
        </p:txBody>
      </p:sp>
      <p:sp>
        <p:nvSpPr>
          <p:cNvPr id="52" name="Shape 45"/>
          <p:cNvSpPr/>
          <p:nvPr/>
        </p:nvSpPr>
        <p:spPr>
          <a:xfrm flipV="1">
            <a:off x="7708392" y="2697480"/>
            <a:ext cx="768096" cy="91440"/>
          </a:xfrm>
          <a:prstGeom prst="line">
            <a:avLst/>
          </a:prstGeom>
          <a:noFill/>
          <a:ln w="19050">
            <a:solidFill>
              <a:srgbClr val="4CC47A"/>
            </a:solidFill>
            <a:prstDash val="solid"/>
            <a:tailEnd type="triangle"/>
          </a:ln>
        </p:spPr>
        <p:txBody>
          <a:bodyPr/>
          <a:lstStyle/>
          <a:p>
            <a:endParaRPr lang="en-US"/>
          </a:p>
        </p:txBody>
      </p:sp>
      <p:sp>
        <p:nvSpPr>
          <p:cNvPr id="53" name="Shape 46"/>
          <p:cNvSpPr/>
          <p:nvPr/>
        </p:nvSpPr>
        <p:spPr>
          <a:xfrm>
            <a:off x="8549640" y="3767328"/>
            <a:ext cx="3090672" cy="1234440"/>
          </a:xfrm>
          <a:prstGeom prst="roundRect">
            <a:avLst>
              <a:gd name="adj" fmla="val 8889"/>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54" name="Shape 47"/>
          <p:cNvSpPr/>
          <p:nvPr/>
        </p:nvSpPr>
        <p:spPr>
          <a:xfrm>
            <a:off x="8979408" y="3950208"/>
            <a:ext cx="365760" cy="365760"/>
          </a:xfrm>
          <a:prstGeom prst="ellipse">
            <a:avLst/>
          </a:prstGeom>
          <a:solidFill>
            <a:srgbClr val="22A559"/>
          </a:solidFill>
          <a:ln/>
        </p:spPr>
        <p:txBody>
          <a:bodyPr/>
          <a:lstStyle/>
          <a:p>
            <a:endParaRPr lang="en-US"/>
          </a:p>
        </p:txBody>
      </p:sp>
      <p:sp>
        <p:nvSpPr>
          <p:cNvPr id="55" name="Text 48"/>
          <p:cNvSpPr txBox="1"/>
          <p:nvPr/>
        </p:nvSpPr>
        <p:spPr>
          <a:xfrm>
            <a:off x="8732520" y="4361688"/>
            <a:ext cx="868680" cy="237744"/>
          </a:xfrm>
          <a:prstGeom prst="rect">
            <a:avLst/>
          </a:prstGeom>
          <a:noFill/>
          <a:ln/>
        </p:spPr>
        <p:txBody>
          <a:bodyPr wrap="square" lIns="0" tIns="0" rIns="0" bIns="0" rtlCol="0" anchor="t"/>
          <a:lstStyle/>
          <a:p>
            <a:pPr marL="0" indent="0" algn="ctr">
              <a:buNone/>
            </a:pPr>
            <a:r>
              <a:rPr lang="en-US" sz="1100" b="1" dirty="0">
                <a:solidFill>
                  <a:srgbClr val="0F1B2D"/>
                </a:solidFill>
                <a:latin typeface="Calibri" pitchFamily="34" charset="0"/>
                <a:ea typeface="Calibri" pitchFamily="34" charset="-122"/>
                <a:cs typeface="Calibri" pitchFamily="34" charset="-120"/>
              </a:rPr>
              <a:t>Normal</a:t>
            </a:r>
            <a:endParaRPr lang="en-US" sz="1100" dirty="0"/>
          </a:p>
        </p:txBody>
      </p:sp>
      <p:sp>
        <p:nvSpPr>
          <p:cNvPr id="56" name="Shape 49"/>
          <p:cNvSpPr/>
          <p:nvPr/>
        </p:nvSpPr>
        <p:spPr>
          <a:xfrm>
            <a:off x="9893808" y="3950208"/>
            <a:ext cx="365760" cy="365760"/>
          </a:xfrm>
          <a:prstGeom prst="ellipse">
            <a:avLst/>
          </a:prstGeom>
          <a:solidFill>
            <a:srgbClr val="F2B705"/>
          </a:solidFill>
          <a:ln/>
        </p:spPr>
        <p:txBody>
          <a:bodyPr/>
          <a:lstStyle/>
          <a:p>
            <a:endParaRPr lang="en-US"/>
          </a:p>
        </p:txBody>
      </p:sp>
      <p:sp>
        <p:nvSpPr>
          <p:cNvPr id="57" name="Text 50"/>
          <p:cNvSpPr txBox="1"/>
          <p:nvPr/>
        </p:nvSpPr>
        <p:spPr>
          <a:xfrm>
            <a:off x="9646920" y="4361688"/>
            <a:ext cx="868680" cy="237744"/>
          </a:xfrm>
          <a:prstGeom prst="rect">
            <a:avLst/>
          </a:prstGeom>
          <a:noFill/>
          <a:ln/>
        </p:spPr>
        <p:txBody>
          <a:bodyPr wrap="square" lIns="0" tIns="0" rIns="0" bIns="0" rtlCol="0" anchor="t"/>
          <a:lstStyle/>
          <a:p>
            <a:pPr marL="0" indent="0" algn="ctr">
              <a:buNone/>
            </a:pPr>
            <a:r>
              <a:rPr lang="en-US" sz="1100" b="1" dirty="0">
                <a:solidFill>
                  <a:srgbClr val="0F1B2D"/>
                </a:solidFill>
                <a:latin typeface="Calibri" pitchFamily="34" charset="0"/>
                <a:ea typeface="Calibri" pitchFamily="34" charset="-122"/>
                <a:cs typeface="Calibri" pitchFamily="34" charset="-120"/>
              </a:rPr>
              <a:t>Warning</a:t>
            </a:r>
            <a:endParaRPr lang="en-US" sz="1100" dirty="0"/>
          </a:p>
        </p:txBody>
      </p:sp>
      <p:sp>
        <p:nvSpPr>
          <p:cNvPr id="58" name="Shape 51"/>
          <p:cNvSpPr/>
          <p:nvPr/>
        </p:nvSpPr>
        <p:spPr>
          <a:xfrm>
            <a:off x="10808208" y="3950208"/>
            <a:ext cx="365760" cy="365760"/>
          </a:xfrm>
          <a:prstGeom prst="ellipse">
            <a:avLst/>
          </a:prstGeom>
          <a:solidFill>
            <a:srgbClr val="E5484D"/>
          </a:solidFill>
          <a:ln/>
        </p:spPr>
        <p:txBody>
          <a:bodyPr/>
          <a:lstStyle/>
          <a:p>
            <a:endParaRPr lang="en-US"/>
          </a:p>
        </p:txBody>
      </p:sp>
      <p:sp>
        <p:nvSpPr>
          <p:cNvPr id="59" name="Text 52"/>
          <p:cNvSpPr txBox="1"/>
          <p:nvPr/>
        </p:nvSpPr>
        <p:spPr>
          <a:xfrm>
            <a:off x="10561320" y="4361688"/>
            <a:ext cx="868680" cy="237744"/>
          </a:xfrm>
          <a:prstGeom prst="rect">
            <a:avLst/>
          </a:prstGeom>
          <a:noFill/>
          <a:ln/>
        </p:spPr>
        <p:txBody>
          <a:bodyPr wrap="square" lIns="0" tIns="0" rIns="0" bIns="0" rtlCol="0" anchor="t"/>
          <a:lstStyle/>
          <a:p>
            <a:pPr marL="0" indent="0" algn="ctr">
              <a:buNone/>
            </a:pPr>
            <a:r>
              <a:rPr lang="en-US" sz="1100" b="1" dirty="0">
                <a:solidFill>
                  <a:srgbClr val="0F1B2D"/>
                </a:solidFill>
                <a:latin typeface="Calibri" pitchFamily="34" charset="0"/>
                <a:ea typeface="Calibri" pitchFamily="34" charset="-122"/>
                <a:cs typeface="Calibri" pitchFamily="34" charset="-120"/>
              </a:rPr>
              <a:t>Critical</a:t>
            </a:r>
            <a:endParaRPr lang="en-US" sz="1100" dirty="0"/>
          </a:p>
        </p:txBody>
      </p:sp>
      <p:sp>
        <p:nvSpPr>
          <p:cNvPr id="60" name="Text 53"/>
          <p:cNvSpPr txBox="1"/>
          <p:nvPr/>
        </p:nvSpPr>
        <p:spPr>
          <a:xfrm>
            <a:off x="8732520" y="4654296"/>
            <a:ext cx="2724912" cy="256032"/>
          </a:xfrm>
          <a:prstGeom prst="rect">
            <a:avLst/>
          </a:prstGeom>
          <a:noFill/>
          <a:ln/>
        </p:spPr>
        <p:txBody>
          <a:bodyPr wrap="square" lIns="0" tIns="0" rIns="0" bIns="0" rtlCol="0" anchor="t"/>
          <a:lstStyle/>
          <a:p>
            <a:pPr marL="0" indent="0" algn="ctr">
              <a:buNone/>
            </a:pPr>
            <a:r>
              <a:rPr lang="en-US" sz="1100" dirty="0">
                <a:solidFill>
                  <a:srgbClr val="7A8A94"/>
                </a:solidFill>
                <a:latin typeface="Calibri" pitchFamily="34" charset="0"/>
                <a:ea typeface="Calibri" pitchFamily="34" charset="-122"/>
                <a:cs typeface="Calibri" pitchFamily="34" charset="-120"/>
              </a:rPr>
              <a:t>Priority  </a:t>
            </a:r>
            <a:r>
              <a:rPr lang="en-US" sz="1100" b="1" dirty="0">
                <a:solidFill>
                  <a:srgbClr val="0F1B2D"/>
                </a:solidFill>
                <a:latin typeface="Calibri" pitchFamily="34" charset="0"/>
                <a:ea typeface="Calibri" pitchFamily="34" charset="-122"/>
                <a:cs typeface="Calibri" pitchFamily="34" charset="-120"/>
              </a:rPr>
              <a:t>Critical &gt; Warning &gt; Normal</a:t>
            </a:r>
            <a:endParaRPr lang="en-US" sz="1100" dirty="0"/>
          </a:p>
        </p:txBody>
      </p:sp>
      <p:sp>
        <p:nvSpPr>
          <p:cNvPr id="61" name="Shape 54"/>
          <p:cNvSpPr/>
          <p:nvPr/>
        </p:nvSpPr>
        <p:spPr>
          <a:xfrm>
            <a:off x="7708392" y="3931920"/>
            <a:ext cx="768096" cy="452628"/>
          </a:xfrm>
          <a:prstGeom prst="line">
            <a:avLst/>
          </a:prstGeom>
          <a:noFill/>
          <a:ln w="19050">
            <a:solidFill>
              <a:srgbClr val="4CC47A"/>
            </a:solidFill>
            <a:prstDash val="solid"/>
            <a:tailEnd type="triangle"/>
          </a:ln>
        </p:spPr>
        <p:txBody>
          <a:bodyPr/>
          <a:lstStyle/>
          <a:p>
            <a:endParaRPr lang="en-US"/>
          </a:p>
        </p:txBody>
      </p:sp>
      <p:sp>
        <p:nvSpPr>
          <p:cNvPr id="62" name="Shape 55"/>
          <p:cNvSpPr/>
          <p:nvPr/>
        </p:nvSpPr>
        <p:spPr>
          <a:xfrm>
            <a:off x="548640" y="5285232"/>
            <a:ext cx="11094415" cy="749808"/>
          </a:xfrm>
          <a:prstGeom prst="roundRect">
            <a:avLst>
              <a:gd name="adj" fmla="val 17073"/>
            </a:avLst>
          </a:prstGeom>
          <a:solidFill>
            <a:srgbClr val="F2F9F4"/>
          </a:solidFill>
          <a:ln w="9525">
            <a:solidFill>
              <a:srgbClr val="C4EBD0"/>
            </a:solidFill>
            <a:prstDash val="solid"/>
          </a:ln>
        </p:spPr>
        <p:txBody>
          <a:bodyPr/>
          <a:lstStyle/>
          <a:p>
            <a:endParaRPr lang="en-US"/>
          </a:p>
        </p:txBody>
      </p:sp>
      <p:pic>
        <p:nvPicPr>
          <p:cNvPr id="63" name="Image 5" descr="preencoded.png"/>
          <p:cNvPicPr>
            <a:picLocks noChangeAspect="1"/>
          </p:cNvPicPr>
          <p:nvPr/>
        </p:nvPicPr>
        <p:blipFill>
          <a:blip r:embed="rId7"/>
          <a:stretch>
            <a:fillRect/>
          </a:stretch>
        </p:blipFill>
        <p:spPr>
          <a:xfrm>
            <a:off x="822960" y="5458968"/>
            <a:ext cx="402336" cy="402336"/>
          </a:xfrm>
          <a:prstGeom prst="rect">
            <a:avLst/>
          </a:prstGeom>
        </p:spPr>
      </p:pic>
      <p:sp>
        <p:nvSpPr>
          <p:cNvPr id="64" name="Text 56"/>
          <p:cNvSpPr txBox="1"/>
          <p:nvPr/>
        </p:nvSpPr>
        <p:spPr>
          <a:xfrm>
            <a:off x="1417320" y="5285232"/>
            <a:ext cx="9997135" cy="749808"/>
          </a:xfrm>
          <a:prstGeom prst="rect">
            <a:avLst/>
          </a:prstGeom>
          <a:noFill/>
          <a:ln/>
        </p:spPr>
        <p:txBody>
          <a:bodyPr wrap="square" lIns="0" tIns="0" rIns="0" bIns="0" rtlCol="0" anchor="ctr"/>
          <a:lstStyle/>
          <a:p>
            <a:pPr marL="0" indent="0">
              <a:buNone/>
            </a:pPr>
            <a:r>
              <a:rPr lang="en-US" sz="1350" b="1" dirty="0">
                <a:solidFill>
                  <a:srgbClr val="14532D"/>
                </a:solidFill>
                <a:latin typeface="Calibri" pitchFamily="34" charset="0"/>
                <a:ea typeface="Calibri" pitchFamily="34" charset="-122"/>
                <a:cs typeface="Calibri" pitchFamily="34" charset="-120"/>
              </a:rPr>
              <a:t>Separation by design:  </a:t>
            </a:r>
            <a:r>
              <a:rPr lang="en-US" sz="1350" dirty="0">
                <a:solidFill>
                  <a:srgbClr val="46555F"/>
                </a:solidFill>
                <a:latin typeface="Calibri" pitchFamily="34" charset="0"/>
                <a:ea typeface="Calibri" pitchFamily="34" charset="-122"/>
                <a:cs typeface="Calibri" pitchFamily="34" charset="-120"/>
              </a:rPr>
              <a:t>the device shows measurements and connectivity; AI-generated tips, quotes and summaries stay in the cloud and dashboard layer.</a:t>
            </a:r>
            <a:endParaRPr lang="en-US" sz="1350" dirty="0"/>
          </a:p>
        </p:txBody>
      </p:sp>
      <p:sp>
        <p:nvSpPr>
          <p:cNvPr id="65" name="Text 57"/>
          <p:cNvSpPr txBox="1"/>
          <p:nvPr/>
        </p:nvSpPr>
        <p:spPr>
          <a:xfrm>
            <a:off x="548640" y="6089904"/>
            <a:ext cx="9144000" cy="228600"/>
          </a:xfrm>
          <a:prstGeom prst="rect">
            <a:avLst/>
          </a:prstGeom>
          <a:noFill/>
          <a:ln/>
        </p:spPr>
        <p:txBody>
          <a:bodyPr wrap="square" lIns="0" tIns="0" rIns="0" bIns="0" rtlCol="0" anchor="t"/>
          <a:lstStyle/>
          <a:p>
            <a:pPr marL="0" indent="0">
              <a:buNone/>
            </a:pPr>
            <a:r>
              <a:rPr lang="en-US" sz="950" i="1" dirty="0">
                <a:solidFill>
                  <a:srgbClr val="7A8A94"/>
                </a:solidFill>
                <a:latin typeface="Calibri" pitchFamily="34" charset="0"/>
                <a:ea typeface="Calibri" pitchFamily="34" charset="-122"/>
                <a:cs typeface="Calibri" pitchFamily="34" charset="-120"/>
              </a:rPr>
              <a:t>Display values are illustrative. Final thresholds will be set through calibration and prototype testing.</a:t>
            </a:r>
            <a:endParaRPr lang="en-US" sz="950" dirty="0"/>
          </a:p>
        </p:txBody>
      </p:sp>
      <p:sp>
        <p:nvSpPr>
          <p:cNvPr id="66" name="Text 58"/>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67" name="Text 59"/>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05</a:t>
            </a:r>
            <a:endParaRPr lang="en-US" sz="900" dirty="0"/>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06  ·  SECURE MQTT &amp; CLOUD ARCHITECTURE</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Secure, Bidirectional Data Pipeline</a:t>
            </a:r>
            <a:endParaRPr lang="en-US" sz="2800" dirty="0"/>
          </a:p>
        </p:txBody>
      </p:sp>
      <p:sp>
        <p:nvSpPr>
          <p:cNvPr id="7" name="Shape 4"/>
          <p:cNvSpPr/>
          <p:nvPr/>
        </p:nvSpPr>
        <p:spPr>
          <a:xfrm>
            <a:off x="548640" y="1572768"/>
            <a:ext cx="1572768" cy="1005840"/>
          </a:xfrm>
          <a:prstGeom prst="roundRect">
            <a:avLst>
              <a:gd name="adj" fmla="val 12727"/>
            </a:avLst>
          </a:prstGeom>
          <a:solidFill>
            <a:srgbClr val="1E7A46"/>
          </a:solidFill>
          <a:ln/>
          <a:effectLst>
            <a:outerShdw blurRad="152400" dist="25400" dir="5400000" algn="bl" rotWithShape="0">
              <a:srgbClr val="0B2A1C">
                <a:alpha val="9000"/>
              </a:srgbClr>
            </a:outerShdw>
          </a:effectLst>
        </p:spPr>
        <p:txBody>
          <a:bodyPr/>
          <a:lstStyle/>
          <a:p>
            <a:endParaRPr lang="en-US"/>
          </a:p>
        </p:txBody>
      </p:sp>
      <p:pic>
        <p:nvPicPr>
          <p:cNvPr id="8" name="Image 1" descr="preencoded.png"/>
          <p:cNvPicPr>
            <a:picLocks noChangeAspect="1"/>
          </p:cNvPicPr>
          <p:nvPr/>
        </p:nvPicPr>
        <p:blipFill>
          <a:blip r:embed="rId3"/>
          <a:stretch>
            <a:fillRect/>
          </a:stretch>
        </p:blipFill>
        <p:spPr>
          <a:xfrm>
            <a:off x="1179576" y="1700784"/>
            <a:ext cx="310896" cy="310896"/>
          </a:xfrm>
          <a:prstGeom prst="rect">
            <a:avLst/>
          </a:prstGeom>
        </p:spPr>
      </p:pic>
      <p:sp>
        <p:nvSpPr>
          <p:cNvPr id="9" name="Text 5"/>
          <p:cNvSpPr txBox="1"/>
          <p:nvPr/>
        </p:nvSpPr>
        <p:spPr>
          <a:xfrm>
            <a:off x="594360" y="2029968"/>
            <a:ext cx="1481328"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ESP32</a:t>
            </a:r>
            <a:endParaRPr lang="en-US" sz="1200" dirty="0"/>
          </a:p>
        </p:txBody>
      </p:sp>
      <p:sp>
        <p:nvSpPr>
          <p:cNvPr id="10" name="Text 6"/>
          <p:cNvSpPr txBox="1"/>
          <p:nvPr/>
        </p:nvSpPr>
        <p:spPr>
          <a:xfrm>
            <a:off x="594360" y="2276856"/>
            <a:ext cx="1481328" cy="219456"/>
          </a:xfrm>
          <a:prstGeom prst="rect">
            <a:avLst/>
          </a:prstGeom>
          <a:noFill/>
          <a:ln/>
        </p:spPr>
        <p:txBody>
          <a:bodyPr wrap="square" lIns="0" tIns="0" rIns="0" bIns="0" rtlCol="0" anchor="t"/>
          <a:lstStyle/>
          <a:p>
            <a:pPr marL="0" indent="0" algn="ctr">
              <a:buNone/>
            </a:pPr>
            <a:r>
              <a:rPr lang="en-US" sz="950" dirty="0">
                <a:solidFill>
                  <a:srgbClr val="D6E4DC"/>
                </a:solidFill>
                <a:latin typeface="Calibri" pitchFamily="34" charset="0"/>
                <a:ea typeface="Calibri" pitchFamily="34" charset="-122"/>
                <a:cs typeface="Calibri" pitchFamily="34" charset="-120"/>
              </a:rPr>
              <a:t>Publishes JSON</a:t>
            </a:r>
            <a:endParaRPr lang="en-US" sz="950" dirty="0"/>
          </a:p>
        </p:txBody>
      </p:sp>
      <p:sp>
        <p:nvSpPr>
          <p:cNvPr id="11" name="Shape 7"/>
          <p:cNvSpPr/>
          <p:nvPr/>
        </p:nvSpPr>
        <p:spPr>
          <a:xfrm>
            <a:off x="2167128" y="2075688"/>
            <a:ext cx="240121" cy="914"/>
          </a:xfrm>
          <a:prstGeom prst="line">
            <a:avLst/>
          </a:prstGeom>
          <a:noFill/>
          <a:ln w="19050">
            <a:solidFill>
              <a:srgbClr val="7A8A94"/>
            </a:solidFill>
            <a:prstDash val="solid"/>
            <a:tailEnd type="triangle"/>
          </a:ln>
        </p:spPr>
        <p:txBody>
          <a:bodyPr/>
          <a:lstStyle/>
          <a:p>
            <a:endParaRPr lang="en-US"/>
          </a:p>
        </p:txBody>
      </p:sp>
      <p:sp>
        <p:nvSpPr>
          <p:cNvPr id="12" name="Shape 8"/>
          <p:cNvSpPr/>
          <p:nvPr/>
        </p:nvSpPr>
        <p:spPr>
          <a:xfrm>
            <a:off x="2452969" y="1572768"/>
            <a:ext cx="1572768" cy="1005840"/>
          </a:xfrm>
          <a:prstGeom prst="roundRect">
            <a:avLst>
              <a:gd name="adj" fmla="val 12727"/>
            </a:avLst>
          </a:prstGeom>
          <a:solidFill>
            <a:srgbClr val="0F766E"/>
          </a:solidFill>
          <a:ln/>
          <a:effectLst>
            <a:outerShdw blurRad="152400" dist="25400" dir="5400000" algn="bl" rotWithShape="0">
              <a:srgbClr val="0B2A1C">
                <a:alpha val="9000"/>
              </a:srgbClr>
            </a:outerShdw>
          </a:effectLst>
        </p:spPr>
        <p:txBody>
          <a:bodyPr/>
          <a:lstStyle/>
          <a:p>
            <a:endParaRPr lang="en-US"/>
          </a:p>
        </p:txBody>
      </p:sp>
      <p:pic>
        <p:nvPicPr>
          <p:cNvPr id="13" name="Image 2" descr="preencoded.png"/>
          <p:cNvPicPr>
            <a:picLocks noChangeAspect="1"/>
          </p:cNvPicPr>
          <p:nvPr/>
        </p:nvPicPr>
        <p:blipFill>
          <a:blip r:embed="rId4"/>
          <a:stretch>
            <a:fillRect/>
          </a:stretch>
        </p:blipFill>
        <p:spPr>
          <a:xfrm>
            <a:off x="3083905" y="1700784"/>
            <a:ext cx="310896" cy="310896"/>
          </a:xfrm>
          <a:prstGeom prst="rect">
            <a:avLst/>
          </a:prstGeom>
        </p:spPr>
      </p:pic>
      <p:sp>
        <p:nvSpPr>
          <p:cNvPr id="14" name="Text 9"/>
          <p:cNvSpPr txBox="1"/>
          <p:nvPr/>
        </p:nvSpPr>
        <p:spPr>
          <a:xfrm>
            <a:off x="2498689" y="2029968"/>
            <a:ext cx="1481328"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MQTT over TLS</a:t>
            </a:r>
            <a:endParaRPr lang="en-US" sz="1200" dirty="0"/>
          </a:p>
        </p:txBody>
      </p:sp>
      <p:sp>
        <p:nvSpPr>
          <p:cNvPr id="15" name="Text 10"/>
          <p:cNvSpPr txBox="1"/>
          <p:nvPr/>
        </p:nvSpPr>
        <p:spPr>
          <a:xfrm>
            <a:off x="2498689" y="2276856"/>
            <a:ext cx="1481328" cy="219456"/>
          </a:xfrm>
          <a:prstGeom prst="rect">
            <a:avLst/>
          </a:prstGeom>
          <a:noFill/>
          <a:ln/>
        </p:spPr>
        <p:txBody>
          <a:bodyPr wrap="square" lIns="0" tIns="0" rIns="0" bIns="0" rtlCol="0" anchor="t"/>
          <a:lstStyle/>
          <a:p>
            <a:pPr marL="0" indent="0" algn="ctr">
              <a:buNone/>
            </a:pPr>
            <a:r>
              <a:rPr lang="en-US" sz="950" dirty="0">
                <a:solidFill>
                  <a:srgbClr val="D6E4DC"/>
                </a:solidFill>
                <a:latin typeface="Calibri" pitchFamily="34" charset="0"/>
                <a:ea typeface="Calibri" pitchFamily="34" charset="-122"/>
                <a:cs typeface="Calibri" pitchFamily="34" charset="-120"/>
              </a:rPr>
              <a:t>Port 8883</a:t>
            </a:r>
            <a:endParaRPr lang="en-US" sz="950" dirty="0"/>
          </a:p>
        </p:txBody>
      </p:sp>
      <p:sp>
        <p:nvSpPr>
          <p:cNvPr id="16" name="Shape 11"/>
          <p:cNvSpPr/>
          <p:nvPr/>
        </p:nvSpPr>
        <p:spPr>
          <a:xfrm>
            <a:off x="4071457" y="2075688"/>
            <a:ext cx="240121" cy="914"/>
          </a:xfrm>
          <a:prstGeom prst="line">
            <a:avLst/>
          </a:prstGeom>
          <a:noFill/>
          <a:ln w="19050">
            <a:solidFill>
              <a:srgbClr val="7A8A94"/>
            </a:solidFill>
            <a:prstDash val="solid"/>
            <a:tailEnd type="triangle"/>
          </a:ln>
        </p:spPr>
        <p:txBody>
          <a:bodyPr/>
          <a:lstStyle/>
          <a:p>
            <a:endParaRPr lang="en-US"/>
          </a:p>
        </p:txBody>
      </p:sp>
      <p:sp>
        <p:nvSpPr>
          <p:cNvPr id="17" name="Shape 12"/>
          <p:cNvSpPr/>
          <p:nvPr/>
        </p:nvSpPr>
        <p:spPr>
          <a:xfrm>
            <a:off x="4357299" y="1572768"/>
            <a:ext cx="1572768" cy="1005840"/>
          </a:xfrm>
          <a:prstGeom prst="roundRect">
            <a:avLst>
              <a:gd name="adj" fmla="val 12727"/>
            </a:avLst>
          </a:prstGeom>
          <a:solidFill>
            <a:srgbClr val="0F766E"/>
          </a:solidFill>
          <a:ln/>
          <a:effectLst>
            <a:outerShdw blurRad="152400" dist="25400" dir="5400000" algn="bl" rotWithShape="0">
              <a:srgbClr val="0B2A1C">
                <a:alpha val="9000"/>
              </a:srgbClr>
            </a:outerShdw>
          </a:effectLst>
        </p:spPr>
        <p:txBody>
          <a:bodyPr/>
          <a:lstStyle/>
          <a:p>
            <a:endParaRPr lang="en-US"/>
          </a:p>
        </p:txBody>
      </p:sp>
      <p:pic>
        <p:nvPicPr>
          <p:cNvPr id="18" name="Image 3" descr="preencoded.png"/>
          <p:cNvPicPr>
            <a:picLocks noChangeAspect="1"/>
          </p:cNvPicPr>
          <p:nvPr/>
        </p:nvPicPr>
        <p:blipFill>
          <a:blip r:embed="rId5"/>
          <a:stretch>
            <a:fillRect/>
          </a:stretch>
        </p:blipFill>
        <p:spPr>
          <a:xfrm>
            <a:off x="4988235" y="1700784"/>
            <a:ext cx="310896" cy="310896"/>
          </a:xfrm>
          <a:prstGeom prst="rect">
            <a:avLst/>
          </a:prstGeom>
        </p:spPr>
      </p:pic>
      <p:sp>
        <p:nvSpPr>
          <p:cNvPr id="19" name="Text 13"/>
          <p:cNvSpPr txBox="1"/>
          <p:nvPr/>
        </p:nvSpPr>
        <p:spPr>
          <a:xfrm>
            <a:off x="4403019" y="2029968"/>
            <a:ext cx="1481328"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AWS IoT Core</a:t>
            </a:r>
            <a:endParaRPr lang="en-US" sz="1200" dirty="0"/>
          </a:p>
        </p:txBody>
      </p:sp>
      <p:sp>
        <p:nvSpPr>
          <p:cNvPr id="20" name="Text 14"/>
          <p:cNvSpPr txBox="1"/>
          <p:nvPr/>
        </p:nvSpPr>
        <p:spPr>
          <a:xfrm>
            <a:off x="4403019" y="2276856"/>
            <a:ext cx="1481328" cy="219456"/>
          </a:xfrm>
          <a:prstGeom prst="rect">
            <a:avLst/>
          </a:prstGeom>
          <a:noFill/>
          <a:ln/>
        </p:spPr>
        <p:txBody>
          <a:bodyPr wrap="square" lIns="0" tIns="0" rIns="0" bIns="0" rtlCol="0" anchor="t"/>
          <a:lstStyle/>
          <a:p>
            <a:pPr marL="0" indent="0" algn="ctr">
              <a:buNone/>
            </a:pPr>
            <a:r>
              <a:rPr lang="en-US" sz="950" dirty="0">
                <a:solidFill>
                  <a:srgbClr val="D6E4DC"/>
                </a:solidFill>
                <a:latin typeface="Calibri" pitchFamily="34" charset="0"/>
                <a:ea typeface="Calibri" pitchFamily="34" charset="-122"/>
                <a:cs typeface="Calibri" pitchFamily="34" charset="-120"/>
              </a:rPr>
              <a:t>MQTT broker</a:t>
            </a:r>
            <a:endParaRPr lang="en-US" sz="950" dirty="0"/>
          </a:p>
        </p:txBody>
      </p:sp>
      <p:sp>
        <p:nvSpPr>
          <p:cNvPr id="21" name="Shape 15"/>
          <p:cNvSpPr/>
          <p:nvPr/>
        </p:nvSpPr>
        <p:spPr>
          <a:xfrm>
            <a:off x="5975787" y="2075688"/>
            <a:ext cx="240121" cy="914"/>
          </a:xfrm>
          <a:prstGeom prst="line">
            <a:avLst/>
          </a:prstGeom>
          <a:noFill/>
          <a:ln w="19050">
            <a:solidFill>
              <a:srgbClr val="7A8A94"/>
            </a:solidFill>
            <a:prstDash val="solid"/>
            <a:tailEnd type="triangle"/>
          </a:ln>
        </p:spPr>
        <p:txBody>
          <a:bodyPr/>
          <a:lstStyle/>
          <a:p>
            <a:endParaRPr lang="en-US"/>
          </a:p>
        </p:txBody>
      </p:sp>
      <p:sp>
        <p:nvSpPr>
          <p:cNvPr id="22" name="Shape 16"/>
          <p:cNvSpPr/>
          <p:nvPr/>
        </p:nvSpPr>
        <p:spPr>
          <a:xfrm>
            <a:off x="6261628" y="1572768"/>
            <a:ext cx="1572768" cy="1005840"/>
          </a:xfrm>
          <a:prstGeom prst="roundRect">
            <a:avLst>
              <a:gd name="adj" fmla="val 12727"/>
            </a:avLst>
          </a:prstGeom>
          <a:solidFill>
            <a:srgbClr val="1E3A5F"/>
          </a:solidFill>
          <a:ln/>
          <a:effectLst>
            <a:outerShdw blurRad="152400" dist="25400" dir="5400000" algn="bl" rotWithShape="0">
              <a:srgbClr val="0B2A1C">
                <a:alpha val="9000"/>
              </a:srgbClr>
            </a:outerShdw>
          </a:effectLst>
        </p:spPr>
        <p:txBody>
          <a:bodyPr/>
          <a:lstStyle/>
          <a:p>
            <a:endParaRPr lang="en-US"/>
          </a:p>
        </p:txBody>
      </p:sp>
      <p:pic>
        <p:nvPicPr>
          <p:cNvPr id="23" name="Image 4" descr="preencoded.png"/>
          <p:cNvPicPr>
            <a:picLocks noChangeAspect="1"/>
          </p:cNvPicPr>
          <p:nvPr/>
        </p:nvPicPr>
        <p:blipFill>
          <a:blip r:embed="rId6"/>
          <a:stretch>
            <a:fillRect/>
          </a:stretch>
        </p:blipFill>
        <p:spPr>
          <a:xfrm>
            <a:off x="6892564" y="1700784"/>
            <a:ext cx="310896" cy="310896"/>
          </a:xfrm>
          <a:prstGeom prst="rect">
            <a:avLst/>
          </a:prstGeom>
        </p:spPr>
      </p:pic>
      <p:sp>
        <p:nvSpPr>
          <p:cNvPr id="24" name="Text 17"/>
          <p:cNvSpPr txBox="1"/>
          <p:nvPr/>
        </p:nvSpPr>
        <p:spPr>
          <a:xfrm>
            <a:off x="6307348" y="2029968"/>
            <a:ext cx="1481328"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Python Backend</a:t>
            </a:r>
            <a:endParaRPr lang="en-US" sz="1200" dirty="0"/>
          </a:p>
        </p:txBody>
      </p:sp>
      <p:sp>
        <p:nvSpPr>
          <p:cNvPr id="25" name="Text 18"/>
          <p:cNvSpPr txBox="1"/>
          <p:nvPr/>
        </p:nvSpPr>
        <p:spPr>
          <a:xfrm>
            <a:off x="6307348" y="2276856"/>
            <a:ext cx="1481328" cy="219456"/>
          </a:xfrm>
          <a:prstGeom prst="rect">
            <a:avLst/>
          </a:prstGeom>
          <a:noFill/>
          <a:ln/>
        </p:spPr>
        <p:txBody>
          <a:bodyPr wrap="square" lIns="0" tIns="0" rIns="0" bIns="0" rtlCol="0" anchor="t"/>
          <a:lstStyle/>
          <a:p>
            <a:pPr marL="0" indent="0" algn="ctr">
              <a:buNone/>
            </a:pPr>
            <a:r>
              <a:rPr lang="en-US" sz="950" dirty="0">
                <a:solidFill>
                  <a:srgbClr val="D6E4DC"/>
                </a:solidFill>
                <a:latin typeface="Calibri" pitchFamily="34" charset="0"/>
                <a:ea typeface="Calibri" pitchFamily="34" charset="-122"/>
                <a:cs typeface="Calibri" pitchFamily="34" charset="-120"/>
              </a:rPr>
              <a:t>Subscribe · validate</a:t>
            </a:r>
            <a:endParaRPr lang="en-US" sz="950" dirty="0"/>
          </a:p>
        </p:txBody>
      </p:sp>
      <p:sp>
        <p:nvSpPr>
          <p:cNvPr id="26" name="Shape 19"/>
          <p:cNvSpPr/>
          <p:nvPr/>
        </p:nvSpPr>
        <p:spPr>
          <a:xfrm>
            <a:off x="7880116" y="2075688"/>
            <a:ext cx="240121" cy="914"/>
          </a:xfrm>
          <a:prstGeom prst="line">
            <a:avLst/>
          </a:prstGeom>
          <a:noFill/>
          <a:ln w="19050">
            <a:solidFill>
              <a:srgbClr val="7A8A94"/>
            </a:solidFill>
            <a:prstDash val="solid"/>
            <a:tailEnd type="triangle"/>
          </a:ln>
        </p:spPr>
        <p:txBody>
          <a:bodyPr/>
          <a:lstStyle/>
          <a:p>
            <a:endParaRPr lang="en-US"/>
          </a:p>
        </p:txBody>
      </p:sp>
      <p:sp>
        <p:nvSpPr>
          <p:cNvPr id="27" name="Shape 20"/>
          <p:cNvSpPr/>
          <p:nvPr/>
        </p:nvSpPr>
        <p:spPr>
          <a:xfrm>
            <a:off x="8165958" y="1572768"/>
            <a:ext cx="1572768" cy="1005840"/>
          </a:xfrm>
          <a:prstGeom prst="roundRect">
            <a:avLst>
              <a:gd name="adj" fmla="val 12727"/>
            </a:avLst>
          </a:prstGeom>
          <a:solidFill>
            <a:srgbClr val="1E3A5F"/>
          </a:solidFill>
          <a:ln/>
          <a:effectLst>
            <a:outerShdw blurRad="152400" dist="25400" dir="5400000" algn="bl" rotWithShape="0">
              <a:srgbClr val="0B2A1C">
                <a:alpha val="9000"/>
              </a:srgbClr>
            </a:outerShdw>
          </a:effectLst>
        </p:spPr>
        <p:txBody>
          <a:bodyPr/>
          <a:lstStyle/>
          <a:p>
            <a:endParaRPr lang="en-US"/>
          </a:p>
        </p:txBody>
      </p:sp>
      <p:pic>
        <p:nvPicPr>
          <p:cNvPr id="28" name="Image 5" descr="preencoded.png"/>
          <p:cNvPicPr>
            <a:picLocks noChangeAspect="1"/>
          </p:cNvPicPr>
          <p:nvPr/>
        </p:nvPicPr>
        <p:blipFill>
          <a:blip r:embed="rId7"/>
          <a:stretch>
            <a:fillRect/>
          </a:stretch>
        </p:blipFill>
        <p:spPr>
          <a:xfrm>
            <a:off x="8796894" y="1700784"/>
            <a:ext cx="310896" cy="310896"/>
          </a:xfrm>
          <a:prstGeom prst="rect">
            <a:avLst/>
          </a:prstGeom>
        </p:spPr>
      </p:pic>
      <p:sp>
        <p:nvSpPr>
          <p:cNvPr id="29" name="Text 21"/>
          <p:cNvSpPr txBox="1"/>
          <p:nvPr/>
        </p:nvSpPr>
        <p:spPr>
          <a:xfrm>
            <a:off x="8211678" y="2029968"/>
            <a:ext cx="1481328"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DynamoDB · LLM</a:t>
            </a:r>
            <a:endParaRPr lang="en-US" sz="1200" dirty="0"/>
          </a:p>
        </p:txBody>
      </p:sp>
      <p:sp>
        <p:nvSpPr>
          <p:cNvPr id="30" name="Text 22"/>
          <p:cNvSpPr txBox="1"/>
          <p:nvPr/>
        </p:nvSpPr>
        <p:spPr>
          <a:xfrm>
            <a:off x="8211678" y="2276856"/>
            <a:ext cx="1481328" cy="219456"/>
          </a:xfrm>
          <a:prstGeom prst="rect">
            <a:avLst/>
          </a:prstGeom>
          <a:noFill/>
          <a:ln/>
        </p:spPr>
        <p:txBody>
          <a:bodyPr wrap="square" lIns="0" tIns="0" rIns="0" bIns="0" rtlCol="0" anchor="t"/>
          <a:lstStyle/>
          <a:p>
            <a:pPr marL="0" indent="0" algn="ctr">
              <a:buNone/>
            </a:pPr>
            <a:r>
              <a:rPr lang="en-US" sz="950" dirty="0">
                <a:solidFill>
                  <a:srgbClr val="D6E4DC"/>
                </a:solidFill>
                <a:latin typeface="Calibri" pitchFamily="34" charset="0"/>
                <a:ea typeface="Calibri" pitchFamily="34" charset="-122"/>
                <a:cs typeface="Calibri" pitchFamily="34" charset="-120"/>
              </a:rPr>
              <a:t>+ external services</a:t>
            </a:r>
            <a:endParaRPr lang="en-US" sz="950" dirty="0"/>
          </a:p>
        </p:txBody>
      </p:sp>
      <p:sp>
        <p:nvSpPr>
          <p:cNvPr id="31" name="Shape 23"/>
          <p:cNvSpPr/>
          <p:nvPr/>
        </p:nvSpPr>
        <p:spPr>
          <a:xfrm>
            <a:off x="9784446" y="2075688"/>
            <a:ext cx="240121" cy="914"/>
          </a:xfrm>
          <a:prstGeom prst="line">
            <a:avLst/>
          </a:prstGeom>
          <a:noFill/>
          <a:ln w="19050">
            <a:solidFill>
              <a:srgbClr val="7A8A94"/>
            </a:solidFill>
            <a:prstDash val="solid"/>
            <a:tailEnd type="triangle"/>
          </a:ln>
        </p:spPr>
        <p:txBody>
          <a:bodyPr/>
          <a:lstStyle/>
          <a:p>
            <a:endParaRPr lang="en-US"/>
          </a:p>
        </p:txBody>
      </p:sp>
      <p:sp>
        <p:nvSpPr>
          <p:cNvPr id="32" name="Shape 24"/>
          <p:cNvSpPr/>
          <p:nvPr/>
        </p:nvSpPr>
        <p:spPr>
          <a:xfrm>
            <a:off x="10070287" y="1572768"/>
            <a:ext cx="1572768" cy="1005840"/>
          </a:xfrm>
          <a:prstGeom prst="roundRect">
            <a:avLst>
              <a:gd name="adj" fmla="val 12727"/>
            </a:avLst>
          </a:prstGeom>
          <a:solidFill>
            <a:srgbClr val="4D7C0F"/>
          </a:solidFill>
          <a:ln/>
          <a:effectLst>
            <a:outerShdw blurRad="152400" dist="25400" dir="5400000" algn="bl" rotWithShape="0">
              <a:srgbClr val="0B2A1C">
                <a:alpha val="9000"/>
              </a:srgbClr>
            </a:outerShdw>
          </a:effectLst>
        </p:spPr>
        <p:txBody>
          <a:bodyPr/>
          <a:lstStyle/>
          <a:p>
            <a:endParaRPr lang="en-US"/>
          </a:p>
        </p:txBody>
      </p:sp>
      <p:pic>
        <p:nvPicPr>
          <p:cNvPr id="33" name="Image 6" descr="preencoded.png"/>
          <p:cNvPicPr>
            <a:picLocks noChangeAspect="1"/>
          </p:cNvPicPr>
          <p:nvPr/>
        </p:nvPicPr>
        <p:blipFill>
          <a:blip r:embed="rId8"/>
          <a:stretch>
            <a:fillRect/>
          </a:stretch>
        </p:blipFill>
        <p:spPr>
          <a:xfrm>
            <a:off x="10701223" y="1700784"/>
            <a:ext cx="310896" cy="310896"/>
          </a:xfrm>
          <a:prstGeom prst="rect">
            <a:avLst/>
          </a:prstGeom>
        </p:spPr>
      </p:pic>
      <p:sp>
        <p:nvSpPr>
          <p:cNvPr id="34" name="Text 25"/>
          <p:cNvSpPr txBox="1"/>
          <p:nvPr/>
        </p:nvSpPr>
        <p:spPr>
          <a:xfrm>
            <a:off x="10116007" y="2029968"/>
            <a:ext cx="1481328"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Node-RED</a:t>
            </a:r>
            <a:endParaRPr lang="en-US" sz="1200" dirty="0"/>
          </a:p>
        </p:txBody>
      </p:sp>
      <p:sp>
        <p:nvSpPr>
          <p:cNvPr id="35" name="Text 26"/>
          <p:cNvSpPr txBox="1"/>
          <p:nvPr/>
        </p:nvSpPr>
        <p:spPr>
          <a:xfrm>
            <a:off x="10116007" y="2276856"/>
            <a:ext cx="1481328" cy="219456"/>
          </a:xfrm>
          <a:prstGeom prst="rect">
            <a:avLst/>
          </a:prstGeom>
          <a:noFill/>
          <a:ln/>
        </p:spPr>
        <p:txBody>
          <a:bodyPr wrap="square" lIns="0" tIns="0" rIns="0" bIns="0" rtlCol="0" anchor="t"/>
          <a:lstStyle/>
          <a:p>
            <a:pPr marL="0" indent="0" algn="ctr">
              <a:buNone/>
            </a:pPr>
            <a:r>
              <a:rPr lang="en-US" sz="950" dirty="0">
                <a:solidFill>
                  <a:srgbClr val="D6E4DC"/>
                </a:solidFill>
                <a:latin typeface="Calibri" pitchFamily="34" charset="0"/>
                <a:ea typeface="Calibri" pitchFamily="34" charset="-122"/>
                <a:cs typeface="Calibri" pitchFamily="34" charset="-120"/>
              </a:rPr>
              <a:t>Subscribes · displays</a:t>
            </a:r>
            <a:endParaRPr lang="en-US" sz="950" dirty="0"/>
          </a:p>
        </p:txBody>
      </p:sp>
      <p:sp>
        <p:nvSpPr>
          <p:cNvPr id="36" name="Shape 27"/>
          <p:cNvSpPr/>
          <p:nvPr/>
        </p:nvSpPr>
        <p:spPr>
          <a:xfrm>
            <a:off x="594360" y="2724912"/>
            <a:ext cx="5289987" cy="914"/>
          </a:xfrm>
          <a:prstGeom prst="line">
            <a:avLst/>
          </a:prstGeom>
          <a:noFill/>
          <a:ln w="15875">
            <a:solidFill>
              <a:srgbClr val="0F766E"/>
            </a:solidFill>
            <a:prstDash val="solid"/>
          </a:ln>
        </p:spPr>
        <p:txBody>
          <a:bodyPr/>
          <a:lstStyle/>
          <a:p>
            <a:endParaRPr lang="en-US"/>
          </a:p>
        </p:txBody>
      </p:sp>
      <p:sp>
        <p:nvSpPr>
          <p:cNvPr id="37" name="Shape 28"/>
          <p:cNvSpPr/>
          <p:nvPr/>
        </p:nvSpPr>
        <p:spPr>
          <a:xfrm>
            <a:off x="594360" y="2651760"/>
            <a:ext cx="914" cy="73152"/>
          </a:xfrm>
          <a:prstGeom prst="line">
            <a:avLst/>
          </a:prstGeom>
          <a:noFill/>
          <a:ln w="15875">
            <a:solidFill>
              <a:srgbClr val="0F766E"/>
            </a:solidFill>
            <a:prstDash val="solid"/>
          </a:ln>
        </p:spPr>
        <p:txBody>
          <a:bodyPr/>
          <a:lstStyle/>
          <a:p>
            <a:endParaRPr lang="en-US"/>
          </a:p>
        </p:txBody>
      </p:sp>
      <p:sp>
        <p:nvSpPr>
          <p:cNvPr id="38" name="Shape 29"/>
          <p:cNvSpPr/>
          <p:nvPr/>
        </p:nvSpPr>
        <p:spPr>
          <a:xfrm>
            <a:off x="5884347" y="2651760"/>
            <a:ext cx="914" cy="73152"/>
          </a:xfrm>
          <a:prstGeom prst="line">
            <a:avLst/>
          </a:prstGeom>
          <a:noFill/>
          <a:ln w="15875">
            <a:solidFill>
              <a:srgbClr val="0F766E"/>
            </a:solidFill>
            <a:prstDash val="solid"/>
          </a:ln>
        </p:spPr>
        <p:txBody>
          <a:bodyPr/>
          <a:lstStyle/>
          <a:p>
            <a:endParaRPr lang="en-US"/>
          </a:p>
        </p:txBody>
      </p:sp>
      <p:sp>
        <p:nvSpPr>
          <p:cNvPr id="39" name="Text 30"/>
          <p:cNvSpPr txBox="1"/>
          <p:nvPr/>
        </p:nvSpPr>
        <p:spPr>
          <a:xfrm>
            <a:off x="548640" y="2770632"/>
            <a:ext cx="5381427" cy="237744"/>
          </a:xfrm>
          <a:prstGeom prst="rect">
            <a:avLst/>
          </a:prstGeom>
          <a:noFill/>
          <a:ln/>
        </p:spPr>
        <p:txBody>
          <a:bodyPr wrap="square" lIns="0" tIns="0" rIns="0" bIns="0" rtlCol="0" anchor="t"/>
          <a:lstStyle/>
          <a:p>
            <a:pPr marL="0" indent="0" algn="ctr">
              <a:buNone/>
            </a:pPr>
            <a:r>
              <a:rPr lang="en-US" sz="1000" b="1" dirty="0">
                <a:solidFill>
                  <a:srgbClr val="0F766E"/>
                </a:solidFill>
                <a:latin typeface="Calibri" pitchFamily="34" charset="0"/>
                <a:ea typeface="Calibri" pitchFamily="34" charset="-122"/>
                <a:cs typeface="Calibri" pitchFamily="34" charset="-120"/>
              </a:rPr>
              <a:t>Member 2  ·  device → broker</a:t>
            </a:r>
            <a:endParaRPr lang="en-US" sz="1000" dirty="0"/>
          </a:p>
        </p:txBody>
      </p:sp>
      <p:sp>
        <p:nvSpPr>
          <p:cNvPr id="40" name="Shape 31"/>
          <p:cNvSpPr/>
          <p:nvPr/>
        </p:nvSpPr>
        <p:spPr>
          <a:xfrm>
            <a:off x="6307348" y="2724912"/>
            <a:ext cx="5289987" cy="914"/>
          </a:xfrm>
          <a:prstGeom prst="line">
            <a:avLst/>
          </a:prstGeom>
          <a:noFill/>
          <a:ln w="15875">
            <a:solidFill>
              <a:srgbClr val="1E3A5F"/>
            </a:solidFill>
            <a:prstDash val="solid"/>
          </a:ln>
        </p:spPr>
        <p:txBody>
          <a:bodyPr/>
          <a:lstStyle/>
          <a:p>
            <a:endParaRPr lang="en-US"/>
          </a:p>
        </p:txBody>
      </p:sp>
      <p:sp>
        <p:nvSpPr>
          <p:cNvPr id="41" name="Shape 32"/>
          <p:cNvSpPr/>
          <p:nvPr/>
        </p:nvSpPr>
        <p:spPr>
          <a:xfrm>
            <a:off x="6307348" y="2651760"/>
            <a:ext cx="914" cy="73152"/>
          </a:xfrm>
          <a:prstGeom prst="line">
            <a:avLst/>
          </a:prstGeom>
          <a:noFill/>
          <a:ln w="15875">
            <a:solidFill>
              <a:srgbClr val="1E3A5F"/>
            </a:solidFill>
            <a:prstDash val="solid"/>
          </a:ln>
        </p:spPr>
        <p:txBody>
          <a:bodyPr/>
          <a:lstStyle/>
          <a:p>
            <a:endParaRPr lang="en-US"/>
          </a:p>
        </p:txBody>
      </p:sp>
      <p:sp>
        <p:nvSpPr>
          <p:cNvPr id="42" name="Shape 33"/>
          <p:cNvSpPr/>
          <p:nvPr/>
        </p:nvSpPr>
        <p:spPr>
          <a:xfrm>
            <a:off x="11597335" y="2651760"/>
            <a:ext cx="914" cy="73152"/>
          </a:xfrm>
          <a:prstGeom prst="line">
            <a:avLst/>
          </a:prstGeom>
          <a:noFill/>
          <a:ln w="15875">
            <a:solidFill>
              <a:srgbClr val="1E3A5F"/>
            </a:solidFill>
            <a:prstDash val="solid"/>
          </a:ln>
        </p:spPr>
        <p:txBody>
          <a:bodyPr/>
          <a:lstStyle/>
          <a:p>
            <a:endParaRPr lang="en-US"/>
          </a:p>
        </p:txBody>
      </p:sp>
      <p:sp>
        <p:nvSpPr>
          <p:cNvPr id="43" name="Text 34"/>
          <p:cNvSpPr txBox="1"/>
          <p:nvPr/>
        </p:nvSpPr>
        <p:spPr>
          <a:xfrm>
            <a:off x="6261628" y="2770632"/>
            <a:ext cx="5381427" cy="237744"/>
          </a:xfrm>
          <a:prstGeom prst="rect">
            <a:avLst/>
          </a:prstGeom>
          <a:noFill/>
          <a:ln/>
        </p:spPr>
        <p:txBody>
          <a:bodyPr wrap="square" lIns="0" tIns="0" rIns="0" bIns="0" rtlCol="0" anchor="t"/>
          <a:lstStyle/>
          <a:p>
            <a:pPr marL="0" indent="0" algn="ctr">
              <a:buNone/>
            </a:pPr>
            <a:r>
              <a:rPr lang="en-US" sz="1000" b="1" dirty="0">
                <a:solidFill>
                  <a:srgbClr val="1E3A5F"/>
                </a:solidFill>
                <a:latin typeface="Calibri" pitchFamily="34" charset="0"/>
                <a:ea typeface="Calibri" pitchFamily="34" charset="-122"/>
                <a:cs typeface="Calibri" pitchFamily="34" charset="-120"/>
              </a:rPr>
              <a:t>Member 3  ·  cloud processing</a:t>
            </a:r>
            <a:endParaRPr lang="en-US" sz="1000" dirty="0"/>
          </a:p>
        </p:txBody>
      </p:sp>
      <p:sp>
        <p:nvSpPr>
          <p:cNvPr id="44" name="Shape 35"/>
          <p:cNvSpPr/>
          <p:nvPr/>
        </p:nvSpPr>
        <p:spPr>
          <a:xfrm>
            <a:off x="548640" y="3200400"/>
            <a:ext cx="3515258" cy="2926080"/>
          </a:xfrm>
          <a:prstGeom prst="roundRect">
            <a:avLst>
              <a:gd name="adj" fmla="val 375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45" name="Shape 36"/>
          <p:cNvSpPr/>
          <p:nvPr/>
        </p:nvSpPr>
        <p:spPr>
          <a:xfrm>
            <a:off x="822960" y="3474720"/>
            <a:ext cx="530352" cy="530352"/>
          </a:xfrm>
          <a:prstGeom prst="roundRect">
            <a:avLst>
              <a:gd name="adj" fmla="val 24000"/>
            </a:avLst>
          </a:prstGeom>
          <a:solidFill>
            <a:srgbClr val="0F766E"/>
          </a:solidFill>
          <a:ln/>
        </p:spPr>
        <p:txBody>
          <a:bodyPr/>
          <a:lstStyle/>
          <a:p>
            <a:endParaRPr lang="en-US"/>
          </a:p>
        </p:txBody>
      </p:sp>
      <p:pic>
        <p:nvPicPr>
          <p:cNvPr id="46" name="Image 7" descr="preencoded.png"/>
          <p:cNvPicPr>
            <a:picLocks noChangeAspect="1"/>
          </p:cNvPicPr>
          <p:nvPr/>
        </p:nvPicPr>
        <p:blipFill>
          <a:blip r:embed="rId9"/>
          <a:stretch>
            <a:fillRect/>
          </a:stretch>
        </p:blipFill>
        <p:spPr>
          <a:xfrm>
            <a:off x="939637" y="3591397"/>
            <a:ext cx="296997" cy="296997"/>
          </a:xfrm>
          <a:prstGeom prst="rect">
            <a:avLst/>
          </a:prstGeom>
        </p:spPr>
      </p:pic>
      <p:sp>
        <p:nvSpPr>
          <p:cNvPr id="47" name="Text 37"/>
          <p:cNvSpPr txBox="1"/>
          <p:nvPr/>
        </p:nvSpPr>
        <p:spPr>
          <a:xfrm>
            <a:off x="1508760" y="3474720"/>
            <a:ext cx="2326538" cy="530352"/>
          </a:xfrm>
          <a:prstGeom prst="rect">
            <a:avLst/>
          </a:prstGeom>
          <a:noFill/>
          <a:ln/>
        </p:spPr>
        <p:txBody>
          <a:bodyPr wrap="square" lIns="0" tIns="0" rIns="0" bIns="0" rtlCol="0" anchor="ctr"/>
          <a:lstStyle/>
          <a:p>
            <a:pPr marL="0" indent="0">
              <a:buNone/>
            </a:pPr>
            <a:r>
              <a:rPr lang="en-US" sz="1700" b="1" dirty="0">
                <a:solidFill>
                  <a:srgbClr val="0F1B2D"/>
                </a:solidFill>
                <a:latin typeface="Arial" pitchFamily="34" charset="0"/>
                <a:ea typeface="Arial" pitchFamily="34" charset="-122"/>
                <a:cs typeface="Arial" pitchFamily="34" charset="-120"/>
              </a:rPr>
              <a:t>MQTT</a:t>
            </a:r>
            <a:endParaRPr lang="en-US" sz="1700" dirty="0"/>
          </a:p>
        </p:txBody>
      </p:sp>
      <p:sp>
        <p:nvSpPr>
          <p:cNvPr id="48" name="Text 38"/>
          <p:cNvSpPr txBox="1"/>
          <p:nvPr/>
        </p:nvSpPr>
        <p:spPr>
          <a:xfrm>
            <a:off x="822960" y="4206240"/>
            <a:ext cx="3058058" cy="17830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Lightweight publish / subscribe via a central broker</a:t>
            </a:r>
            <a:endParaRPr lang="en-US" sz="1400" dirty="0"/>
          </a:p>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Bidirectional: device ⇄ cloud</a:t>
            </a:r>
            <a:endParaRPr lang="en-US" sz="1400" dirty="0"/>
          </a:p>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Topic-based message separation</a:t>
            </a:r>
            <a:endParaRPr lang="en-US" sz="1400" dirty="0"/>
          </a:p>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QoS 1 for telemetry and AI responses</a:t>
            </a:r>
            <a:endParaRPr lang="en-US" sz="1400" dirty="0"/>
          </a:p>
        </p:txBody>
      </p:sp>
      <p:sp>
        <p:nvSpPr>
          <p:cNvPr id="49" name="Shape 39"/>
          <p:cNvSpPr/>
          <p:nvPr/>
        </p:nvSpPr>
        <p:spPr>
          <a:xfrm>
            <a:off x="4338218" y="3200400"/>
            <a:ext cx="3515258" cy="2926080"/>
          </a:xfrm>
          <a:prstGeom prst="roundRect">
            <a:avLst>
              <a:gd name="adj" fmla="val 375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50" name="Shape 40"/>
          <p:cNvSpPr/>
          <p:nvPr/>
        </p:nvSpPr>
        <p:spPr>
          <a:xfrm>
            <a:off x="4612538" y="3474720"/>
            <a:ext cx="530352" cy="530352"/>
          </a:xfrm>
          <a:prstGeom prst="roundRect">
            <a:avLst>
              <a:gd name="adj" fmla="val 24000"/>
            </a:avLst>
          </a:prstGeom>
          <a:solidFill>
            <a:srgbClr val="1E3A5F"/>
          </a:solidFill>
          <a:ln/>
        </p:spPr>
        <p:txBody>
          <a:bodyPr/>
          <a:lstStyle/>
          <a:p>
            <a:endParaRPr lang="en-US"/>
          </a:p>
        </p:txBody>
      </p:sp>
      <p:pic>
        <p:nvPicPr>
          <p:cNvPr id="51" name="Image 8" descr="preencoded.png"/>
          <p:cNvPicPr>
            <a:picLocks noChangeAspect="1"/>
          </p:cNvPicPr>
          <p:nvPr/>
        </p:nvPicPr>
        <p:blipFill>
          <a:blip r:embed="rId10"/>
          <a:stretch>
            <a:fillRect/>
          </a:stretch>
        </p:blipFill>
        <p:spPr>
          <a:xfrm>
            <a:off x="4729216" y="3591397"/>
            <a:ext cx="296997" cy="296997"/>
          </a:xfrm>
          <a:prstGeom prst="rect">
            <a:avLst/>
          </a:prstGeom>
        </p:spPr>
      </p:pic>
      <p:sp>
        <p:nvSpPr>
          <p:cNvPr id="52" name="Text 41"/>
          <p:cNvSpPr txBox="1"/>
          <p:nvPr/>
        </p:nvSpPr>
        <p:spPr>
          <a:xfrm>
            <a:off x="5298338" y="3474720"/>
            <a:ext cx="2326538" cy="530352"/>
          </a:xfrm>
          <a:prstGeom prst="rect">
            <a:avLst/>
          </a:prstGeom>
          <a:noFill/>
          <a:ln/>
        </p:spPr>
        <p:txBody>
          <a:bodyPr wrap="square" lIns="0" tIns="0" rIns="0" bIns="0" rtlCol="0" anchor="ctr"/>
          <a:lstStyle/>
          <a:p>
            <a:pPr marL="0" indent="0">
              <a:buNone/>
            </a:pPr>
            <a:r>
              <a:rPr lang="en-US" sz="1700" b="1" dirty="0">
                <a:solidFill>
                  <a:srgbClr val="0F1B2D"/>
                </a:solidFill>
                <a:latin typeface="Arial" pitchFamily="34" charset="0"/>
                <a:ea typeface="Arial" pitchFamily="34" charset="-122"/>
                <a:cs typeface="Arial" pitchFamily="34" charset="-120"/>
              </a:rPr>
              <a:t>Security</a:t>
            </a:r>
            <a:endParaRPr lang="en-US" sz="1700" dirty="0"/>
          </a:p>
        </p:txBody>
      </p:sp>
      <p:sp>
        <p:nvSpPr>
          <p:cNvPr id="53" name="Text 42"/>
          <p:cNvSpPr txBox="1"/>
          <p:nvPr/>
        </p:nvSpPr>
        <p:spPr>
          <a:xfrm>
            <a:off x="4612538" y="4206240"/>
            <a:ext cx="3058058" cy="17830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MQTT over TLS (port 8883)</a:t>
            </a:r>
            <a:endParaRPr lang="en-US" sz="1400" dirty="0"/>
          </a:p>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Device certificate + private key authentication</a:t>
            </a:r>
            <a:endParaRPr lang="en-US" sz="1400" dirty="0"/>
          </a:p>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Least-privilege AWS IoT policies</a:t>
            </a:r>
            <a:endParaRPr lang="en-US" sz="1400" dirty="0"/>
          </a:p>
          <a:p>
            <a:pPr marL="177800" indent="-177800">
              <a:spcAft>
                <a:spcPts val="900"/>
              </a:spcAft>
              <a:buSzPct val="100000"/>
              <a:buChar char="•"/>
            </a:pPr>
            <a:r>
              <a:rPr lang="en-US" sz="1400" dirty="0">
                <a:solidFill>
                  <a:srgbClr val="46555F"/>
                </a:solidFill>
                <a:latin typeface="Calibri" pitchFamily="34" charset="0"/>
                <a:ea typeface="Calibri" pitchFamily="34" charset="-122"/>
                <a:cs typeface="Calibri" pitchFamily="34" charset="-120"/>
              </a:rPr>
              <a:t>No credentials in the public repository</a:t>
            </a:r>
            <a:endParaRPr lang="en-US" sz="1400" dirty="0"/>
          </a:p>
        </p:txBody>
      </p:sp>
      <p:sp>
        <p:nvSpPr>
          <p:cNvPr id="54" name="Shape 43"/>
          <p:cNvSpPr/>
          <p:nvPr/>
        </p:nvSpPr>
        <p:spPr>
          <a:xfrm>
            <a:off x="8127797" y="3200400"/>
            <a:ext cx="3515258" cy="2926080"/>
          </a:xfrm>
          <a:prstGeom prst="roundRect">
            <a:avLst>
              <a:gd name="adj" fmla="val 3750"/>
            </a:avLst>
          </a:prstGeom>
          <a:solidFill>
            <a:srgbClr val="0F1B2D"/>
          </a:solidFill>
          <a:ln/>
          <a:effectLst>
            <a:outerShdw blurRad="152400" dist="25400" dir="5400000" algn="bl" rotWithShape="0">
              <a:srgbClr val="0B2A1C">
                <a:alpha val="9000"/>
              </a:srgbClr>
            </a:outerShdw>
          </a:effectLst>
        </p:spPr>
        <p:txBody>
          <a:bodyPr/>
          <a:lstStyle/>
          <a:p>
            <a:endParaRPr lang="en-US"/>
          </a:p>
        </p:txBody>
      </p:sp>
      <p:sp>
        <p:nvSpPr>
          <p:cNvPr id="55" name="Shape 44"/>
          <p:cNvSpPr/>
          <p:nvPr/>
        </p:nvSpPr>
        <p:spPr>
          <a:xfrm>
            <a:off x="8402117" y="3474720"/>
            <a:ext cx="530352" cy="530352"/>
          </a:xfrm>
          <a:prstGeom prst="roundRect">
            <a:avLst>
              <a:gd name="adj" fmla="val 24000"/>
            </a:avLst>
          </a:prstGeom>
          <a:solidFill>
            <a:srgbClr val="1E7A46"/>
          </a:solidFill>
          <a:ln/>
        </p:spPr>
        <p:txBody>
          <a:bodyPr/>
          <a:lstStyle/>
          <a:p>
            <a:endParaRPr lang="en-US"/>
          </a:p>
        </p:txBody>
      </p:sp>
      <p:pic>
        <p:nvPicPr>
          <p:cNvPr id="56" name="Image 9" descr="preencoded.png"/>
          <p:cNvPicPr>
            <a:picLocks noChangeAspect="1"/>
          </p:cNvPicPr>
          <p:nvPr/>
        </p:nvPicPr>
        <p:blipFill>
          <a:blip r:embed="rId11"/>
          <a:stretch>
            <a:fillRect/>
          </a:stretch>
        </p:blipFill>
        <p:spPr>
          <a:xfrm>
            <a:off x="8518794" y="3591397"/>
            <a:ext cx="296997" cy="296997"/>
          </a:xfrm>
          <a:prstGeom prst="rect">
            <a:avLst/>
          </a:prstGeom>
        </p:spPr>
      </p:pic>
      <p:sp>
        <p:nvSpPr>
          <p:cNvPr id="57" name="Text 45"/>
          <p:cNvSpPr txBox="1"/>
          <p:nvPr/>
        </p:nvSpPr>
        <p:spPr>
          <a:xfrm>
            <a:off x="9087917" y="3474720"/>
            <a:ext cx="2326538" cy="530352"/>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Topic Structure</a:t>
            </a:r>
            <a:endParaRPr lang="en-US" sz="1700" dirty="0"/>
          </a:p>
        </p:txBody>
      </p:sp>
      <p:sp>
        <p:nvSpPr>
          <p:cNvPr id="58" name="Text 46"/>
          <p:cNvSpPr txBox="1"/>
          <p:nvPr/>
        </p:nvSpPr>
        <p:spPr>
          <a:xfrm>
            <a:off x="8402117" y="4187952"/>
            <a:ext cx="2966618" cy="201168"/>
          </a:xfrm>
          <a:prstGeom prst="rect">
            <a:avLst/>
          </a:prstGeom>
          <a:noFill/>
          <a:ln/>
        </p:spPr>
        <p:txBody>
          <a:bodyPr wrap="square" lIns="0" tIns="0" rIns="0" bIns="0" rtlCol="0" anchor="t"/>
          <a:lstStyle/>
          <a:p>
            <a:pPr marL="0" indent="0">
              <a:buNone/>
            </a:pPr>
            <a:r>
              <a:rPr lang="en-US" sz="900" b="1" kern="0" spc="200" dirty="0">
                <a:solidFill>
                  <a:srgbClr val="4CC47A"/>
                </a:solidFill>
                <a:latin typeface="Calibri" pitchFamily="34" charset="0"/>
                <a:ea typeface="Calibri" pitchFamily="34" charset="-122"/>
                <a:cs typeface="Calibri" pitchFamily="34" charset="-120"/>
              </a:rPr>
              <a:t>DEVICE → CLOUD</a:t>
            </a:r>
            <a:endParaRPr lang="en-US" sz="900" dirty="0"/>
          </a:p>
        </p:txBody>
      </p:sp>
      <p:sp>
        <p:nvSpPr>
          <p:cNvPr id="59" name="Text 47"/>
          <p:cNvSpPr txBox="1"/>
          <p:nvPr/>
        </p:nvSpPr>
        <p:spPr>
          <a:xfrm>
            <a:off x="8402117" y="4416552"/>
            <a:ext cx="2966618" cy="457200"/>
          </a:xfrm>
          <a:prstGeom prst="rect">
            <a:avLst/>
          </a:prstGeom>
          <a:noFill/>
          <a:ln/>
        </p:spPr>
        <p:txBody>
          <a:bodyPr wrap="square" lIns="0" tIns="0" rIns="0" bIns="0" rtlCol="0" anchor="t"/>
          <a:lstStyle/>
          <a:p>
            <a:pPr marL="0" indent="0">
              <a:spcAft>
                <a:spcPts val="300"/>
              </a:spcAft>
              <a:buNone/>
            </a:pPr>
            <a:r>
              <a:rPr lang="en-US" sz="1150" b="1" dirty="0">
                <a:solidFill>
                  <a:srgbClr val="E5F2FF"/>
                </a:solidFill>
                <a:latin typeface="Courier New" pitchFamily="34" charset="0"/>
                <a:ea typeface="Courier New" pitchFamily="34" charset="-122"/>
                <a:cs typeface="Courier New" pitchFamily="34" charset="-120"/>
              </a:rPr>
              <a:t>greenpulse/sensors</a:t>
            </a:r>
            <a:endParaRPr lang="en-US" sz="1150" dirty="0"/>
          </a:p>
          <a:p>
            <a:pPr marL="0" indent="0">
              <a:spcAft>
                <a:spcPts val="300"/>
              </a:spcAft>
              <a:buNone/>
            </a:pPr>
            <a:r>
              <a:rPr lang="en-US" sz="1150" b="1" dirty="0">
                <a:solidFill>
                  <a:srgbClr val="E5F2FF"/>
                </a:solidFill>
                <a:latin typeface="Courier New" pitchFamily="34" charset="0"/>
                <a:ea typeface="Courier New" pitchFamily="34" charset="-122"/>
                <a:cs typeface="Courier New" pitchFamily="34" charset="-120"/>
              </a:rPr>
              <a:t>greenpulse/status</a:t>
            </a:r>
            <a:endParaRPr lang="en-US" sz="1150" dirty="0"/>
          </a:p>
        </p:txBody>
      </p:sp>
      <p:sp>
        <p:nvSpPr>
          <p:cNvPr id="60" name="Text 48"/>
          <p:cNvSpPr txBox="1"/>
          <p:nvPr/>
        </p:nvSpPr>
        <p:spPr>
          <a:xfrm>
            <a:off x="8402117" y="4983480"/>
            <a:ext cx="2966618" cy="201168"/>
          </a:xfrm>
          <a:prstGeom prst="rect">
            <a:avLst/>
          </a:prstGeom>
          <a:noFill/>
          <a:ln/>
        </p:spPr>
        <p:txBody>
          <a:bodyPr wrap="square" lIns="0" tIns="0" rIns="0" bIns="0" rtlCol="0" anchor="t"/>
          <a:lstStyle/>
          <a:p>
            <a:pPr marL="0" indent="0">
              <a:buNone/>
            </a:pPr>
            <a:r>
              <a:rPr lang="en-US" sz="900" b="1" kern="0" spc="200" dirty="0">
                <a:solidFill>
                  <a:srgbClr val="5EEAD4"/>
                </a:solidFill>
                <a:latin typeface="Calibri" pitchFamily="34" charset="0"/>
                <a:ea typeface="Calibri" pitchFamily="34" charset="-122"/>
                <a:cs typeface="Calibri" pitchFamily="34" charset="-120"/>
              </a:rPr>
              <a:t>CLOUD → DEVICE + NODE-RED</a:t>
            </a:r>
            <a:endParaRPr lang="en-US" sz="900" dirty="0"/>
          </a:p>
        </p:txBody>
      </p:sp>
      <p:sp>
        <p:nvSpPr>
          <p:cNvPr id="61" name="Text 49"/>
          <p:cNvSpPr txBox="1"/>
          <p:nvPr/>
        </p:nvSpPr>
        <p:spPr>
          <a:xfrm>
            <a:off x="8402117" y="5212080"/>
            <a:ext cx="2966618" cy="713232"/>
          </a:xfrm>
          <a:prstGeom prst="rect">
            <a:avLst/>
          </a:prstGeom>
          <a:noFill/>
          <a:ln/>
        </p:spPr>
        <p:txBody>
          <a:bodyPr wrap="square" lIns="0" tIns="0" rIns="0" bIns="0" rtlCol="0" anchor="t"/>
          <a:lstStyle/>
          <a:p>
            <a:pPr marL="0" indent="0">
              <a:spcAft>
                <a:spcPts val="300"/>
              </a:spcAft>
              <a:buNone/>
            </a:pPr>
            <a:r>
              <a:rPr lang="en-US" sz="1150" b="1" dirty="0">
                <a:solidFill>
                  <a:srgbClr val="E5F2FF"/>
                </a:solidFill>
                <a:latin typeface="Courier New" pitchFamily="34" charset="0"/>
                <a:ea typeface="Courier New" pitchFamily="34" charset="-122"/>
                <a:cs typeface="Courier New" pitchFamily="34" charset="-120"/>
              </a:rPr>
              <a:t>greenpulse/ai/care</a:t>
            </a:r>
            <a:endParaRPr lang="en-US" sz="1150" dirty="0"/>
          </a:p>
          <a:p>
            <a:pPr marL="0" indent="0">
              <a:spcAft>
                <a:spcPts val="300"/>
              </a:spcAft>
              <a:buNone/>
            </a:pPr>
            <a:r>
              <a:rPr lang="en-US" sz="1150" b="1" dirty="0">
                <a:solidFill>
                  <a:srgbClr val="E5F2FF"/>
                </a:solidFill>
                <a:latin typeface="Courier New" pitchFamily="34" charset="0"/>
                <a:ea typeface="Courier New" pitchFamily="34" charset="-122"/>
                <a:cs typeface="Courier New" pitchFamily="34" charset="-120"/>
              </a:rPr>
              <a:t>greenpulse/ai/weather</a:t>
            </a:r>
            <a:endParaRPr lang="en-US" sz="1150" dirty="0"/>
          </a:p>
          <a:p>
            <a:pPr marL="0" indent="0">
              <a:spcAft>
                <a:spcPts val="300"/>
              </a:spcAft>
              <a:buNone/>
            </a:pPr>
            <a:r>
              <a:rPr lang="en-US" sz="1150" b="1" dirty="0">
                <a:solidFill>
                  <a:srgbClr val="E5F2FF"/>
                </a:solidFill>
                <a:latin typeface="Courier New" pitchFamily="34" charset="0"/>
                <a:ea typeface="Courier New" pitchFamily="34" charset="-122"/>
                <a:cs typeface="Courier New" pitchFamily="34" charset="-120"/>
              </a:rPr>
              <a:t>greenpulse/ai/notifications</a:t>
            </a:r>
            <a:endParaRPr lang="en-US" sz="1150" dirty="0"/>
          </a:p>
        </p:txBody>
      </p:sp>
      <p:sp>
        <p:nvSpPr>
          <p:cNvPr id="62" name="Text 50"/>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63" name="Text 51"/>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06</a:t>
            </a:r>
            <a:endParaRPr lang="en-US" sz="900"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07  ·  CLOUD INTELLIGENCE, LLM &amp; EXTERNAL SERVICES</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Turning Measurements into Meaning</a:t>
            </a:r>
            <a:endParaRPr lang="en-US" sz="2800" dirty="0"/>
          </a:p>
        </p:txBody>
      </p:sp>
      <p:sp>
        <p:nvSpPr>
          <p:cNvPr id="7" name="Shape 4"/>
          <p:cNvSpPr/>
          <p:nvPr/>
        </p:nvSpPr>
        <p:spPr>
          <a:xfrm>
            <a:off x="548640" y="1600200"/>
            <a:ext cx="2331720" cy="658368"/>
          </a:xfrm>
          <a:prstGeom prst="roundRect">
            <a:avLst>
              <a:gd name="adj" fmla="val 1666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8" name="Shape 5"/>
          <p:cNvSpPr/>
          <p:nvPr/>
        </p:nvSpPr>
        <p:spPr>
          <a:xfrm>
            <a:off x="676656" y="1728216"/>
            <a:ext cx="402336" cy="402336"/>
          </a:xfrm>
          <a:prstGeom prst="roundRect">
            <a:avLst>
              <a:gd name="adj" fmla="val 24000"/>
            </a:avLst>
          </a:prstGeom>
          <a:solidFill>
            <a:srgbClr val="E3F4E8"/>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765170" y="1816730"/>
            <a:ext cx="225308" cy="225308"/>
          </a:xfrm>
          <a:prstGeom prst="rect">
            <a:avLst/>
          </a:prstGeom>
        </p:spPr>
      </p:pic>
      <p:sp>
        <p:nvSpPr>
          <p:cNvPr id="10" name="Text 6"/>
          <p:cNvSpPr txBox="1"/>
          <p:nvPr/>
        </p:nvSpPr>
        <p:spPr>
          <a:xfrm>
            <a:off x="1188720" y="1691640"/>
            <a:ext cx="1618488"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Sensor Data</a:t>
            </a:r>
            <a:endParaRPr lang="en-US" sz="1250" dirty="0"/>
          </a:p>
        </p:txBody>
      </p:sp>
      <p:sp>
        <p:nvSpPr>
          <p:cNvPr id="11" name="Text 7"/>
          <p:cNvSpPr txBox="1"/>
          <p:nvPr/>
        </p:nvSpPr>
        <p:spPr>
          <a:xfrm>
            <a:off x="1188720" y="1947672"/>
            <a:ext cx="1618488" cy="219456"/>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Soil · temp · humidity · light</a:t>
            </a:r>
            <a:endParaRPr lang="en-US" sz="950" dirty="0"/>
          </a:p>
        </p:txBody>
      </p:sp>
      <p:sp>
        <p:nvSpPr>
          <p:cNvPr id="12" name="Shape 8"/>
          <p:cNvSpPr/>
          <p:nvPr/>
        </p:nvSpPr>
        <p:spPr>
          <a:xfrm>
            <a:off x="548640" y="2414016"/>
            <a:ext cx="2331720" cy="658368"/>
          </a:xfrm>
          <a:prstGeom prst="roundRect">
            <a:avLst>
              <a:gd name="adj" fmla="val 1666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3" name="Shape 9"/>
          <p:cNvSpPr/>
          <p:nvPr/>
        </p:nvSpPr>
        <p:spPr>
          <a:xfrm>
            <a:off x="676656" y="2542032"/>
            <a:ext cx="402336" cy="402336"/>
          </a:xfrm>
          <a:prstGeom prst="roundRect">
            <a:avLst>
              <a:gd name="adj" fmla="val 24000"/>
            </a:avLst>
          </a:prstGeom>
          <a:solidFill>
            <a:srgbClr val="E3F4E8"/>
          </a:solidFill>
          <a:ln/>
        </p:spPr>
        <p:txBody>
          <a:bodyPr/>
          <a:lstStyle/>
          <a:p>
            <a:endParaRPr lang="en-US"/>
          </a:p>
        </p:txBody>
      </p:sp>
      <p:pic>
        <p:nvPicPr>
          <p:cNvPr id="14" name="Image 2" descr="preencoded.png"/>
          <p:cNvPicPr>
            <a:picLocks noChangeAspect="1"/>
          </p:cNvPicPr>
          <p:nvPr/>
        </p:nvPicPr>
        <p:blipFill>
          <a:blip r:embed="rId4"/>
          <a:stretch>
            <a:fillRect/>
          </a:stretch>
        </p:blipFill>
        <p:spPr>
          <a:xfrm>
            <a:off x="765170" y="2630546"/>
            <a:ext cx="225308" cy="225308"/>
          </a:xfrm>
          <a:prstGeom prst="rect">
            <a:avLst/>
          </a:prstGeom>
        </p:spPr>
      </p:pic>
      <p:sp>
        <p:nvSpPr>
          <p:cNvPr id="15" name="Text 10"/>
          <p:cNvSpPr txBox="1"/>
          <p:nvPr/>
        </p:nvSpPr>
        <p:spPr>
          <a:xfrm>
            <a:off x="1188720" y="2505456"/>
            <a:ext cx="1618488"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Weather Data</a:t>
            </a:r>
            <a:endParaRPr lang="en-US" sz="1250" dirty="0"/>
          </a:p>
        </p:txBody>
      </p:sp>
      <p:sp>
        <p:nvSpPr>
          <p:cNvPr id="16" name="Text 11"/>
          <p:cNvSpPr txBox="1"/>
          <p:nvPr/>
        </p:nvSpPr>
        <p:spPr>
          <a:xfrm>
            <a:off x="1188720" y="2761488"/>
            <a:ext cx="1618488" cy="219456"/>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Real weather API</a:t>
            </a:r>
            <a:endParaRPr lang="en-US" sz="950" dirty="0"/>
          </a:p>
        </p:txBody>
      </p:sp>
      <p:sp>
        <p:nvSpPr>
          <p:cNvPr id="17" name="Shape 12"/>
          <p:cNvSpPr/>
          <p:nvPr/>
        </p:nvSpPr>
        <p:spPr>
          <a:xfrm>
            <a:off x="548640" y="3227832"/>
            <a:ext cx="2331720" cy="658368"/>
          </a:xfrm>
          <a:prstGeom prst="roundRect">
            <a:avLst>
              <a:gd name="adj" fmla="val 1666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8" name="Shape 13"/>
          <p:cNvSpPr/>
          <p:nvPr/>
        </p:nvSpPr>
        <p:spPr>
          <a:xfrm>
            <a:off x="676656" y="3355848"/>
            <a:ext cx="402336" cy="402336"/>
          </a:xfrm>
          <a:prstGeom prst="roundRect">
            <a:avLst>
              <a:gd name="adj" fmla="val 24000"/>
            </a:avLst>
          </a:prstGeom>
          <a:solidFill>
            <a:srgbClr val="E3F4E8"/>
          </a:solidFill>
          <a:ln/>
        </p:spPr>
        <p:txBody>
          <a:bodyPr/>
          <a:lstStyle/>
          <a:p>
            <a:endParaRPr lang="en-US"/>
          </a:p>
        </p:txBody>
      </p:sp>
      <p:pic>
        <p:nvPicPr>
          <p:cNvPr id="19" name="Image 3" descr="preencoded.png"/>
          <p:cNvPicPr>
            <a:picLocks noChangeAspect="1"/>
          </p:cNvPicPr>
          <p:nvPr/>
        </p:nvPicPr>
        <p:blipFill>
          <a:blip r:embed="rId5"/>
          <a:stretch>
            <a:fillRect/>
          </a:stretch>
        </p:blipFill>
        <p:spPr>
          <a:xfrm>
            <a:off x="765170" y="3444362"/>
            <a:ext cx="225308" cy="225308"/>
          </a:xfrm>
          <a:prstGeom prst="rect">
            <a:avLst/>
          </a:prstGeom>
        </p:spPr>
      </p:pic>
      <p:sp>
        <p:nvSpPr>
          <p:cNvPr id="20" name="Text 14"/>
          <p:cNvSpPr txBox="1"/>
          <p:nvPr/>
        </p:nvSpPr>
        <p:spPr>
          <a:xfrm>
            <a:off x="1188720" y="3319272"/>
            <a:ext cx="1618488"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Notification Context</a:t>
            </a:r>
            <a:endParaRPr lang="en-US" sz="1250" dirty="0"/>
          </a:p>
        </p:txBody>
      </p:sp>
      <p:sp>
        <p:nvSpPr>
          <p:cNvPr id="21" name="Text 15"/>
          <p:cNvSpPr txBox="1"/>
          <p:nvPr/>
        </p:nvSpPr>
        <p:spPr>
          <a:xfrm>
            <a:off x="1188720" y="3575304"/>
            <a:ext cx="1618488" cy="219456"/>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Authorized account, filtered</a:t>
            </a:r>
            <a:endParaRPr lang="en-US" sz="950" dirty="0"/>
          </a:p>
        </p:txBody>
      </p:sp>
      <p:sp>
        <p:nvSpPr>
          <p:cNvPr id="22" name="Shape 16"/>
          <p:cNvSpPr/>
          <p:nvPr/>
        </p:nvSpPr>
        <p:spPr>
          <a:xfrm>
            <a:off x="2944368" y="2743200"/>
            <a:ext cx="301752" cy="914"/>
          </a:xfrm>
          <a:prstGeom prst="line">
            <a:avLst/>
          </a:prstGeom>
          <a:noFill/>
          <a:ln w="19050">
            <a:solidFill>
              <a:srgbClr val="7A8A94"/>
            </a:solidFill>
            <a:prstDash val="solid"/>
            <a:tailEnd type="triangle"/>
          </a:ln>
        </p:spPr>
        <p:txBody>
          <a:bodyPr/>
          <a:lstStyle/>
          <a:p>
            <a:endParaRPr lang="en-US"/>
          </a:p>
        </p:txBody>
      </p:sp>
      <p:sp>
        <p:nvSpPr>
          <p:cNvPr id="23" name="Shape 17"/>
          <p:cNvSpPr/>
          <p:nvPr/>
        </p:nvSpPr>
        <p:spPr>
          <a:xfrm>
            <a:off x="3310128" y="1600200"/>
            <a:ext cx="1965960" cy="2286000"/>
          </a:xfrm>
          <a:prstGeom prst="roundRect">
            <a:avLst>
              <a:gd name="adj" fmla="val 6512"/>
            </a:avLst>
          </a:prstGeom>
          <a:solidFill>
            <a:srgbClr val="1E3A5F"/>
          </a:solidFill>
          <a:ln/>
          <a:effectLst>
            <a:outerShdw blurRad="152400" dist="25400" dir="5400000" algn="bl" rotWithShape="0">
              <a:srgbClr val="0B2A1C">
                <a:alpha val="9000"/>
              </a:srgbClr>
            </a:outerShdw>
          </a:effectLst>
        </p:spPr>
        <p:txBody>
          <a:bodyPr/>
          <a:lstStyle/>
          <a:p>
            <a:endParaRPr lang="en-US"/>
          </a:p>
        </p:txBody>
      </p:sp>
      <p:pic>
        <p:nvPicPr>
          <p:cNvPr id="24" name="Image 4" descr="preencoded.png"/>
          <p:cNvPicPr>
            <a:picLocks noChangeAspect="1"/>
          </p:cNvPicPr>
          <p:nvPr/>
        </p:nvPicPr>
        <p:blipFill>
          <a:blip r:embed="rId6"/>
          <a:stretch>
            <a:fillRect/>
          </a:stretch>
        </p:blipFill>
        <p:spPr>
          <a:xfrm>
            <a:off x="3511296" y="1828800"/>
            <a:ext cx="384048" cy="384048"/>
          </a:xfrm>
          <a:prstGeom prst="rect">
            <a:avLst/>
          </a:prstGeom>
        </p:spPr>
      </p:pic>
      <p:sp>
        <p:nvSpPr>
          <p:cNvPr id="25" name="Text 18"/>
          <p:cNvSpPr txBox="1"/>
          <p:nvPr/>
        </p:nvSpPr>
        <p:spPr>
          <a:xfrm>
            <a:off x="3511296" y="2286000"/>
            <a:ext cx="1600200" cy="292608"/>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Cloud Backend</a:t>
            </a:r>
            <a:endParaRPr lang="en-US" sz="1400" dirty="0"/>
          </a:p>
        </p:txBody>
      </p:sp>
      <p:sp>
        <p:nvSpPr>
          <p:cNvPr id="26" name="Text 19"/>
          <p:cNvSpPr txBox="1"/>
          <p:nvPr/>
        </p:nvSpPr>
        <p:spPr>
          <a:xfrm>
            <a:off x="3511296" y="2697480"/>
            <a:ext cx="1691640" cy="105156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D5E1EF"/>
                </a:solidFill>
                <a:latin typeface="Calibri" pitchFamily="34" charset="0"/>
                <a:ea typeface="Calibri" pitchFamily="34" charset="-122"/>
                <a:cs typeface="Calibri" pitchFamily="34" charset="-120"/>
              </a:rPr>
              <a:t>Validate payload</a:t>
            </a:r>
            <a:endParaRPr lang="en-US" sz="1200" dirty="0"/>
          </a:p>
          <a:p>
            <a:pPr marL="152400" indent="-152400">
              <a:spcAft>
                <a:spcPts val="700"/>
              </a:spcAft>
              <a:buSzPct val="100000"/>
              <a:buChar char="•"/>
            </a:pPr>
            <a:r>
              <a:rPr lang="en-US" sz="1200" dirty="0">
                <a:solidFill>
                  <a:srgbClr val="D5E1EF"/>
                </a:solidFill>
                <a:latin typeface="Calibri" pitchFamily="34" charset="0"/>
                <a:ea typeface="Calibri" pitchFamily="34" charset="-122"/>
                <a:cs typeface="Calibri" pitchFamily="34" charset="-120"/>
              </a:rPr>
              <a:t>Store in DynamoDB</a:t>
            </a:r>
            <a:endParaRPr lang="en-US" sz="1200" dirty="0"/>
          </a:p>
          <a:p>
            <a:pPr marL="152400" indent="-152400">
              <a:spcAft>
                <a:spcPts val="700"/>
              </a:spcAft>
              <a:buSzPct val="100000"/>
              <a:buChar char="•"/>
            </a:pPr>
            <a:r>
              <a:rPr lang="en-US" sz="1200" dirty="0">
                <a:solidFill>
                  <a:srgbClr val="D5E1EF"/>
                </a:solidFill>
                <a:latin typeface="Calibri" pitchFamily="34" charset="0"/>
                <a:ea typeface="Calibri" pitchFamily="34" charset="-122"/>
                <a:cs typeface="Calibri" pitchFamily="34" charset="-120"/>
              </a:rPr>
              <a:t>Filter &amp; prepare context</a:t>
            </a:r>
            <a:endParaRPr lang="en-US" sz="1200" dirty="0"/>
          </a:p>
        </p:txBody>
      </p:sp>
      <p:sp>
        <p:nvSpPr>
          <p:cNvPr id="27" name="Shape 20"/>
          <p:cNvSpPr/>
          <p:nvPr/>
        </p:nvSpPr>
        <p:spPr>
          <a:xfrm>
            <a:off x="5340096" y="2743200"/>
            <a:ext cx="649224" cy="914"/>
          </a:xfrm>
          <a:prstGeom prst="line">
            <a:avLst/>
          </a:prstGeom>
          <a:noFill/>
          <a:ln w="25400">
            <a:solidFill>
              <a:srgbClr val="2E9E5B"/>
            </a:solidFill>
            <a:prstDash val="solid"/>
            <a:tailEnd type="triangle"/>
          </a:ln>
        </p:spPr>
        <p:txBody>
          <a:bodyPr/>
          <a:lstStyle/>
          <a:p>
            <a:endParaRPr lang="en-US"/>
          </a:p>
        </p:txBody>
      </p:sp>
      <p:sp>
        <p:nvSpPr>
          <p:cNvPr id="28" name="Text 21"/>
          <p:cNvSpPr txBox="1"/>
          <p:nvPr/>
        </p:nvSpPr>
        <p:spPr>
          <a:xfrm>
            <a:off x="5312664" y="2286000"/>
            <a:ext cx="704088" cy="384048"/>
          </a:xfrm>
          <a:prstGeom prst="rect">
            <a:avLst/>
          </a:prstGeom>
          <a:noFill/>
          <a:ln/>
        </p:spPr>
        <p:txBody>
          <a:bodyPr wrap="square" lIns="0" tIns="0" rIns="0" bIns="0" rtlCol="0" anchor="b"/>
          <a:lstStyle/>
          <a:p>
            <a:pPr marL="0" indent="0" algn="ctr">
              <a:buNone/>
            </a:pPr>
            <a:r>
              <a:rPr lang="en-US" sz="950" b="1" dirty="0">
                <a:solidFill>
                  <a:srgbClr val="1E7A46"/>
                </a:solidFill>
                <a:latin typeface="Calibri" pitchFamily="34" charset="0"/>
                <a:ea typeface="Calibri" pitchFamily="34" charset="-122"/>
                <a:cs typeface="Calibri" pitchFamily="34" charset="-120"/>
              </a:rPr>
              <a:t>Structured</a:t>
            </a:r>
            <a:endParaRPr lang="en-US" sz="950" dirty="0"/>
          </a:p>
          <a:p>
            <a:pPr marL="0" indent="0" algn="ctr">
              <a:buNone/>
            </a:pPr>
            <a:r>
              <a:rPr lang="en-US" sz="950" b="1" dirty="0">
                <a:solidFill>
                  <a:srgbClr val="1E7A46"/>
                </a:solidFill>
                <a:latin typeface="Calibri" pitchFamily="34" charset="0"/>
                <a:ea typeface="Calibri" pitchFamily="34" charset="-122"/>
                <a:cs typeface="Calibri" pitchFamily="34" charset="-120"/>
              </a:rPr>
              <a:t>input</a:t>
            </a:r>
            <a:endParaRPr lang="en-US" sz="950" dirty="0"/>
          </a:p>
        </p:txBody>
      </p:sp>
      <p:sp>
        <p:nvSpPr>
          <p:cNvPr id="29" name="Shape 22"/>
          <p:cNvSpPr/>
          <p:nvPr/>
        </p:nvSpPr>
        <p:spPr>
          <a:xfrm>
            <a:off x="6053328" y="1600200"/>
            <a:ext cx="1874520" cy="2286000"/>
          </a:xfrm>
          <a:prstGeom prst="roundRect">
            <a:avLst>
              <a:gd name="adj" fmla="val 6829"/>
            </a:avLst>
          </a:prstGeom>
          <a:solidFill>
            <a:srgbClr val="14532D"/>
          </a:solidFill>
          <a:ln/>
          <a:effectLst>
            <a:outerShdw blurRad="152400" dist="25400" dir="5400000" algn="bl" rotWithShape="0">
              <a:srgbClr val="0B2A1C">
                <a:alpha val="9000"/>
              </a:srgbClr>
            </a:outerShdw>
          </a:effectLst>
        </p:spPr>
        <p:txBody>
          <a:bodyPr/>
          <a:lstStyle/>
          <a:p>
            <a:endParaRPr lang="en-US"/>
          </a:p>
        </p:txBody>
      </p:sp>
      <p:sp>
        <p:nvSpPr>
          <p:cNvPr id="30" name="Shape 23"/>
          <p:cNvSpPr/>
          <p:nvPr/>
        </p:nvSpPr>
        <p:spPr>
          <a:xfrm>
            <a:off x="6579108" y="1874520"/>
            <a:ext cx="822960" cy="822960"/>
          </a:xfrm>
          <a:prstGeom prst="ellipse">
            <a:avLst/>
          </a:prstGeom>
          <a:solidFill>
            <a:srgbClr val="1E7A46"/>
          </a:solidFill>
          <a:ln/>
        </p:spPr>
        <p:txBody>
          <a:bodyPr/>
          <a:lstStyle/>
          <a:p>
            <a:endParaRPr lang="en-US"/>
          </a:p>
        </p:txBody>
      </p:sp>
      <p:pic>
        <p:nvPicPr>
          <p:cNvPr id="31" name="Image 5" descr="preencoded.png"/>
          <p:cNvPicPr>
            <a:picLocks noChangeAspect="1"/>
          </p:cNvPicPr>
          <p:nvPr/>
        </p:nvPicPr>
        <p:blipFill>
          <a:blip r:embed="rId7"/>
          <a:stretch>
            <a:fillRect/>
          </a:stretch>
        </p:blipFill>
        <p:spPr>
          <a:xfrm>
            <a:off x="6764274" y="2059686"/>
            <a:ext cx="452628" cy="452628"/>
          </a:xfrm>
          <a:prstGeom prst="rect">
            <a:avLst/>
          </a:prstGeom>
        </p:spPr>
      </p:pic>
      <p:sp>
        <p:nvSpPr>
          <p:cNvPr id="32" name="Text 24"/>
          <p:cNvSpPr txBox="1"/>
          <p:nvPr/>
        </p:nvSpPr>
        <p:spPr>
          <a:xfrm>
            <a:off x="6144768" y="2807208"/>
            <a:ext cx="1691640" cy="310896"/>
          </a:xfrm>
          <a:prstGeom prst="rect">
            <a:avLst/>
          </a:prstGeom>
          <a:noFill/>
          <a:ln/>
        </p:spPr>
        <p:txBody>
          <a:bodyPr wrap="square" lIns="0" tIns="0" rIns="0" bIns="0" rtlCol="0" anchor="t"/>
          <a:lstStyle/>
          <a:p>
            <a:pPr marL="0" indent="0" algn="ctr">
              <a:buNone/>
            </a:pPr>
            <a:r>
              <a:rPr lang="en-US" sz="1400" b="1" dirty="0">
                <a:solidFill>
                  <a:srgbClr val="FFFFFF"/>
                </a:solidFill>
                <a:latin typeface="Arial" pitchFamily="34" charset="0"/>
                <a:ea typeface="Arial" pitchFamily="34" charset="-122"/>
                <a:cs typeface="Arial" pitchFamily="34" charset="-120"/>
              </a:rPr>
              <a:t>LLM Intelligence</a:t>
            </a:r>
            <a:endParaRPr lang="en-US" sz="1400" dirty="0"/>
          </a:p>
        </p:txBody>
      </p:sp>
      <p:sp>
        <p:nvSpPr>
          <p:cNvPr id="33" name="Text 25"/>
          <p:cNvSpPr txBox="1"/>
          <p:nvPr/>
        </p:nvSpPr>
        <p:spPr>
          <a:xfrm>
            <a:off x="6217920" y="3154680"/>
            <a:ext cx="1545336" cy="548640"/>
          </a:xfrm>
          <a:prstGeom prst="rect">
            <a:avLst/>
          </a:prstGeom>
          <a:noFill/>
          <a:ln/>
        </p:spPr>
        <p:txBody>
          <a:bodyPr wrap="square" lIns="0" tIns="0" rIns="0" bIns="0" rtlCol="0" anchor="t"/>
          <a:lstStyle/>
          <a:p>
            <a:pPr marL="0" indent="0" algn="ctr">
              <a:buNone/>
            </a:pPr>
            <a:r>
              <a:rPr lang="en-US" sz="1000" dirty="0">
                <a:solidFill>
                  <a:srgbClr val="C4EBD0"/>
                </a:solidFill>
                <a:latin typeface="Calibri" pitchFamily="34" charset="0"/>
                <a:ea typeface="Calibri" pitchFamily="34" charset="-122"/>
                <a:cs typeface="Calibri" pitchFamily="34" charset="-120"/>
              </a:rPr>
              <a:t>Structured prompt via an LLM framework (e.g. LangChain)</a:t>
            </a:r>
            <a:endParaRPr lang="en-US" sz="1000" dirty="0"/>
          </a:p>
        </p:txBody>
      </p:sp>
      <p:sp>
        <p:nvSpPr>
          <p:cNvPr id="34" name="Text 26"/>
          <p:cNvSpPr txBox="1"/>
          <p:nvPr/>
        </p:nvSpPr>
        <p:spPr>
          <a:xfrm>
            <a:off x="5687568" y="3959352"/>
            <a:ext cx="2606040" cy="237744"/>
          </a:xfrm>
          <a:prstGeom prst="rect">
            <a:avLst/>
          </a:prstGeom>
          <a:noFill/>
          <a:ln/>
        </p:spPr>
        <p:txBody>
          <a:bodyPr wrap="square" lIns="0" tIns="0" rIns="0" bIns="0" rtlCol="0" anchor="t"/>
          <a:lstStyle/>
          <a:p>
            <a:pPr marL="0" indent="0" algn="ctr">
              <a:buNone/>
            </a:pPr>
            <a:r>
              <a:rPr lang="en-US" sz="1000" b="1" i="1" dirty="0">
                <a:solidFill>
                  <a:srgbClr val="1E7A46"/>
                </a:solidFill>
                <a:latin typeface="Calibri" pitchFamily="34" charset="0"/>
                <a:ea typeface="Calibri" pitchFamily="34" charset="-122"/>
                <a:cs typeface="Calibri" pitchFamily="34" charset="-120"/>
              </a:rPr>
              <a:t>Runs in the cloud — not on the ESP32</a:t>
            </a:r>
            <a:endParaRPr lang="en-US" sz="1000" dirty="0"/>
          </a:p>
        </p:txBody>
      </p:sp>
      <p:sp>
        <p:nvSpPr>
          <p:cNvPr id="35" name="Shape 27"/>
          <p:cNvSpPr/>
          <p:nvPr/>
        </p:nvSpPr>
        <p:spPr>
          <a:xfrm>
            <a:off x="7991856" y="2743200"/>
            <a:ext cx="265176" cy="914"/>
          </a:xfrm>
          <a:prstGeom prst="line">
            <a:avLst/>
          </a:prstGeom>
          <a:noFill/>
          <a:ln w="19050">
            <a:solidFill>
              <a:srgbClr val="7A8A94"/>
            </a:solidFill>
            <a:prstDash val="solid"/>
            <a:tailEnd type="triangle"/>
          </a:ln>
        </p:spPr>
        <p:txBody>
          <a:bodyPr/>
          <a:lstStyle/>
          <a:p>
            <a:endParaRPr lang="en-US"/>
          </a:p>
        </p:txBody>
      </p:sp>
      <p:sp>
        <p:nvSpPr>
          <p:cNvPr id="36" name="Shape 28"/>
          <p:cNvSpPr/>
          <p:nvPr/>
        </p:nvSpPr>
        <p:spPr>
          <a:xfrm>
            <a:off x="8321040" y="1600200"/>
            <a:ext cx="1920240" cy="475488"/>
          </a:xfrm>
          <a:prstGeom prst="roundRect">
            <a:avLst>
              <a:gd name="adj" fmla="val 19231"/>
            </a:avLst>
          </a:prstGeom>
          <a:solidFill>
            <a:srgbClr val="F2F9F4"/>
          </a:solidFill>
          <a:ln w="9525">
            <a:solidFill>
              <a:srgbClr val="C4EBD0"/>
            </a:solidFill>
            <a:prstDash val="solid"/>
          </a:ln>
        </p:spPr>
        <p:txBody>
          <a:bodyPr/>
          <a:lstStyle/>
          <a:p>
            <a:endParaRPr lang="en-US"/>
          </a:p>
        </p:txBody>
      </p:sp>
      <p:pic>
        <p:nvPicPr>
          <p:cNvPr id="37" name="Image 6" descr="preencoded.png"/>
          <p:cNvPicPr>
            <a:picLocks noChangeAspect="1"/>
          </p:cNvPicPr>
          <p:nvPr/>
        </p:nvPicPr>
        <p:blipFill>
          <a:blip r:embed="rId8"/>
          <a:stretch>
            <a:fillRect/>
          </a:stretch>
        </p:blipFill>
        <p:spPr>
          <a:xfrm>
            <a:off x="8449056" y="1709928"/>
            <a:ext cx="256032" cy="256032"/>
          </a:xfrm>
          <a:prstGeom prst="rect">
            <a:avLst/>
          </a:prstGeom>
        </p:spPr>
      </p:pic>
      <p:sp>
        <p:nvSpPr>
          <p:cNvPr id="38" name="Text 29"/>
          <p:cNvSpPr txBox="1"/>
          <p:nvPr/>
        </p:nvSpPr>
        <p:spPr>
          <a:xfrm>
            <a:off x="8778240" y="1600200"/>
            <a:ext cx="1417320" cy="475488"/>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Care Tip</a:t>
            </a:r>
            <a:endParaRPr lang="en-US" sz="1150" dirty="0"/>
          </a:p>
        </p:txBody>
      </p:sp>
      <p:sp>
        <p:nvSpPr>
          <p:cNvPr id="39" name="Shape 30"/>
          <p:cNvSpPr/>
          <p:nvPr/>
        </p:nvSpPr>
        <p:spPr>
          <a:xfrm>
            <a:off x="8321040" y="2203704"/>
            <a:ext cx="1920240" cy="475488"/>
          </a:xfrm>
          <a:prstGeom prst="roundRect">
            <a:avLst>
              <a:gd name="adj" fmla="val 19231"/>
            </a:avLst>
          </a:prstGeom>
          <a:solidFill>
            <a:srgbClr val="F2F9F4"/>
          </a:solidFill>
          <a:ln w="9525">
            <a:solidFill>
              <a:srgbClr val="C4EBD0"/>
            </a:solidFill>
            <a:prstDash val="solid"/>
          </a:ln>
        </p:spPr>
        <p:txBody>
          <a:bodyPr/>
          <a:lstStyle/>
          <a:p>
            <a:endParaRPr lang="en-US"/>
          </a:p>
        </p:txBody>
      </p:sp>
      <p:pic>
        <p:nvPicPr>
          <p:cNvPr id="40" name="Image 7" descr="preencoded.png"/>
          <p:cNvPicPr>
            <a:picLocks noChangeAspect="1"/>
          </p:cNvPicPr>
          <p:nvPr/>
        </p:nvPicPr>
        <p:blipFill>
          <a:blip r:embed="rId9"/>
          <a:stretch>
            <a:fillRect/>
          </a:stretch>
        </p:blipFill>
        <p:spPr>
          <a:xfrm>
            <a:off x="8449056" y="2313432"/>
            <a:ext cx="256032" cy="256032"/>
          </a:xfrm>
          <a:prstGeom prst="rect">
            <a:avLst/>
          </a:prstGeom>
        </p:spPr>
      </p:pic>
      <p:sp>
        <p:nvSpPr>
          <p:cNvPr id="41" name="Text 31"/>
          <p:cNvSpPr txBox="1"/>
          <p:nvPr/>
        </p:nvSpPr>
        <p:spPr>
          <a:xfrm>
            <a:off x="8778240" y="2203704"/>
            <a:ext cx="1417320" cy="475488"/>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Literary Quote</a:t>
            </a:r>
            <a:endParaRPr lang="en-US" sz="1150" dirty="0"/>
          </a:p>
        </p:txBody>
      </p:sp>
      <p:sp>
        <p:nvSpPr>
          <p:cNvPr id="42" name="Shape 32"/>
          <p:cNvSpPr/>
          <p:nvPr/>
        </p:nvSpPr>
        <p:spPr>
          <a:xfrm>
            <a:off x="8321040" y="2807208"/>
            <a:ext cx="1920240" cy="475488"/>
          </a:xfrm>
          <a:prstGeom prst="roundRect">
            <a:avLst>
              <a:gd name="adj" fmla="val 19231"/>
            </a:avLst>
          </a:prstGeom>
          <a:solidFill>
            <a:srgbClr val="F2F9F4"/>
          </a:solidFill>
          <a:ln w="9525">
            <a:solidFill>
              <a:srgbClr val="C4EBD0"/>
            </a:solidFill>
            <a:prstDash val="solid"/>
          </a:ln>
        </p:spPr>
        <p:txBody>
          <a:bodyPr/>
          <a:lstStyle/>
          <a:p>
            <a:endParaRPr lang="en-US"/>
          </a:p>
        </p:txBody>
      </p:sp>
      <p:pic>
        <p:nvPicPr>
          <p:cNvPr id="43" name="Image 8" descr="preencoded.png"/>
          <p:cNvPicPr>
            <a:picLocks noChangeAspect="1"/>
          </p:cNvPicPr>
          <p:nvPr/>
        </p:nvPicPr>
        <p:blipFill>
          <a:blip r:embed="rId10"/>
          <a:stretch>
            <a:fillRect/>
          </a:stretch>
        </p:blipFill>
        <p:spPr>
          <a:xfrm>
            <a:off x="8449056" y="2916936"/>
            <a:ext cx="256032" cy="256032"/>
          </a:xfrm>
          <a:prstGeom prst="rect">
            <a:avLst/>
          </a:prstGeom>
        </p:spPr>
      </p:pic>
      <p:sp>
        <p:nvSpPr>
          <p:cNvPr id="44" name="Text 33"/>
          <p:cNvSpPr txBox="1"/>
          <p:nvPr/>
        </p:nvSpPr>
        <p:spPr>
          <a:xfrm>
            <a:off x="8778240" y="2807208"/>
            <a:ext cx="1417320" cy="475488"/>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Weather Summary</a:t>
            </a:r>
            <a:endParaRPr lang="en-US" sz="1150" dirty="0"/>
          </a:p>
        </p:txBody>
      </p:sp>
      <p:sp>
        <p:nvSpPr>
          <p:cNvPr id="45" name="Shape 34"/>
          <p:cNvSpPr/>
          <p:nvPr/>
        </p:nvSpPr>
        <p:spPr>
          <a:xfrm>
            <a:off x="8321040" y="3410712"/>
            <a:ext cx="1920240" cy="475488"/>
          </a:xfrm>
          <a:prstGeom prst="roundRect">
            <a:avLst>
              <a:gd name="adj" fmla="val 19231"/>
            </a:avLst>
          </a:prstGeom>
          <a:solidFill>
            <a:srgbClr val="F2F9F4"/>
          </a:solidFill>
          <a:ln w="9525">
            <a:solidFill>
              <a:srgbClr val="C4EBD0"/>
            </a:solidFill>
            <a:prstDash val="solid"/>
          </a:ln>
        </p:spPr>
        <p:txBody>
          <a:bodyPr/>
          <a:lstStyle/>
          <a:p>
            <a:endParaRPr lang="en-US"/>
          </a:p>
        </p:txBody>
      </p:sp>
      <p:pic>
        <p:nvPicPr>
          <p:cNvPr id="46" name="Image 9" descr="preencoded.png"/>
          <p:cNvPicPr>
            <a:picLocks noChangeAspect="1"/>
          </p:cNvPicPr>
          <p:nvPr/>
        </p:nvPicPr>
        <p:blipFill>
          <a:blip r:embed="rId11"/>
          <a:stretch>
            <a:fillRect/>
          </a:stretch>
        </p:blipFill>
        <p:spPr>
          <a:xfrm>
            <a:off x="8449056" y="3520440"/>
            <a:ext cx="256032" cy="256032"/>
          </a:xfrm>
          <a:prstGeom prst="rect">
            <a:avLst/>
          </a:prstGeom>
        </p:spPr>
      </p:pic>
      <p:sp>
        <p:nvSpPr>
          <p:cNvPr id="47" name="Text 35"/>
          <p:cNvSpPr txBox="1"/>
          <p:nvPr/>
        </p:nvSpPr>
        <p:spPr>
          <a:xfrm>
            <a:off x="8778240" y="3410712"/>
            <a:ext cx="1417320" cy="475488"/>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Notification Summary</a:t>
            </a:r>
            <a:endParaRPr lang="en-US" sz="1150" dirty="0"/>
          </a:p>
        </p:txBody>
      </p:sp>
      <p:sp>
        <p:nvSpPr>
          <p:cNvPr id="48" name="Shape 36"/>
          <p:cNvSpPr/>
          <p:nvPr/>
        </p:nvSpPr>
        <p:spPr>
          <a:xfrm>
            <a:off x="10305288" y="2743200"/>
            <a:ext cx="265176" cy="914"/>
          </a:xfrm>
          <a:prstGeom prst="line">
            <a:avLst/>
          </a:prstGeom>
          <a:noFill/>
          <a:ln w="19050">
            <a:solidFill>
              <a:srgbClr val="7A8A94"/>
            </a:solidFill>
            <a:prstDash val="solid"/>
            <a:tailEnd type="triangle"/>
          </a:ln>
        </p:spPr>
        <p:txBody>
          <a:bodyPr/>
          <a:lstStyle/>
          <a:p>
            <a:endParaRPr lang="en-US"/>
          </a:p>
        </p:txBody>
      </p:sp>
      <p:sp>
        <p:nvSpPr>
          <p:cNvPr id="49" name="Shape 37"/>
          <p:cNvSpPr/>
          <p:nvPr/>
        </p:nvSpPr>
        <p:spPr>
          <a:xfrm>
            <a:off x="10634472" y="1600200"/>
            <a:ext cx="1008583" cy="2286000"/>
          </a:xfrm>
          <a:prstGeom prst="roundRect">
            <a:avLst>
              <a:gd name="adj" fmla="val 12693"/>
            </a:avLst>
          </a:prstGeom>
          <a:solidFill>
            <a:srgbClr val="4D7C0F"/>
          </a:solidFill>
          <a:ln/>
          <a:effectLst>
            <a:outerShdw blurRad="152400" dist="25400" dir="5400000" algn="bl" rotWithShape="0">
              <a:srgbClr val="0B2A1C">
                <a:alpha val="9000"/>
              </a:srgbClr>
            </a:outerShdw>
          </a:effectLst>
        </p:spPr>
        <p:txBody>
          <a:bodyPr/>
          <a:lstStyle/>
          <a:p>
            <a:endParaRPr lang="en-US"/>
          </a:p>
        </p:txBody>
      </p:sp>
      <p:pic>
        <p:nvPicPr>
          <p:cNvPr id="50" name="Image 10" descr="preencoded.png"/>
          <p:cNvPicPr>
            <a:picLocks noChangeAspect="1"/>
          </p:cNvPicPr>
          <p:nvPr/>
        </p:nvPicPr>
        <p:blipFill>
          <a:blip r:embed="rId12"/>
          <a:stretch>
            <a:fillRect/>
          </a:stretch>
        </p:blipFill>
        <p:spPr>
          <a:xfrm>
            <a:off x="10946740" y="1965960"/>
            <a:ext cx="384048" cy="384048"/>
          </a:xfrm>
          <a:prstGeom prst="rect">
            <a:avLst/>
          </a:prstGeom>
        </p:spPr>
      </p:pic>
      <p:sp>
        <p:nvSpPr>
          <p:cNvPr id="51" name="Text 38"/>
          <p:cNvSpPr txBox="1"/>
          <p:nvPr/>
        </p:nvSpPr>
        <p:spPr>
          <a:xfrm>
            <a:off x="10680192" y="2514600"/>
            <a:ext cx="917143"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MQTT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Node-RED</a:t>
            </a:r>
            <a:endParaRPr lang="en-US" sz="1250" dirty="0"/>
          </a:p>
        </p:txBody>
      </p:sp>
      <p:sp>
        <p:nvSpPr>
          <p:cNvPr id="52" name="Shape 39"/>
          <p:cNvSpPr/>
          <p:nvPr/>
        </p:nvSpPr>
        <p:spPr>
          <a:xfrm>
            <a:off x="548640" y="4315968"/>
            <a:ext cx="11094415" cy="1783080"/>
          </a:xfrm>
          <a:prstGeom prst="roundRect">
            <a:avLst>
              <a:gd name="adj" fmla="val 7179"/>
            </a:avLst>
          </a:prstGeom>
          <a:solidFill>
            <a:srgbClr val="F2F9F4"/>
          </a:solidFill>
          <a:ln w="9525">
            <a:solidFill>
              <a:srgbClr val="C4EBD0"/>
            </a:solidFill>
            <a:prstDash val="solid"/>
          </a:ln>
        </p:spPr>
        <p:txBody>
          <a:bodyPr/>
          <a:lstStyle/>
          <a:p>
            <a:endParaRPr lang="en-US"/>
          </a:p>
        </p:txBody>
      </p:sp>
      <p:sp>
        <p:nvSpPr>
          <p:cNvPr id="53" name="Shape 40"/>
          <p:cNvSpPr/>
          <p:nvPr/>
        </p:nvSpPr>
        <p:spPr>
          <a:xfrm>
            <a:off x="822960" y="4590288"/>
            <a:ext cx="548640" cy="548640"/>
          </a:xfrm>
          <a:prstGeom prst="roundRect">
            <a:avLst>
              <a:gd name="adj" fmla="val 24000"/>
            </a:avLst>
          </a:prstGeom>
          <a:solidFill>
            <a:srgbClr val="14532D"/>
          </a:solidFill>
          <a:ln/>
        </p:spPr>
        <p:txBody>
          <a:bodyPr/>
          <a:lstStyle/>
          <a:p>
            <a:endParaRPr lang="en-US"/>
          </a:p>
        </p:txBody>
      </p:sp>
      <p:pic>
        <p:nvPicPr>
          <p:cNvPr id="54" name="Image 11" descr="preencoded.png"/>
          <p:cNvPicPr>
            <a:picLocks noChangeAspect="1"/>
          </p:cNvPicPr>
          <p:nvPr/>
        </p:nvPicPr>
        <p:blipFill>
          <a:blip r:embed="rId13"/>
          <a:stretch>
            <a:fillRect/>
          </a:stretch>
        </p:blipFill>
        <p:spPr>
          <a:xfrm>
            <a:off x="943661" y="4710989"/>
            <a:ext cx="307238" cy="307238"/>
          </a:xfrm>
          <a:prstGeom prst="rect">
            <a:avLst/>
          </a:prstGeom>
        </p:spPr>
      </p:pic>
      <p:sp>
        <p:nvSpPr>
          <p:cNvPr id="55" name="Text 41"/>
          <p:cNvSpPr txBox="1"/>
          <p:nvPr/>
        </p:nvSpPr>
        <p:spPr>
          <a:xfrm>
            <a:off x="1536192" y="4553712"/>
            <a:ext cx="4572000" cy="329184"/>
          </a:xfrm>
          <a:prstGeom prst="rect">
            <a:avLst/>
          </a:prstGeom>
          <a:noFill/>
          <a:ln/>
        </p:spPr>
        <p:txBody>
          <a:bodyPr wrap="square" lIns="0" tIns="0" rIns="0" bIns="0" rtlCol="0" anchor="t"/>
          <a:lstStyle/>
          <a:p>
            <a:pPr marL="0" indent="0">
              <a:buNone/>
            </a:pPr>
            <a:r>
              <a:rPr lang="en-US" sz="1600" b="1" dirty="0">
                <a:solidFill>
                  <a:srgbClr val="0F1B2D"/>
                </a:solidFill>
                <a:latin typeface="Arial" pitchFamily="34" charset="0"/>
                <a:ea typeface="Arial" pitchFamily="34" charset="-122"/>
                <a:cs typeface="Arial" pitchFamily="34" charset="-120"/>
              </a:rPr>
              <a:t>Grounded AI Processing</a:t>
            </a:r>
            <a:endParaRPr lang="en-US" sz="1600" dirty="0"/>
          </a:p>
        </p:txBody>
      </p:sp>
      <p:sp>
        <p:nvSpPr>
          <p:cNvPr id="56" name="Text 42"/>
          <p:cNvSpPr txBox="1"/>
          <p:nvPr/>
        </p:nvSpPr>
        <p:spPr>
          <a:xfrm>
            <a:off x="1536192" y="4864608"/>
            <a:ext cx="6400800" cy="256032"/>
          </a:xfrm>
          <a:prstGeom prst="rect">
            <a:avLst/>
          </a:prstGeom>
          <a:noFill/>
          <a:ln/>
        </p:spPr>
        <p:txBody>
          <a:bodyPr wrap="square" lIns="0" tIns="0" rIns="0" bIns="0" rtlCol="0" anchor="t"/>
          <a:lstStyle/>
          <a:p>
            <a:pPr marL="0" indent="0">
              <a:buNone/>
            </a:pPr>
            <a:r>
              <a:rPr lang="en-US" sz="1150" i="1" dirty="0">
                <a:solidFill>
                  <a:srgbClr val="46555F"/>
                </a:solidFill>
                <a:latin typeface="Calibri" pitchFamily="34" charset="0"/>
                <a:ea typeface="Calibri" pitchFamily="34" charset="-122"/>
                <a:cs typeface="Calibri" pitchFamily="34" charset="-120"/>
              </a:rPr>
              <a:t>Contextual assistance — not a plant-disease diagnosis system.</a:t>
            </a:r>
            <a:endParaRPr lang="en-US" sz="1150" dirty="0"/>
          </a:p>
        </p:txBody>
      </p:sp>
      <p:sp>
        <p:nvSpPr>
          <p:cNvPr id="57" name="Shape 43"/>
          <p:cNvSpPr/>
          <p:nvPr/>
        </p:nvSpPr>
        <p:spPr>
          <a:xfrm>
            <a:off x="822960" y="5303520"/>
            <a:ext cx="1999427" cy="566928"/>
          </a:xfrm>
          <a:prstGeom prst="roundRect">
            <a:avLst>
              <a:gd name="adj" fmla="val 16129"/>
            </a:avLst>
          </a:prstGeom>
          <a:solidFill>
            <a:srgbClr val="FFFFFF"/>
          </a:solidFill>
          <a:ln w="9525">
            <a:solidFill>
              <a:srgbClr val="C4EBD0"/>
            </a:solidFill>
            <a:prstDash val="solid"/>
          </a:ln>
        </p:spPr>
        <p:txBody>
          <a:bodyPr/>
          <a:lstStyle/>
          <a:p>
            <a:endParaRPr lang="en-US"/>
          </a:p>
        </p:txBody>
      </p:sp>
      <p:pic>
        <p:nvPicPr>
          <p:cNvPr id="58" name="Image 12" descr="preencoded.png"/>
          <p:cNvPicPr>
            <a:picLocks noChangeAspect="1"/>
          </p:cNvPicPr>
          <p:nvPr/>
        </p:nvPicPr>
        <p:blipFill>
          <a:blip r:embed="rId14"/>
          <a:stretch>
            <a:fillRect/>
          </a:stretch>
        </p:blipFill>
        <p:spPr>
          <a:xfrm>
            <a:off x="932688" y="5468112"/>
            <a:ext cx="237744" cy="237744"/>
          </a:xfrm>
          <a:prstGeom prst="rect">
            <a:avLst/>
          </a:prstGeom>
        </p:spPr>
      </p:pic>
      <p:sp>
        <p:nvSpPr>
          <p:cNvPr id="59" name="Text 44"/>
          <p:cNvSpPr txBox="1"/>
          <p:nvPr/>
        </p:nvSpPr>
        <p:spPr>
          <a:xfrm>
            <a:off x="1225296" y="5303520"/>
            <a:ext cx="1542227" cy="566928"/>
          </a:xfrm>
          <a:prstGeom prst="rect">
            <a:avLst/>
          </a:prstGeom>
          <a:noFill/>
          <a:ln/>
        </p:spPr>
        <p:txBody>
          <a:bodyPr wrap="square" lIns="0" tIns="0" rIns="0" bIns="0" rtlCol="0" anchor="ctr"/>
          <a:lstStyle/>
          <a:p>
            <a:pPr marL="0" indent="0">
              <a:buNone/>
            </a:pPr>
            <a:r>
              <a:rPr lang="en-US" sz="1050" b="1" dirty="0">
                <a:solidFill>
                  <a:srgbClr val="0F1B2D"/>
                </a:solidFill>
                <a:latin typeface="Calibri" pitchFamily="34" charset="0"/>
                <a:ea typeface="Calibri" pitchFamily="34" charset="-122"/>
                <a:cs typeface="Calibri" pitchFamily="34" charset="-120"/>
              </a:rPr>
              <a:t>Use supplied measurements only</a:t>
            </a:r>
            <a:endParaRPr lang="en-US" sz="1050" dirty="0"/>
          </a:p>
        </p:txBody>
      </p:sp>
      <p:sp>
        <p:nvSpPr>
          <p:cNvPr id="60" name="Shape 45"/>
          <p:cNvSpPr/>
          <p:nvPr/>
        </p:nvSpPr>
        <p:spPr>
          <a:xfrm>
            <a:off x="2959547" y="5303520"/>
            <a:ext cx="1999427" cy="566928"/>
          </a:xfrm>
          <a:prstGeom prst="roundRect">
            <a:avLst>
              <a:gd name="adj" fmla="val 16129"/>
            </a:avLst>
          </a:prstGeom>
          <a:solidFill>
            <a:srgbClr val="FFFFFF"/>
          </a:solidFill>
          <a:ln w="9525">
            <a:solidFill>
              <a:srgbClr val="C4EBD0"/>
            </a:solidFill>
            <a:prstDash val="solid"/>
          </a:ln>
        </p:spPr>
        <p:txBody>
          <a:bodyPr/>
          <a:lstStyle/>
          <a:p>
            <a:endParaRPr lang="en-US"/>
          </a:p>
        </p:txBody>
      </p:sp>
      <p:pic>
        <p:nvPicPr>
          <p:cNvPr id="61" name="Image 13" descr="preencoded.png"/>
          <p:cNvPicPr>
            <a:picLocks noChangeAspect="1"/>
          </p:cNvPicPr>
          <p:nvPr/>
        </p:nvPicPr>
        <p:blipFill>
          <a:blip r:embed="rId14"/>
          <a:stretch>
            <a:fillRect/>
          </a:stretch>
        </p:blipFill>
        <p:spPr>
          <a:xfrm>
            <a:off x="3069275" y="5468112"/>
            <a:ext cx="237744" cy="237744"/>
          </a:xfrm>
          <a:prstGeom prst="rect">
            <a:avLst/>
          </a:prstGeom>
        </p:spPr>
      </p:pic>
      <p:sp>
        <p:nvSpPr>
          <p:cNvPr id="62" name="Text 46"/>
          <p:cNvSpPr txBox="1"/>
          <p:nvPr/>
        </p:nvSpPr>
        <p:spPr>
          <a:xfrm>
            <a:off x="3361883" y="5303520"/>
            <a:ext cx="1542227" cy="566928"/>
          </a:xfrm>
          <a:prstGeom prst="rect">
            <a:avLst/>
          </a:prstGeom>
          <a:noFill/>
          <a:ln/>
        </p:spPr>
        <p:txBody>
          <a:bodyPr wrap="square" lIns="0" tIns="0" rIns="0" bIns="0" rtlCol="0" anchor="ctr"/>
          <a:lstStyle/>
          <a:p>
            <a:pPr marL="0" indent="0">
              <a:buNone/>
            </a:pPr>
            <a:r>
              <a:rPr lang="en-US" sz="1050" b="1" dirty="0">
                <a:solidFill>
                  <a:srgbClr val="0F1B2D"/>
                </a:solidFill>
                <a:latin typeface="Calibri" pitchFamily="34" charset="0"/>
                <a:ea typeface="Calibri" pitchFamily="34" charset="-122"/>
                <a:cs typeface="Calibri" pitchFamily="34" charset="-120"/>
              </a:rPr>
              <a:t>Structured prompts</a:t>
            </a:r>
            <a:endParaRPr lang="en-US" sz="1050" dirty="0"/>
          </a:p>
        </p:txBody>
      </p:sp>
      <p:sp>
        <p:nvSpPr>
          <p:cNvPr id="63" name="Shape 47"/>
          <p:cNvSpPr/>
          <p:nvPr/>
        </p:nvSpPr>
        <p:spPr>
          <a:xfrm>
            <a:off x="5096134" y="5303520"/>
            <a:ext cx="1999427" cy="566928"/>
          </a:xfrm>
          <a:prstGeom prst="roundRect">
            <a:avLst>
              <a:gd name="adj" fmla="val 16129"/>
            </a:avLst>
          </a:prstGeom>
          <a:solidFill>
            <a:srgbClr val="FFFFFF"/>
          </a:solidFill>
          <a:ln w="9525">
            <a:solidFill>
              <a:srgbClr val="C4EBD0"/>
            </a:solidFill>
            <a:prstDash val="solid"/>
          </a:ln>
        </p:spPr>
        <p:txBody>
          <a:bodyPr/>
          <a:lstStyle/>
          <a:p>
            <a:endParaRPr lang="en-US"/>
          </a:p>
        </p:txBody>
      </p:sp>
      <p:pic>
        <p:nvPicPr>
          <p:cNvPr id="64" name="Image 14" descr="preencoded.png"/>
          <p:cNvPicPr>
            <a:picLocks noChangeAspect="1"/>
          </p:cNvPicPr>
          <p:nvPr/>
        </p:nvPicPr>
        <p:blipFill>
          <a:blip r:embed="rId14"/>
          <a:stretch>
            <a:fillRect/>
          </a:stretch>
        </p:blipFill>
        <p:spPr>
          <a:xfrm>
            <a:off x="5205862" y="5468112"/>
            <a:ext cx="237744" cy="237744"/>
          </a:xfrm>
          <a:prstGeom prst="rect">
            <a:avLst/>
          </a:prstGeom>
        </p:spPr>
      </p:pic>
      <p:sp>
        <p:nvSpPr>
          <p:cNvPr id="65" name="Text 48"/>
          <p:cNvSpPr txBox="1"/>
          <p:nvPr/>
        </p:nvSpPr>
        <p:spPr>
          <a:xfrm>
            <a:off x="5498470" y="5303520"/>
            <a:ext cx="1542227" cy="566928"/>
          </a:xfrm>
          <a:prstGeom prst="rect">
            <a:avLst/>
          </a:prstGeom>
          <a:noFill/>
          <a:ln/>
        </p:spPr>
        <p:txBody>
          <a:bodyPr wrap="square" lIns="0" tIns="0" rIns="0" bIns="0" rtlCol="0" anchor="ctr"/>
          <a:lstStyle/>
          <a:p>
            <a:pPr marL="0" indent="0">
              <a:buNone/>
            </a:pPr>
            <a:r>
              <a:rPr lang="en-US" sz="1050" b="1" dirty="0">
                <a:solidFill>
                  <a:srgbClr val="0F1B2D"/>
                </a:solidFill>
                <a:latin typeface="Calibri" pitchFamily="34" charset="0"/>
                <a:ea typeface="Calibri" pitchFamily="34" charset="-122"/>
                <a:cs typeface="Calibri" pitchFamily="34" charset="-120"/>
              </a:rPr>
              <a:t>Validate generated output</a:t>
            </a:r>
            <a:endParaRPr lang="en-US" sz="1050" dirty="0"/>
          </a:p>
        </p:txBody>
      </p:sp>
      <p:sp>
        <p:nvSpPr>
          <p:cNvPr id="66" name="Shape 49"/>
          <p:cNvSpPr/>
          <p:nvPr/>
        </p:nvSpPr>
        <p:spPr>
          <a:xfrm>
            <a:off x="7232721" y="5303520"/>
            <a:ext cx="1999427" cy="566928"/>
          </a:xfrm>
          <a:prstGeom prst="roundRect">
            <a:avLst>
              <a:gd name="adj" fmla="val 16129"/>
            </a:avLst>
          </a:prstGeom>
          <a:solidFill>
            <a:srgbClr val="FFFFFF"/>
          </a:solidFill>
          <a:ln w="9525">
            <a:solidFill>
              <a:srgbClr val="C4EBD0"/>
            </a:solidFill>
            <a:prstDash val="solid"/>
          </a:ln>
        </p:spPr>
        <p:txBody>
          <a:bodyPr/>
          <a:lstStyle/>
          <a:p>
            <a:endParaRPr lang="en-US"/>
          </a:p>
        </p:txBody>
      </p:sp>
      <p:pic>
        <p:nvPicPr>
          <p:cNvPr id="67" name="Image 15" descr="preencoded.png"/>
          <p:cNvPicPr>
            <a:picLocks noChangeAspect="1"/>
          </p:cNvPicPr>
          <p:nvPr/>
        </p:nvPicPr>
        <p:blipFill>
          <a:blip r:embed="rId14"/>
          <a:stretch>
            <a:fillRect/>
          </a:stretch>
        </p:blipFill>
        <p:spPr>
          <a:xfrm>
            <a:off x="7342449" y="5468112"/>
            <a:ext cx="237744" cy="237744"/>
          </a:xfrm>
          <a:prstGeom prst="rect">
            <a:avLst/>
          </a:prstGeom>
        </p:spPr>
      </p:pic>
      <p:sp>
        <p:nvSpPr>
          <p:cNvPr id="68" name="Text 50"/>
          <p:cNvSpPr txBox="1"/>
          <p:nvPr/>
        </p:nvSpPr>
        <p:spPr>
          <a:xfrm>
            <a:off x="7635057" y="5303520"/>
            <a:ext cx="1542227" cy="566928"/>
          </a:xfrm>
          <a:prstGeom prst="rect">
            <a:avLst/>
          </a:prstGeom>
          <a:noFill/>
          <a:ln/>
        </p:spPr>
        <p:txBody>
          <a:bodyPr wrap="square" lIns="0" tIns="0" rIns="0" bIns="0" rtlCol="0" anchor="ctr"/>
          <a:lstStyle/>
          <a:p>
            <a:pPr marL="0" indent="0">
              <a:buNone/>
            </a:pPr>
            <a:r>
              <a:rPr lang="en-US" sz="1050" b="1" dirty="0">
                <a:solidFill>
                  <a:srgbClr val="0F1B2D"/>
                </a:solidFill>
                <a:latin typeface="Calibri" pitchFamily="34" charset="0"/>
                <a:ea typeface="Calibri" pitchFamily="34" charset="-122"/>
                <a:cs typeface="Calibri" pitchFamily="34" charset="-120"/>
              </a:rPr>
              <a:t>Avoid invented sensor values</a:t>
            </a:r>
            <a:endParaRPr lang="en-US" sz="1050" dirty="0"/>
          </a:p>
        </p:txBody>
      </p:sp>
      <p:sp>
        <p:nvSpPr>
          <p:cNvPr id="69" name="Shape 51"/>
          <p:cNvSpPr/>
          <p:nvPr/>
        </p:nvSpPr>
        <p:spPr>
          <a:xfrm>
            <a:off x="9369308" y="5303520"/>
            <a:ext cx="1999427" cy="566928"/>
          </a:xfrm>
          <a:prstGeom prst="roundRect">
            <a:avLst>
              <a:gd name="adj" fmla="val 16129"/>
            </a:avLst>
          </a:prstGeom>
          <a:solidFill>
            <a:srgbClr val="FFFFFF"/>
          </a:solidFill>
          <a:ln w="9525">
            <a:solidFill>
              <a:srgbClr val="C4EBD0"/>
            </a:solidFill>
            <a:prstDash val="solid"/>
          </a:ln>
        </p:spPr>
        <p:txBody>
          <a:bodyPr/>
          <a:lstStyle/>
          <a:p>
            <a:endParaRPr lang="en-US"/>
          </a:p>
        </p:txBody>
      </p:sp>
      <p:pic>
        <p:nvPicPr>
          <p:cNvPr id="70" name="Image 16" descr="preencoded.png"/>
          <p:cNvPicPr>
            <a:picLocks noChangeAspect="1"/>
          </p:cNvPicPr>
          <p:nvPr/>
        </p:nvPicPr>
        <p:blipFill>
          <a:blip r:embed="rId14"/>
          <a:stretch>
            <a:fillRect/>
          </a:stretch>
        </p:blipFill>
        <p:spPr>
          <a:xfrm>
            <a:off x="9479036" y="5468112"/>
            <a:ext cx="237744" cy="237744"/>
          </a:xfrm>
          <a:prstGeom prst="rect">
            <a:avLst/>
          </a:prstGeom>
        </p:spPr>
      </p:pic>
      <p:sp>
        <p:nvSpPr>
          <p:cNvPr id="71" name="Text 52"/>
          <p:cNvSpPr txBox="1"/>
          <p:nvPr/>
        </p:nvSpPr>
        <p:spPr>
          <a:xfrm>
            <a:off x="9771644" y="5303520"/>
            <a:ext cx="1542227" cy="566928"/>
          </a:xfrm>
          <a:prstGeom prst="rect">
            <a:avLst/>
          </a:prstGeom>
          <a:noFill/>
          <a:ln/>
        </p:spPr>
        <p:txBody>
          <a:bodyPr wrap="square" lIns="0" tIns="0" rIns="0" bIns="0" rtlCol="0" anchor="ctr"/>
          <a:lstStyle/>
          <a:p>
            <a:pPr marL="0" indent="0">
              <a:buNone/>
            </a:pPr>
            <a:r>
              <a:rPr lang="en-US" sz="1050" b="1" dirty="0">
                <a:solidFill>
                  <a:srgbClr val="0F1B2D"/>
                </a:solidFill>
                <a:latin typeface="Calibri" pitchFamily="34" charset="0"/>
                <a:ea typeface="Calibri" pitchFamily="34" charset="-122"/>
                <a:cs typeface="Calibri" pitchFamily="34" charset="-120"/>
              </a:rPr>
              <a:t>Avoid unsupported plant-health claims</a:t>
            </a:r>
            <a:endParaRPr lang="en-US" sz="1050" dirty="0"/>
          </a:p>
        </p:txBody>
      </p:sp>
      <p:sp>
        <p:nvSpPr>
          <p:cNvPr id="72" name="Text 53"/>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73" name="Text 54"/>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07</a:t>
            </a:r>
            <a:endParaRPr lang="en-US" sz="900" dirty="0"/>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08  ·  NODE-RED DASHBOARD &amp; USER EXPERIENCE</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Everything the User Needs, in One View</a:t>
            </a:r>
            <a:endParaRPr lang="en-US" sz="2800" dirty="0"/>
          </a:p>
        </p:txBody>
      </p:sp>
      <p:sp>
        <p:nvSpPr>
          <p:cNvPr id="7" name="Shape 4"/>
          <p:cNvSpPr/>
          <p:nvPr/>
        </p:nvSpPr>
        <p:spPr>
          <a:xfrm>
            <a:off x="548640" y="1463040"/>
            <a:ext cx="11094415" cy="4754880"/>
          </a:xfrm>
          <a:prstGeom prst="roundRect">
            <a:avLst>
              <a:gd name="adj" fmla="val 3077"/>
            </a:avLst>
          </a:prstGeom>
          <a:solidFill>
            <a:srgbClr val="F3F6F4"/>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8" name="Shape 5"/>
          <p:cNvSpPr/>
          <p:nvPr/>
        </p:nvSpPr>
        <p:spPr>
          <a:xfrm>
            <a:off x="548640" y="1463040"/>
            <a:ext cx="1783080" cy="4754880"/>
          </a:xfrm>
          <a:prstGeom prst="roundRect">
            <a:avLst>
              <a:gd name="adj" fmla="val 8205"/>
            </a:avLst>
          </a:prstGeom>
          <a:solidFill>
            <a:srgbClr val="0B2A1C"/>
          </a:solidFill>
          <a:ln/>
        </p:spPr>
        <p:txBody>
          <a:bodyPr/>
          <a:lstStyle/>
          <a:p>
            <a:endParaRPr lang="en-US"/>
          </a:p>
        </p:txBody>
      </p:sp>
      <p:sp>
        <p:nvSpPr>
          <p:cNvPr id="9" name="Shape 6"/>
          <p:cNvSpPr/>
          <p:nvPr/>
        </p:nvSpPr>
        <p:spPr>
          <a:xfrm>
            <a:off x="2148840" y="1463040"/>
            <a:ext cx="182880" cy="4754880"/>
          </a:xfrm>
          <a:prstGeom prst="rect">
            <a:avLst/>
          </a:prstGeom>
          <a:solidFill>
            <a:srgbClr val="0B2A1C"/>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749808" y="1719072"/>
            <a:ext cx="292608" cy="292608"/>
          </a:xfrm>
          <a:prstGeom prst="rect">
            <a:avLst/>
          </a:prstGeom>
        </p:spPr>
      </p:pic>
      <p:sp>
        <p:nvSpPr>
          <p:cNvPr id="11" name="Text 7"/>
          <p:cNvSpPr txBox="1"/>
          <p:nvPr/>
        </p:nvSpPr>
        <p:spPr>
          <a:xfrm>
            <a:off x="1097280" y="1700784"/>
            <a:ext cx="1188720" cy="32918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GreenPulse</a:t>
            </a:r>
            <a:endParaRPr lang="en-US" sz="1300" dirty="0"/>
          </a:p>
        </p:txBody>
      </p:sp>
      <p:sp>
        <p:nvSpPr>
          <p:cNvPr id="12" name="Shape 8"/>
          <p:cNvSpPr/>
          <p:nvPr/>
        </p:nvSpPr>
        <p:spPr>
          <a:xfrm>
            <a:off x="676656" y="2276856"/>
            <a:ext cx="1527048" cy="365760"/>
          </a:xfrm>
          <a:prstGeom prst="roundRect">
            <a:avLst>
              <a:gd name="adj" fmla="val 20000"/>
            </a:avLst>
          </a:prstGeom>
          <a:solidFill>
            <a:srgbClr val="14532D"/>
          </a:solidFill>
          <a:ln/>
        </p:spPr>
        <p:txBody>
          <a:bodyPr/>
          <a:lstStyle/>
          <a:p>
            <a:endParaRPr lang="en-US"/>
          </a:p>
        </p:txBody>
      </p:sp>
      <p:pic>
        <p:nvPicPr>
          <p:cNvPr id="13" name="Image 2" descr="preencoded.png"/>
          <p:cNvPicPr>
            <a:picLocks noChangeAspect="1"/>
          </p:cNvPicPr>
          <p:nvPr/>
        </p:nvPicPr>
        <p:blipFill>
          <a:blip r:embed="rId4"/>
          <a:stretch>
            <a:fillRect/>
          </a:stretch>
        </p:blipFill>
        <p:spPr>
          <a:xfrm>
            <a:off x="786384" y="2359152"/>
            <a:ext cx="201168" cy="201168"/>
          </a:xfrm>
          <a:prstGeom prst="rect">
            <a:avLst/>
          </a:prstGeom>
        </p:spPr>
      </p:pic>
      <p:sp>
        <p:nvSpPr>
          <p:cNvPr id="14" name="Text 9"/>
          <p:cNvSpPr txBox="1"/>
          <p:nvPr/>
        </p:nvSpPr>
        <p:spPr>
          <a:xfrm>
            <a:off x="1078992" y="2276856"/>
            <a:ext cx="118872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p:txBody>
      </p:sp>
      <p:pic>
        <p:nvPicPr>
          <p:cNvPr id="15" name="Image 3" descr="preencoded.png"/>
          <p:cNvPicPr>
            <a:picLocks noChangeAspect="1"/>
          </p:cNvPicPr>
          <p:nvPr/>
        </p:nvPicPr>
        <p:blipFill>
          <a:blip r:embed="rId5"/>
          <a:stretch>
            <a:fillRect/>
          </a:stretch>
        </p:blipFill>
        <p:spPr>
          <a:xfrm>
            <a:off x="786384" y="2816352"/>
            <a:ext cx="201168" cy="201168"/>
          </a:xfrm>
          <a:prstGeom prst="rect">
            <a:avLst/>
          </a:prstGeom>
        </p:spPr>
      </p:pic>
      <p:sp>
        <p:nvSpPr>
          <p:cNvPr id="16" name="Text 10"/>
          <p:cNvSpPr txBox="1"/>
          <p:nvPr/>
        </p:nvSpPr>
        <p:spPr>
          <a:xfrm>
            <a:off x="1078992" y="2734056"/>
            <a:ext cx="1188720" cy="365760"/>
          </a:xfrm>
          <a:prstGeom prst="rect">
            <a:avLst/>
          </a:prstGeom>
          <a:noFill/>
          <a:ln/>
        </p:spPr>
        <p:txBody>
          <a:bodyPr wrap="square" lIns="0" tIns="0" rIns="0" bIns="0" rtlCol="0" anchor="ctr"/>
          <a:lstStyle/>
          <a:p>
            <a:pPr marL="0" indent="0">
              <a:buNone/>
            </a:pPr>
            <a:r>
              <a:rPr lang="en-US" sz="1050" dirty="0">
                <a:solidFill>
                  <a:srgbClr val="8FD9A8"/>
                </a:solidFill>
                <a:latin typeface="Calibri" pitchFamily="34" charset="0"/>
                <a:ea typeface="Calibri" pitchFamily="34" charset="-122"/>
                <a:cs typeface="Calibri" pitchFamily="34" charset="-120"/>
              </a:rPr>
              <a:t>Sensors</a:t>
            </a:r>
            <a:endParaRPr lang="en-US" sz="1050" dirty="0"/>
          </a:p>
        </p:txBody>
      </p:sp>
      <p:pic>
        <p:nvPicPr>
          <p:cNvPr id="17" name="Image 4" descr="preencoded.png"/>
          <p:cNvPicPr>
            <a:picLocks noChangeAspect="1"/>
          </p:cNvPicPr>
          <p:nvPr/>
        </p:nvPicPr>
        <p:blipFill>
          <a:blip r:embed="rId6"/>
          <a:stretch>
            <a:fillRect/>
          </a:stretch>
        </p:blipFill>
        <p:spPr>
          <a:xfrm>
            <a:off x="786384" y="3273552"/>
            <a:ext cx="201168" cy="201168"/>
          </a:xfrm>
          <a:prstGeom prst="rect">
            <a:avLst/>
          </a:prstGeom>
        </p:spPr>
      </p:pic>
      <p:sp>
        <p:nvSpPr>
          <p:cNvPr id="18" name="Text 11"/>
          <p:cNvSpPr txBox="1"/>
          <p:nvPr/>
        </p:nvSpPr>
        <p:spPr>
          <a:xfrm>
            <a:off x="1078992" y="3191256"/>
            <a:ext cx="1188720" cy="365760"/>
          </a:xfrm>
          <a:prstGeom prst="rect">
            <a:avLst/>
          </a:prstGeom>
          <a:noFill/>
          <a:ln/>
        </p:spPr>
        <p:txBody>
          <a:bodyPr wrap="square" lIns="0" tIns="0" rIns="0" bIns="0" rtlCol="0" anchor="ctr"/>
          <a:lstStyle/>
          <a:p>
            <a:pPr marL="0" indent="0">
              <a:buNone/>
            </a:pPr>
            <a:r>
              <a:rPr lang="en-US" sz="1050" dirty="0">
                <a:solidFill>
                  <a:srgbClr val="8FD9A8"/>
                </a:solidFill>
                <a:latin typeface="Calibri" pitchFamily="34" charset="0"/>
                <a:ea typeface="Calibri" pitchFamily="34" charset="-122"/>
                <a:cs typeface="Calibri" pitchFamily="34" charset="-120"/>
              </a:rPr>
              <a:t>AI Insights</a:t>
            </a:r>
            <a:endParaRPr lang="en-US" sz="1050" dirty="0"/>
          </a:p>
        </p:txBody>
      </p:sp>
      <p:pic>
        <p:nvPicPr>
          <p:cNvPr id="19" name="Image 5" descr="preencoded.png"/>
          <p:cNvPicPr>
            <a:picLocks noChangeAspect="1"/>
          </p:cNvPicPr>
          <p:nvPr/>
        </p:nvPicPr>
        <p:blipFill>
          <a:blip r:embed="rId7"/>
          <a:stretch>
            <a:fillRect/>
          </a:stretch>
        </p:blipFill>
        <p:spPr>
          <a:xfrm>
            <a:off x="786384" y="3730752"/>
            <a:ext cx="201168" cy="201168"/>
          </a:xfrm>
          <a:prstGeom prst="rect">
            <a:avLst/>
          </a:prstGeom>
        </p:spPr>
      </p:pic>
      <p:sp>
        <p:nvSpPr>
          <p:cNvPr id="20" name="Text 12"/>
          <p:cNvSpPr txBox="1"/>
          <p:nvPr/>
        </p:nvSpPr>
        <p:spPr>
          <a:xfrm>
            <a:off x="1078992" y="3648456"/>
            <a:ext cx="1188720" cy="365760"/>
          </a:xfrm>
          <a:prstGeom prst="rect">
            <a:avLst/>
          </a:prstGeom>
          <a:noFill/>
          <a:ln/>
        </p:spPr>
        <p:txBody>
          <a:bodyPr wrap="square" lIns="0" tIns="0" rIns="0" bIns="0" rtlCol="0" anchor="ctr"/>
          <a:lstStyle/>
          <a:p>
            <a:pPr marL="0" indent="0">
              <a:buNone/>
            </a:pPr>
            <a:r>
              <a:rPr lang="en-US" sz="1050" dirty="0">
                <a:solidFill>
                  <a:srgbClr val="8FD9A8"/>
                </a:solidFill>
                <a:latin typeface="Calibri" pitchFamily="34" charset="0"/>
                <a:ea typeface="Calibri" pitchFamily="34" charset="-122"/>
                <a:cs typeface="Calibri" pitchFamily="34" charset="-120"/>
              </a:rPr>
              <a:t>Weather</a:t>
            </a:r>
            <a:endParaRPr lang="en-US" sz="1050" dirty="0"/>
          </a:p>
        </p:txBody>
      </p:sp>
      <p:pic>
        <p:nvPicPr>
          <p:cNvPr id="21" name="Image 6" descr="preencoded.png"/>
          <p:cNvPicPr>
            <a:picLocks noChangeAspect="1"/>
          </p:cNvPicPr>
          <p:nvPr/>
        </p:nvPicPr>
        <p:blipFill>
          <a:blip r:embed="rId8"/>
          <a:stretch>
            <a:fillRect/>
          </a:stretch>
        </p:blipFill>
        <p:spPr>
          <a:xfrm>
            <a:off x="786384" y="4187952"/>
            <a:ext cx="201168" cy="201168"/>
          </a:xfrm>
          <a:prstGeom prst="rect">
            <a:avLst/>
          </a:prstGeom>
        </p:spPr>
      </p:pic>
      <p:sp>
        <p:nvSpPr>
          <p:cNvPr id="22" name="Text 13"/>
          <p:cNvSpPr txBox="1"/>
          <p:nvPr/>
        </p:nvSpPr>
        <p:spPr>
          <a:xfrm>
            <a:off x="1078992" y="4105656"/>
            <a:ext cx="1188720" cy="365760"/>
          </a:xfrm>
          <a:prstGeom prst="rect">
            <a:avLst/>
          </a:prstGeom>
          <a:noFill/>
          <a:ln/>
        </p:spPr>
        <p:txBody>
          <a:bodyPr wrap="square" lIns="0" tIns="0" rIns="0" bIns="0" rtlCol="0" anchor="ctr"/>
          <a:lstStyle/>
          <a:p>
            <a:pPr marL="0" indent="0">
              <a:buNone/>
            </a:pPr>
            <a:r>
              <a:rPr lang="en-US" sz="1050" dirty="0">
                <a:solidFill>
                  <a:srgbClr val="8FD9A8"/>
                </a:solidFill>
                <a:latin typeface="Calibri" pitchFamily="34" charset="0"/>
                <a:ea typeface="Calibri" pitchFamily="34" charset="-122"/>
                <a:cs typeface="Calibri" pitchFamily="34" charset="-120"/>
              </a:rPr>
              <a:t>Notifications</a:t>
            </a:r>
            <a:endParaRPr lang="en-US" sz="1050" dirty="0"/>
          </a:p>
        </p:txBody>
      </p:sp>
      <p:pic>
        <p:nvPicPr>
          <p:cNvPr id="23" name="Image 7" descr="preencoded.png"/>
          <p:cNvPicPr>
            <a:picLocks noChangeAspect="1"/>
          </p:cNvPicPr>
          <p:nvPr/>
        </p:nvPicPr>
        <p:blipFill>
          <a:blip r:embed="rId9"/>
          <a:stretch>
            <a:fillRect/>
          </a:stretch>
        </p:blipFill>
        <p:spPr>
          <a:xfrm>
            <a:off x="786384" y="4645152"/>
            <a:ext cx="201168" cy="201168"/>
          </a:xfrm>
          <a:prstGeom prst="rect">
            <a:avLst/>
          </a:prstGeom>
        </p:spPr>
      </p:pic>
      <p:sp>
        <p:nvSpPr>
          <p:cNvPr id="24" name="Text 14"/>
          <p:cNvSpPr txBox="1"/>
          <p:nvPr/>
        </p:nvSpPr>
        <p:spPr>
          <a:xfrm>
            <a:off x="1078992" y="4562856"/>
            <a:ext cx="1188720" cy="365760"/>
          </a:xfrm>
          <a:prstGeom prst="rect">
            <a:avLst/>
          </a:prstGeom>
          <a:noFill/>
          <a:ln/>
        </p:spPr>
        <p:txBody>
          <a:bodyPr wrap="square" lIns="0" tIns="0" rIns="0" bIns="0" rtlCol="0" anchor="ctr"/>
          <a:lstStyle/>
          <a:p>
            <a:pPr marL="0" indent="0">
              <a:buNone/>
            </a:pPr>
            <a:r>
              <a:rPr lang="en-US" sz="1050" dirty="0">
                <a:solidFill>
                  <a:srgbClr val="8FD9A8"/>
                </a:solidFill>
                <a:latin typeface="Calibri" pitchFamily="34" charset="0"/>
                <a:ea typeface="Calibri" pitchFamily="34" charset="-122"/>
                <a:cs typeface="Calibri" pitchFamily="34" charset="-120"/>
              </a:rPr>
              <a:t>MQTT Monitor</a:t>
            </a:r>
            <a:endParaRPr lang="en-US" sz="1050" dirty="0"/>
          </a:p>
        </p:txBody>
      </p:sp>
      <p:sp>
        <p:nvSpPr>
          <p:cNvPr id="25" name="Text 15"/>
          <p:cNvSpPr txBox="1"/>
          <p:nvPr/>
        </p:nvSpPr>
        <p:spPr>
          <a:xfrm>
            <a:off x="2560320" y="1627632"/>
            <a:ext cx="2743200" cy="329184"/>
          </a:xfrm>
          <a:prstGeom prst="rect">
            <a:avLst/>
          </a:prstGeom>
          <a:noFill/>
          <a:ln/>
        </p:spPr>
        <p:txBody>
          <a:bodyPr wrap="square" lIns="0" tIns="0" rIns="0" bIns="0" rtlCol="0" anchor="ctr"/>
          <a:lstStyle/>
          <a:p>
            <a:pPr marL="0" indent="0">
              <a:buNone/>
            </a:pPr>
            <a:r>
              <a:rPr lang="en-US" sz="1400" b="1" dirty="0">
                <a:solidFill>
                  <a:srgbClr val="0F1B2D"/>
                </a:solidFill>
                <a:latin typeface="Arial" pitchFamily="34" charset="0"/>
                <a:ea typeface="Arial" pitchFamily="34" charset="-122"/>
                <a:cs typeface="Arial" pitchFamily="34" charset="-120"/>
              </a:rPr>
              <a:t>Plant Overview</a:t>
            </a:r>
            <a:endParaRPr lang="en-US" sz="1400" dirty="0"/>
          </a:p>
        </p:txBody>
      </p:sp>
      <p:sp>
        <p:nvSpPr>
          <p:cNvPr id="26" name="Text 16"/>
          <p:cNvSpPr txBox="1"/>
          <p:nvPr/>
        </p:nvSpPr>
        <p:spPr>
          <a:xfrm>
            <a:off x="5303520" y="1627632"/>
            <a:ext cx="5105095" cy="329184"/>
          </a:xfrm>
          <a:prstGeom prst="rect">
            <a:avLst/>
          </a:prstGeom>
          <a:noFill/>
          <a:ln/>
        </p:spPr>
        <p:txBody>
          <a:bodyPr wrap="square" lIns="0" tIns="0" rIns="0" bIns="0" rtlCol="0" anchor="ctr"/>
          <a:lstStyle/>
          <a:p>
            <a:pPr marL="0" indent="0" algn="r">
              <a:buNone/>
            </a:pPr>
            <a:r>
              <a:rPr lang="en-US" sz="1000" dirty="0">
                <a:solidFill>
                  <a:srgbClr val="7A8A94"/>
                </a:solidFill>
                <a:latin typeface="Calibri" pitchFamily="34" charset="0"/>
                <a:ea typeface="Calibri" pitchFamily="34" charset="-122"/>
                <a:cs typeface="Calibri" pitchFamily="34" charset="-120"/>
              </a:rPr>
              <a:t>greenpulse_01  ·  illustrative values</a:t>
            </a:r>
            <a:endParaRPr lang="en-US" sz="1000" dirty="0"/>
          </a:p>
        </p:txBody>
      </p:sp>
      <p:sp>
        <p:nvSpPr>
          <p:cNvPr id="27" name="Shape 17"/>
          <p:cNvSpPr/>
          <p:nvPr/>
        </p:nvSpPr>
        <p:spPr>
          <a:xfrm>
            <a:off x="10545775" y="1645920"/>
            <a:ext cx="868680" cy="292608"/>
          </a:xfrm>
          <a:prstGeom prst="roundRect">
            <a:avLst>
              <a:gd name="adj" fmla="val 50000"/>
            </a:avLst>
          </a:prstGeom>
          <a:solidFill>
            <a:srgbClr val="DCF5E4"/>
          </a:solidFill>
          <a:ln/>
        </p:spPr>
        <p:txBody>
          <a:bodyPr/>
          <a:lstStyle/>
          <a:p>
            <a:endParaRPr lang="en-US"/>
          </a:p>
        </p:txBody>
      </p:sp>
      <p:sp>
        <p:nvSpPr>
          <p:cNvPr id="28" name="Shape 18"/>
          <p:cNvSpPr/>
          <p:nvPr/>
        </p:nvSpPr>
        <p:spPr>
          <a:xfrm>
            <a:off x="10664647" y="1746504"/>
            <a:ext cx="91440" cy="91440"/>
          </a:xfrm>
          <a:prstGeom prst="ellipse">
            <a:avLst/>
          </a:prstGeom>
          <a:solidFill>
            <a:srgbClr val="22A559"/>
          </a:solidFill>
          <a:ln/>
        </p:spPr>
        <p:txBody>
          <a:bodyPr/>
          <a:lstStyle/>
          <a:p>
            <a:endParaRPr lang="en-US"/>
          </a:p>
        </p:txBody>
      </p:sp>
      <p:sp>
        <p:nvSpPr>
          <p:cNvPr id="29" name="Text 19"/>
          <p:cNvSpPr txBox="1"/>
          <p:nvPr/>
        </p:nvSpPr>
        <p:spPr>
          <a:xfrm>
            <a:off x="10810951" y="1645920"/>
            <a:ext cx="502920" cy="292608"/>
          </a:xfrm>
          <a:prstGeom prst="rect">
            <a:avLst/>
          </a:prstGeom>
          <a:noFill/>
          <a:ln/>
        </p:spPr>
        <p:txBody>
          <a:bodyPr wrap="square" lIns="0" tIns="0" rIns="0" bIns="0" rtlCol="0" anchor="ctr"/>
          <a:lstStyle/>
          <a:p>
            <a:pPr marL="0" indent="0">
              <a:buNone/>
            </a:pPr>
            <a:r>
              <a:rPr lang="en-US" sz="1050" b="1" dirty="0">
                <a:solidFill>
                  <a:srgbClr val="14532D"/>
                </a:solidFill>
                <a:latin typeface="Calibri" pitchFamily="34" charset="0"/>
                <a:ea typeface="Calibri" pitchFamily="34" charset="-122"/>
                <a:cs typeface="Calibri" pitchFamily="34" charset="-120"/>
              </a:rPr>
              <a:t>Live</a:t>
            </a:r>
            <a:endParaRPr lang="en-US" sz="1050" dirty="0"/>
          </a:p>
        </p:txBody>
      </p:sp>
      <p:sp>
        <p:nvSpPr>
          <p:cNvPr id="30" name="Shape 20"/>
          <p:cNvSpPr/>
          <p:nvPr/>
        </p:nvSpPr>
        <p:spPr>
          <a:xfrm>
            <a:off x="2560320" y="2121408"/>
            <a:ext cx="5349240" cy="1389888"/>
          </a:xfrm>
          <a:prstGeom prst="roundRect">
            <a:avLst>
              <a:gd name="adj" fmla="val 6579"/>
            </a:avLst>
          </a:prstGeom>
          <a:solidFill>
            <a:srgbClr val="FFFFFF"/>
          </a:solidFill>
          <a:ln w="9525">
            <a:solidFill>
              <a:srgbClr val="E3EAE5"/>
            </a:solidFill>
            <a:prstDash val="solid"/>
          </a:ln>
        </p:spPr>
        <p:txBody>
          <a:bodyPr/>
          <a:lstStyle/>
          <a:p>
            <a:endParaRPr lang="en-US"/>
          </a:p>
        </p:txBody>
      </p:sp>
      <p:pic>
        <p:nvPicPr>
          <p:cNvPr id="31" name="Image 8" descr="preencoded.png"/>
          <p:cNvPicPr>
            <a:picLocks noChangeAspect="1"/>
          </p:cNvPicPr>
          <p:nvPr/>
        </p:nvPicPr>
        <p:blipFill>
          <a:blip r:embed="rId10"/>
          <a:stretch>
            <a:fillRect/>
          </a:stretch>
        </p:blipFill>
        <p:spPr>
          <a:xfrm>
            <a:off x="2706624" y="2249424"/>
            <a:ext cx="182880" cy="182880"/>
          </a:xfrm>
          <a:prstGeom prst="rect">
            <a:avLst/>
          </a:prstGeom>
        </p:spPr>
      </p:pic>
      <p:sp>
        <p:nvSpPr>
          <p:cNvPr id="32" name="Text 21"/>
          <p:cNvSpPr txBox="1"/>
          <p:nvPr/>
        </p:nvSpPr>
        <p:spPr>
          <a:xfrm>
            <a:off x="2962656" y="2212848"/>
            <a:ext cx="4800600" cy="256032"/>
          </a:xfrm>
          <a:prstGeom prst="rect">
            <a:avLst/>
          </a:prstGeom>
          <a:noFill/>
          <a:ln/>
        </p:spPr>
        <p:txBody>
          <a:bodyPr wrap="square" lIns="0" tIns="0" rIns="0" bIns="0" rtlCol="0" anchor="ctr"/>
          <a:lstStyle/>
          <a:p>
            <a:pPr marL="0" indent="0">
              <a:buNone/>
            </a:pPr>
            <a:r>
              <a:rPr lang="en-US" sz="950" b="1" kern="0" spc="150" dirty="0">
                <a:solidFill>
                  <a:srgbClr val="7A8A94"/>
                </a:solidFill>
                <a:latin typeface="Calibri" pitchFamily="34" charset="0"/>
                <a:ea typeface="Calibri" pitchFamily="34" charset="-122"/>
                <a:cs typeface="Calibri" pitchFamily="34" charset="-120"/>
              </a:rPr>
              <a:t>LIVE SENSORS</a:t>
            </a:r>
            <a:endParaRPr lang="en-US" sz="950" dirty="0"/>
          </a:p>
        </p:txBody>
      </p:sp>
      <p:sp>
        <p:nvSpPr>
          <p:cNvPr id="33" name="Shape 22"/>
          <p:cNvSpPr/>
          <p:nvPr/>
        </p:nvSpPr>
        <p:spPr>
          <a:xfrm>
            <a:off x="2706624" y="2542032"/>
            <a:ext cx="1181862" cy="822960"/>
          </a:xfrm>
          <a:prstGeom prst="roundRect">
            <a:avLst>
              <a:gd name="adj" fmla="val 8889"/>
            </a:avLst>
          </a:prstGeom>
          <a:solidFill>
            <a:srgbClr val="F6F8F7"/>
          </a:solidFill>
          <a:ln/>
        </p:spPr>
        <p:txBody>
          <a:bodyPr/>
          <a:lstStyle/>
          <a:p>
            <a:endParaRPr lang="en-US"/>
          </a:p>
        </p:txBody>
      </p:sp>
      <p:sp>
        <p:nvSpPr>
          <p:cNvPr id="34" name="Text 23"/>
          <p:cNvSpPr txBox="1"/>
          <p:nvPr/>
        </p:nvSpPr>
        <p:spPr>
          <a:xfrm>
            <a:off x="2816352" y="2615184"/>
            <a:ext cx="998982" cy="365760"/>
          </a:xfrm>
          <a:prstGeom prst="rect">
            <a:avLst/>
          </a:prstGeom>
          <a:noFill/>
          <a:ln/>
        </p:spPr>
        <p:txBody>
          <a:bodyPr wrap="square" lIns="0" tIns="0" rIns="0" bIns="0" rtlCol="0" anchor="ctr"/>
          <a:lstStyle/>
          <a:p>
            <a:pPr marL="0" indent="0">
              <a:buNone/>
            </a:pPr>
            <a:r>
              <a:rPr lang="en-US" sz="2000" b="1" dirty="0">
                <a:solidFill>
                  <a:srgbClr val="0F1B2D"/>
                </a:solidFill>
                <a:latin typeface="Arial" pitchFamily="34" charset="0"/>
                <a:ea typeface="Arial" pitchFamily="34" charset="-122"/>
                <a:cs typeface="Arial" pitchFamily="34" charset="-120"/>
              </a:rPr>
              <a:t>45</a:t>
            </a:r>
            <a:r>
              <a:rPr lang="en-US" sz="1100" dirty="0">
                <a:solidFill>
                  <a:srgbClr val="7A8A94"/>
                </a:solidFill>
                <a:latin typeface="Arial" pitchFamily="34" charset="0"/>
                <a:ea typeface="Arial" pitchFamily="34" charset="-122"/>
                <a:cs typeface="Arial" pitchFamily="34" charset="-120"/>
              </a:rPr>
              <a:t> %</a:t>
            </a:r>
            <a:endParaRPr lang="en-US" sz="2000" dirty="0"/>
          </a:p>
        </p:txBody>
      </p:sp>
      <p:sp>
        <p:nvSpPr>
          <p:cNvPr id="35" name="Text 24"/>
          <p:cNvSpPr txBox="1"/>
          <p:nvPr/>
        </p:nvSpPr>
        <p:spPr>
          <a:xfrm>
            <a:off x="2816352" y="2980944"/>
            <a:ext cx="998982" cy="182880"/>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Soil Moisture</a:t>
            </a:r>
            <a:endParaRPr lang="en-US" sz="950" dirty="0"/>
          </a:p>
        </p:txBody>
      </p:sp>
      <p:sp>
        <p:nvSpPr>
          <p:cNvPr id="36" name="Shape 25"/>
          <p:cNvSpPr/>
          <p:nvPr/>
        </p:nvSpPr>
        <p:spPr>
          <a:xfrm>
            <a:off x="2816352" y="3200400"/>
            <a:ext cx="962406" cy="64008"/>
          </a:xfrm>
          <a:prstGeom prst="roundRect">
            <a:avLst>
              <a:gd name="adj" fmla="val 50000"/>
            </a:avLst>
          </a:prstGeom>
          <a:solidFill>
            <a:srgbClr val="E2E8E4"/>
          </a:solidFill>
          <a:ln/>
        </p:spPr>
        <p:txBody>
          <a:bodyPr/>
          <a:lstStyle/>
          <a:p>
            <a:endParaRPr lang="en-US"/>
          </a:p>
        </p:txBody>
      </p:sp>
      <p:sp>
        <p:nvSpPr>
          <p:cNvPr id="37" name="Shape 26"/>
          <p:cNvSpPr/>
          <p:nvPr/>
        </p:nvSpPr>
        <p:spPr>
          <a:xfrm>
            <a:off x="2816352" y="3200400"/>
            <a:ext cx="433083" cy="64008"/>
          </a:xfrm>
          <a:prstGeom prst="roundRect">
            <a:avLst>
              <a:gd name="adj" fmla="val 50000"/>
            </a:avLst>
          </a:prstGeom>
          <a:solidFill>
            <a:srgbClr val="2E9E5B"/>
          </a:solidFill>
          <a:ln/>
        </p:spPr>
        <p:txBody>
          <a:bodyPr/>
          <a:lstStyle/>
          <a:p>
            <a:endParaRPr lang="en-US"/>
          </a:p>
        </p:txBody>
      </p:sp>
      <p:sp>
        <p:nvSpPr>
          <p:cNvPr id="38" name="Shape 27"/>
          <p:cNvSpPr/>
          <p:nvPr/>
        </p:nvSpPr>
        <p:spPr>
          <a:xfrm>
            <a:off x="3998214" y="2542032"/>
            <a:ext cx="1181862" cy="822960"/>
          </a:xfrm>
          <a:prstGeom prst="roundRect">
            <a:avLst>
              <a:gd name="adj" fmla="val 8889"/>
            </a:avLst>
          </a:prstGeom>
          <a:solidFill>
            <a:srgbClr val="F6F8F7"/>
          </a:solidFill>
          <a:ln/>
        </p:spPr>
        <p:txBody>
          <a:bodyPr/>
          <a:lstStyle/>
          <a:p>
            <a:endParaRPr lang="en-US"/>
          </a:p>
        </p:txBody>
      </p:sp>
      <p:sp>
        <p:nvSpPr>
          <p:cNvPr id="39" name="Text 28"/>
          <p:cNvSpPr txBox="1"/>
          <p:nvPr/>
        </p:nvSpPr>
        <p:spPr>
          <a:xfrm>
            <a:off x="4107942" y="2615184"/>
            <a:ext cx="998982" cy="365760"/>
          </a:xfrm>
          <a:prstGeom prst="rect">
            <a:avLst/>
          </a:prstGeom>
          <a:noFill/>
          <a:ln/>
        </p:spPr>
        <p:txBody>
          <a:bodyPr wrap="square" lIns="0" tIns="0" rIns="0" bIns="0" rtlCol="0" anchor="ctr"/>
          <a:lstStyle/>
          <a:p>
            <a:pPr marL="0" indent="0">
              <a:buNone/>
            </a:pPr>
            <a:r>
              <a:rPr lang="en-US" sz="2000" b="1" dirty="0">
                <a:solidFill>
                  <a:srgbClr val="0F1B2D"/>
                </a:solidFill>
                <a:latin typeface="Arial" pitchFamily="34" charset="0"/>
                <a:ea typeface="Arial" pitchFamily="34" charset="-122"/>
                <a:cs typeface="Arial" pitchFamily="34" charset="-120"/>
              </a:rPr>
              <a:t>28.1</a:t>
            </a:r>
            <a:r>
              <a:rPr lang="en-US" sz="1100" dirty="0">
                <a:solidFill>
                  <a:srgbClr val="7A8A94"/>
                </a:solidFill>
                <a:latin typeface="Arial" pitchFamily="34" charset="0"/>
                <a:ea typeface="Arial" pitchFamily="34" charset="-122"/>
                <a:cs typeface="Arial" pitchFamily="34" charset="-120"/>
              </a:rPr>
              <a:t> °C</a:t>
            </a:r>
            <a:endParaRPr lang="en-US" sz="2000" dirty="0"/>
          </a:p>
        </p:txBody>
      </p:sp>
      <p:sp>
        <p:nvSpPr>
          <p:cNvPr id="40" name="Text 29"/>
          <p:cNvSpPr txBox="1"/>
          <p:nvPr/>
        </p:nvSpPr>
        <p:spPr>
          <a:xfrm>
            <a:off x="4107942" y="2980944"/>
            <a:ext cx="998982" cy="182880"/>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Temperature</a:t>
            </a:r>
            <a:endParaRPr lang="en-US" sz="950" dirty="0"/>
          </a:p>
        </p:txBody>
      </p:sp>
      <p:sp>
        <p:nvSpPr>
          <p:cNvPr id="41" name="Shape 30"/>
          <p:cNvSpPr/>
          <p:nvPr/>
        </p:nvSpPr>
        <p:spPr>
          <a:xfrm>
            <a:off x="4107942" y="3200400"/>
            <a:ext cx="962406" cy="64008"/>
          </a:xfrm>
          <a:prstGeom prst="roundRect">
            <a:avLst>
              <a:gd name="adj" fmla="val 50000"/>
            </a:avLst>
          </a:prstGeom>
          <a:solidFill>
            <a:srgbClr val="E2E8E4"/>
          </a:solidFill>
          <a:ln/>
        </p:spPr>
        <p:txBody>
          <a:bodyPr/>
          <a:lstStyle/>
          <a:p>
            <a:endParaRPr lang="en-US"/>
          </a:p>
        </p:txBody>
      </p:sp>
      <p:sp>
        <p:nvSpPr>
          <p:cNvPr id="42" name="Shape 31"/>
          <p:cNvSpPr/>
          <p:nvPr/>
        </p:nvSpPr>
        <p:spPr>
          <a:xfrm>
            <a:off x="4107942" y="3200400"/>
            <a:ext cx="538947" cy="64008"/>
          </a:xfrm>
          <a:prstGeom prst="roundRect">
            <a:avLst>
              <a:gd name="adj" fmla="val 50000"/>
            </a:avLst>
          </a:prstGeom>
          <a:solidFill>
            <a:srgbClr val="E8833A"/>
          </a:solidFill>
          <a:ln/>
        </p:spPr>
        <p:txBody>
          <a:bodyPr/>
          <a:lstStyle/>
          <a:p>
            <a:endParaRPr lang="en-US"/>
          </a:p>
        </p:txBody>
      </p:sp>
      <p:sp>
        <p:nvSpPr>
          <p:cNvPr id="43" name="Shape 32"/>
          <p:cNvSpPr/>
          <p:nvPr/>
        </p:nvSpPr>
        <p:spPr>
          <a:xfrm>
            <a:off x="5289804" y="2542032"/>
            <a:ext cx="1181862" cy="822960"/>
          </a:xfrm>
          <a:prstGeom prst="roundRect">
            <a:avLst>
              <a:gd name="adj" fmla="val 8889"/>
            </a:avLst>
          </a:prstGeom>
          <a:solidFill>
            <a:srgbClr val="F6F8F7"/>
          </a:solidFill>
          <a:ln/>
        </p:spPr>
        <p:txBody>
          <a:bodyPr/>
          <a:lstStyle/>
          <a:p>
            <a:endParaRPr lang="en-US"/>
          </a:p>
        </p:txBody>
      </p:sp>
      <p:sp>
        <p:nvSpPr>
          <p:cNvPr id="44" name="Text 33"/>
          <p:cNvSpPr txBox="1"/>
          <p:nvPr/>
        </p:nvSpPr>
        <p:spPr>
          <a:xfrm>
            <a:off x="5399532" y="2615184"/>
            <a:ext cx="998982" cy="365760"/>
          </a:xfrm>
          <a:prstGeom prst="rect">
            <a:avLst/>
          </a:prstGeom>
          <a:noFill/>
          <a:ln/>
        </p:spPr>
        <p:txBody>
          <a:bodyPr wrap="square" lIns="0" tIns="0" rIns="0" bIns="0" rtlCol="0" anchor="ctr"/>
          <a:lstStyle/>
          <a:p>
            <a:pPr marL="0" indent="0">
              <a:buNone/>
            </a:pPr>
            <a:r>
              <a:rPr lang="en-US" sz="2000" b="1" dirty="0">
                <a:solidFill>
                  <a:srgbClr val="0F1B2D"/>
                </a:solidFill>
                <a:latin typeface="Arial" pitchFamily="34" charset="0"/>
                <a:ea typeface="Arial" pitchFamily="34" charset="-122"/>
                <a:cs typeface="Arial" pitchFamily="34" charset="-120"/>
              </a:rPr>
              <a:t>62</a:t>
            </a:r>
            <a:r>
              <a:rPr lang="en-US" sz="1100" dirty="0">
                <a:solidFill>
                  <a:srgbClr val="7A8A94"/>
                </a:solidFill>
                <a:latin typeface="Arial" pitchFamily="34" charset="0"/>
                <a:ea typeface="Arial" pitchFamily="34" charset="-122"/>
                <a:cs typeface="Arial" pitchFamily="34" charset="-120"/>
              </a:rPr>
              <a:t> %</a:t>
            </a:r>
            <a:endParaRPr lang="en-US" sz="2000" dirty="0"/>
          </a:p>
        </p:txBody>
      </p:sp>
      <p:sp>
        <p:nvSpPr>
          <p:cNvPr id="45" name="Text 34"/>
          <p:cNvSpPr txBox="1"/>
          <p:nvPr/>
        </p:nvSpPr>
        <p:spPr>
          <a:xfrm>
            <a:off x="5399532" y="2980944"/>
            <a:ext cx="998982" cy="182880"/>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Humidity</a:t>
            </a:r>
            <a:endParaRPr lang="en-US" sz="950" dirty="0"/>
          </a:p>
        </p:txBody>
      </p:sp>
      <p:sp>
        <p:nvSpPr>
          <p:cNvPr id="46" name="Shape 35"/>
          <p:cNvSpPr/>
          <p:nvPr/>
        </p:nvSpPr>
        <p:spPr>
          <a:xfrm>
            <a:off x="5399532" y="3200400"/>
            <a:ext cx="962406" cy="64008"/>
          </a:xfrm>
          <a:prstGeom prst="roundRect">
            <a:avLst>
              <a:gd name="adj" fmla="val 50000"/>
            </a:avLst>
          </a:prstGeom>
          <a:solidFill>
            <a:srgbClr val="E2E8E4"/>
          </a:solidFill>
          <a:ln/>
        </p:spPr>
        <p:txBody>
          <a:bodyPr/>
          <a:lstStyle/>
          <a:p>
            <a:endParaRPr lang="en-US"/>
          </a:p>
        </p:txBody>
      </p:sp>
      <p:sp>
        <p:nvSpPr>
          <p:cNvPr id="47" name="Shape 36"/>
          <p:cNvSpPr/>
          <p:nvPr/>
        </p:nvSpPr>
        <p:spPr>
          <a:xfrm>
            <a:off x="5399532" y="3200400"/>
            <a:ext cx="596692" cy="64008"/>
          </a:xfrm>
          <a:prstGeom prst="roundRect">
            <a:avLst>
              <a:gd name="adj" fmla="val 50000"/>
            </a:avLst>
          </a:prstGeom>
          <a:solidFill>
            <a:srgbClr val="2F80ED"/>
          </a:solidFill>
          <a:ln/>
        </p:spPr>
        <p:txBody>
          <a:bodyPr/>
          <a:lstStyle/>
          <a:p>
            <a:endParaRPr lang="en-US"/>
          </a:p>
        </p:txBody>
      </p:sp>
      <p:sp>
        <p:nvSpPr>
          <p:cNvPr id="48" name="Shape 37"/>
          <p:cNvSpPr/>
          <p:nvPr/>
        </p:nvSpPr>
        <p:spPr>
          <a:xfrm>
            <a:off x="6581394" y="2542032"/>
            <a:ext cx="1181862" cy="822960"/>
          </a:xfrm>
          <a:prstGeom prst="roundRect">
            <a:avLst>
              <a:gd name="adj" fmla="val 8889"/>
            </a:avLst>
          </a:prstGeom>
          <a:solidFill>
            <a:srgbClr val="F6F8F7"/>
          </a:solidFill>
          <a:ln/>
        </p:spPr>
        <p:txBody>
          <a:bodyPr/>
          <a:lstStyle/>
          <a:p>
            <a:endParaRPr lang="en-US"/>
          </a:p>
        </p:txBody>
      </p:sp>
      <p:sp>
        <p:nvSpPr>
          <p:cNvPr id="49" name="Text 38"/>
          <p:cNvSpPr txBox="1"/>
          <p:nvPr/>
        </p:nvSpPr>
        <p:spPr>
          <a:xfrm>
            <a:off x="6691122" y="2615184"/>
            <a:ext cx="998982" cy="365760"/>
          </a:xfrm>
          <a:prstGeom prst="rect">
            <a:avLst/>
          </a:prstGeom>
          <a:noFill/>
          <a:ln/>
        </p:spPr>
        <p:txBody>
          <a:bodyPr wrap="square" lIns="0" tIns="0" rIns="0" bIns="0" rtlCol="0" anchor="ctr"/>
          <a:lstStyle/>
          <a:p>
            <a:pPr marL="0" indent="0">
              <a:buNone/>
            </a:pPr>
            <a:r>
              <a:rPr lang="en-US" sz="2000" b="1" dirty="0">
                <a:solidFill>
                  <a:srgbClr val="0F1B2D"/>
                </a:solidFill>
                <a:latin typeface="Arial" pitchFamily="34" charset="0"/>
                <a:ea typeface="Arial" pitchFamily="34" charset="-122"/>
                <a:cs typeface="Arial" pitchFamily="34" charset="-120"/>
              </a:rPr>
              <a:t>320</a:t>
            </a:r>
            <a:r>
              <a:rPr lang="en-US" sz="1100" dirty="0">
                <a:solidFill>
                  <a:srgbClr val="7A8A94"/>
                </a:solidFill>
                <a:latin typeface="Arial" pitchFamily="34" charset="0"/>
                <a:ea typeface="Arial" pitchFamily="34" charset="-122"/>
                <a:cs typeface="Arial" pitchFamily="34" charset="-120"/>
              </a:rPr>
              <a:t> lx</a:t>
            </a:r>
            <a:endParaRPr lang="en-US" sz="2000" dirty="0"/>
          </a:p>
        </p:txBody>
      </p:sp>
      <p:sp>
        <p:nvSpPr>
          <p:cNvPr id="50" name="Text 39"/>
          <p:cNvSpPr txBox="1"/>
          <p:nvPr/>
        </p:nvSpPr>
        <p:spPr>
          <a:xfrm>
            <a:off x="6691122" y="2980944"/>
            <a:ext cx="998982" cy="182880"/>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Light</a:t>
            </a:r>
            <a:endParaRPr lang="en-US" sz="950" dirty="0"/>
          </a:p>
        </p:txBody>
      </p:sp>
      <p:sp>
        <p:nvSpPr>
          <p:cNvPr id="51" name="Shape 40"/>
          <p:cNvSpPr/>
          <p:nvPr/>
        </p:nvSpPr>
        <p:spPr>
          <a:xfrm>
            <a:off x="6691122" y="3200400"/>
            <a:ext cx="962406" cy="64008"/>
          </a:xfrm>
          <a:prstGeom prst="roundRect">
            <a:avLst>
              <a:gd name="adj" fmla="val 50000"/>
            </a:avLst>
          </a:prstGeom>
          <a:solidFill>
            <a:srgbClr val="E2E8E4"/>
          </a:solidFill>
          <a:ln/>
        </p:spPr>
        <p:txBody>
          <a:bodyPr/>
          <a:lstStyle/>
          <a:p>
            <a:endParaRPr lang="en-US"/>
          </a:p>
        </p:txBody>
      </p:sp>
      <p:sp>
        <p:nvSpPr>
          <p:cNvPr id="52" name="Shape 41"/>
          <p:cNvSpPr/>
          <p:nvPr/>
        </p:nvSpPr>
        <p:spPr>
          <a:xfrm>
            <a:off x="6691122" y="3200400"/>
            <a:ext cx="307970" cy="64008"/>
          </a:xfrm>
          <a:prstGeom prst="roundRect">
            <a:avLst>
              <a:gd name="adj" fmla="val 50000"/>
            </a:avLst>
          </a:prstGeom>
          <a:solidFill>
            <a:srgbClr val="E0A100"/>
          </a:solidFill>
          <a:ln/>
        </p:spPr>
        <p:txBody>
          <a:bodyPr/>
          <a:lstStyle/>
          <a:p>
            <a:endParaRPr lang="en-US"/>
          </a:p>
        </p:txBody>
      </p:sp>
      <p:sp>
        <p:nvSpPr>
          <p:cNvPr id="53" name="Shape 42"/>
          <p:cNvSpPr/>
          <p:nvPr/>
        </p:nvSpPr>
        <p:spPr>
          <a:xfrm>
            <a:off x="8074152" y="2121408"/>
            <a:ext cx="3340303" cy="1389888"/>
          </a:xfrm>
          <a:prstGeom prst="roundRect">
            <a:avLst>
              <a:gd name="adj" fmla="val 6579"/>
            </a:avLst>
          </a:prstGeom>
          <a:solidFill>
            <a:srgbClr val="FFFFFF"/>
          </a:solidFill>
          <a:ln w="9525">
            <a:solidFill>
              <a:srgbClr val="E3EAE5"/>
            </a:solidFill>
            <a:prstDash val="solid"/>
          </a:ln>
        </p:spPr>
        <p:txBody>
          <a:bodyPr/>
          <a:lstStyle/>
          <a:p>
            <a:endParaRPr lang="en-US"/>
          </a:p>
        </p:txBody>
      </p:sp>
      <p:pic>
        <p:nvPicPr>
          <p:cNvPr id="54" name="Image 9" descr="preencoded.png"/>
          <p:cNvPicPr>
            <a:picLocks noChangeAspect="1"/>
          </p:cNvPicPr>
          <p:nvPr/>
        </p:nvPicPr>
        <p:blipFill>
          <a:blip r:embed="rId11"/>
          <a:stretch>
            <a:fillRect/>
          </a:stretch>
        </p:blipFill>
        <p:spPr>
          <a:xfrm>
            <a:off x="8220456" y="2249424"/>
            <a:ext cx="182880" cy="182880"/>
          </a:xfrm>
          <a:prstGeom prst="rect">
            <a:avLst/>
          </a:prstGeom>
        </p:spPr>
      </p:pic>
      <p:sp>
        <p:nvSpPr>
          <p:cNvPr id="55" name="Text 43"/>
          <p:cNvSpPr txBox="1"/>
          <p:nvPr/>
        </p:nvSpPr>
        <p:spPr>
          <a:xfrm>
            <a:off x="8476488" y="2212848"/>
            <a:ext cx="2791663" cy="256032"/>
          </a:xfrm>
          <a:prstGeom prst="rect">
            <a:avLst/>
          </a:prstGeom>
          <a:noFill/>
          <a:ln/>
        </p:spPr>
        <p:txBody>
          <a:bodyPr wrap="square" lIns="0" tIns="0" rIns="0" bIns="0" rtlCol="0" anchor="ctr"/>
          <a:lstStyle/>
          <a:p>
            <a:pPr marL="0" indent="0">
              <a:buNone/>
            </a:pPr>
            <a:r>
              <a:rPr lang="en-US" sz="950" b="1" kern="0" spc="150" dirty="0">
                <a:solidFill>
                  <a:srgbClr val="7A8A94"/>
                </a:solidFill>
                <a:latin typeface="Calibri" pitchFamily="34" charset="0"/>
                <a:ea typeface="Calibri" pitchFamily="34" charset="-122"/>
                <a:cs typeface="Calibri" pitchFamily="34" charset="-120"/>
              </a:rPr>
              <a:t>DEVICE</a:t>
            </a:r>
            <a:endParaRPr lang="en-US" sz="950" dirty="0"/>
          </a:p>
        </p:txBody>
      </p:sp>
      <p:sp>
        <p:nvSpPr>
          <p:cNvPr id="56" name="Text 44"/>
          <p:cNvSpPr txBox="1"/>
          <p:nvPr/>
        </p:nvSpPr>
        <p:spPr>
          <a:xfrm>
            <a:off x="8257032" y="2578608"/>
            <a:ext cx="1097280" cy="256032"/>
          </a:xfrm>
          <a:prstGeom prst="rect">
            <a:avLst/>
          </a:prstGeom>
          <a:noFill/>
          <a:ln/>
        </p:spPr>
        <p:txBody>
          <a:bodyPr wrap="square" lIns="0" tIns="0" rIns="0" bIns="0" rtlCol="0" anchor="ctr"/>
          <a:lstStyle/>
          <a:p>
            <a:pPr marL="0" indent="0">
              <a:buNone/>
            </a:pPr>
            <a:r>
              <a:rPr lang="en-US" sz="1100" dirty="0">
                <a:solidFill>
                  <a:srgbClr val="46555F"/>
                </a:solidFill>
                <a:latin typeface="Calibri" pitchFamily="34" charset="0"/>
                <a:ea typeface="Calibri" pitchFamily="34" charset="-122"/>
                <a:cs typeface="Calibri" pitchFamily="34" charset="-120"/>
              </a:rPr>
              <a:t>Wi-Fi</a:t>
            </a:r>
            <a:endParaRPr lang="en-US" sz="1100" dirty="0"/>
          </a:p>
        </p:txBody>
      </p:sp>
      <p:sp>
        <p:nvSpPr>
          <p:cNvPr id="57" name="Shape 45"/>
          <p:cNvSpPr/>
          <p:nvPr/>
        </p:nvSpPr>
        <p:spPr>
          <a:xfrm>
            <a:off x="10088575" y="2660904"/>
            <a:ext cx="100584" cy="100584"/>
          </a:xfrm>
          <a:prstGeom prst="ellipse">
            <a:avLst/>
          </a:prstGeom>
          <a:solidFill>
            <a:srgbClr val="22A559"/>
          </a:solidFill>
          <a:ln/>
        </p:spPr>
        <p:txBody>
          <a:bodyPr/>
          <a:lstStyle/>
          <a:p>
            <a:endParaRPr lang="en-US"/>
          </a:p>
        </p:txBody>
      </p:sp>
      <p:sp>
        <p:nvSpPr>
          <p:cNvPr id="58" name="Text 46"/>
          <p:cNvSpPr txBox="1"/>
          <p:nvPr/>
        </p:nvSpPr>
        <p:spPr>
          <a:xfrm>
            <a:off x="10244023" y="2578608"/>
            <a:ext cx="1051560" cy="256032"/>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Connected</a:t>
            </a:r>
            <a:endParaRPr lang="en-US" sz="1100" dirty="0"/>
          </a:p>
        </p:txBody>
      </p:sp>
      <p:sp>
        <p:nvSpPr>
          <p:cNvPr id="59" name="Text 47"/>
          <p:cNvSpPr txBox="1"/>
          <p:nvPr/>
        </p:nvSpPr>
        <p:spPr>
          <a:xfrm>
            <a:off x="8257032" y="2871216"/>
            <a:ext cx="1097280" cy="256032"/>
          </a:xfrm>
          <a:prstGeom prst="rect">
            <a:avLst/>
          </a:prstGeom>
          <a:noFill/>
          <a:ln/>
        </p:spPr>
        <p:txBody>
          <a:bodyPr wrap="square" lIns="0" tIns="0" rIns="0" bIns="0" rtlCol="0" anchor="ctr"/>
          <a:lstStyle/>
          <a:p>
            <a:pPr marL="0" indent="0">
              <a:buNone/>
            </a:pPr>
            <a:r>
              <a:rPr lang="en-US" sz="1100" dirty="0">
                <a:solidFill>
                  <a:srgbClr val="46555F"/>
                </a:solidFill>
                <a:latin typeface="Calibri" pitchFamily="34" charset="0"/>
                <a:ea typeface="Calibri" pitchFamily="34" charset="-122"/>
                <a:cs typeface="Calibri" pitchFamily="34" charset="-120"/>
              </a:rPr>
              <a:t>MQTT</a:t>
            </a:r>
            <a:endParaRPr lang="en-US" sz="1100" dirty="0"/>
          </a:p>
        </p:txBody>
      </p:sp>
      <p:sp>
        <p:nvSpPr>
          <p:cNvPr id="60" name="Shape 48"/>
          <p:cNvSpPr/>
          <p:nvPr/>
        </p:nvSpPr>
        <p:spPr>
          <a:xfrm>
            <a:off x="10088575" y="2953512"/>
            <a:ext cx="100584" cy="100584"/>
          </a:xfrm>
          <a:prstGeom prst="ellipse">
            <a:avLst/>
          </a:prstGeom>
          <a:solidFill>
            <a:srgbClr val="22A559"/>
          </a:solidFill>
          <a:ln/>
        </p:spPr>
        <p:txBody>
          <a:bodyPr/>
          <a:lstStyle/>
          <a:p>
            <a:endParaRPr lang="en-US"/>
          </a:p>
        </p:txBody>
      </p:sp>
      <p:sp>
        <p:nvSpPr>
          <p:cNvPr id="61" name="Text 49"/>
          <p:cNvSpPr txBox="1"/>
          <p:nvPr/>
        </p:nvSpPr>
        <p:spPr>
          <a:xfrm>
            <a:off x="10244023" y="2871216"/>
            <a:ext cx="1051560" cy="256032"/>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Connected</a:t>
            </a:r>
            <a:endParaRPr lang="en-US" sz="1100" dirty="0"/>
          </a:p>
        </p:txBody>
      </p:sp>
      <p:sp>
        <p:nvSpPr>
          <p:cNvPr id="62" name="Text 50"/>
          <p:cNvSpPr txBox="1"/>
          <p:nvPr/>
        </p:nvSpPr>
        <p:spPr>
          <a:xfrm>
            <a:off x="8257032" y="3163824"/>
            <a:ext cx="1097280" cy="256032"/>
          </a:xfrm>
          <a:prstGeom prst="rect">
            <a:avLst/>
          </a:prstGeom>
          <a:noFill/>
          <a:ln/>
        </p:spPr>
        <p:txBody>
          <a:bodyPr wrap="square" lIns="0" tIns="0" rIns="0" bIns="0" rtlCol="0" anchor="ctr"/>
          <a:lstStyle/>
          <a:p>
            <a:pPr marL="0" indent="0">
              <a:buNone/>
            </a:pPr>
            <a:r>
              <a:rPr lang="en-US" sz="1100" dirty="0">
                <a:solidFill>
                  <a:srgbClr val="46555F"/>
                </a:solidFill>
                <a:latin typeface="Calibri" pitchFamily="34" charset="0"/>
                <a:ea typeface="Calibri" pitchFamily="34" charset="-122"/>
                <a:cs typeface="Calibri" pitchFamily="34" charset="-120"/>
              </a:rPr>
              <a:t>Priority</a:t>
            </a:r>
            <a:endParaRPr lang="en-US" sz="1100" dirty="0"/>
          </a:p>
        </p:txBody>
      </p:sp>
      <p:sp>
        <p:nvSpPr>
          <p:cNvPr id="63" name="Shape 51"/>
          <p:cNvSpPr/>
          <p:nvPr/>
        </p:nvSpPr>
        <p:spPr>
          <a:xfrm>
            <a:off x="10088575" y="3246120"/>
            <a:ext cx="100584" cy="100584"/>
          </a:xfrm>
          <a:prstGeom prst="ellipse">
            <a:avLst/>
          </a:prstGeom>
          <a:solidFill>
            <a:srgbClr val="22A559"/>
          </a:solidFill>
          <a:ln/>
        </p:spPr>
        <p:txBody>
          <a:bodyPr/>
          <a:lstStyle/>
          <a:p>
            <a:endParaRPr lang="en-US"/>
          </a:p>
        </p:txBody>
      </p:sp>
      <p:sp>
        <p:nvSpPr>
          <p:cNvPr id="64" name="Text 52"/>
          <p:cNvSpPr txBox="1"/>
          <p:nvPr/>
        </p:nvSpPr>
        <p:spPr>
          <a:xfrm>
            <a:off x="10244023" y="3163824"/>
            <a:ext cx="1051560" cy="256032"/>
          </a:xfrm>
          <a:prstGeom prst="rect">
            <a:avLst/>
          </a:prstGeom>
          <a:noFill/>
          <a:ln/>
        </p:spPr>
        <p:txBody>
          <a:bodyPr wrap="square" lIns="0" tIns="0" rIns="0" bIns="0" rtlCol="0" anchor="ctr"/>
          <a:lstStyle/>
          <a:p>
            <a:pPr marL="0" indent="0">
              <a:buNone/>
            </a:pPr>
            <a:r>
              <a:rPr lang="en-US" sz="1100" b="1" dirty="0">
                <a:solidFill>
                  <a:srgbClr val="0F1B2D"/>
                </a:solidFill>
                <a:latin typeface="Calibri" pitchFamily="34" charset="0"/>
                <a:ea typeface="Calibri" pitchFamily="34" charset="-122"/>
                <a:cs typeface="Calibri" pitchFamily="34" charset="-120"/>
              </a:rPr>
              <a:t>Normal</a:t>
            </a:r>
            <a:endParaRPr lang="en-US" sz="1100" dirty="0"/>
          </a:p>
        </p:txBody>
      </p:sp>
      <p:sp>
        <p:nvSpPr>
          <p:cNvPr id="65" name="Shape 53"/>
          <p:cNvSpPr/>
          <p:nvPr/>
        </p:nvSpPr>
        <p:spPr>
          <a:xfrm>
            <a:off x="2560320" y="3675888"/>
            <a:ext cx="5349240" cy="1298448"/>
          </a:xfrm>
          <a:prstGeom prst="roundRect">
            <a:avLst>
              <a:gd name="adj" fmla="val 7042"/>
            </a:avLst>
          </a:prstGeom>
          <a:solidFill>
            <a:srgbClr val="FFFFFF"/>
          </a:solidFill>
          <a:ln w="9525">
            <a:solidFill>
              <a:srgbClr val="E3EAE5"/>
            </a:solidFill>
            <a:prstDash val="solid"/>
          </a:ln>
        </p:spPr>
        <p:txBody>
          <a:bodyPr/>
          <a:lstStyle/>
          <a:p>
            <a:endParaRPr lang="en-US"/>
          </a:p>
        </p:txBody>
      </p:sp>
      <p:pic>
        <p:nvPicPr>
          <p:cNvPr id="66" name="Image 10" descr="preencoded.png"/>
          <p:cNvPicPr>
            <a:picLocks noChangeAspect="1"/>
          </p:cNvPicPr>
          <p:nvPr/>
        </p:nvPicPr>
        <p:blipFill>
          <a:blip r:embed="rId12"/>
          <a:stretch>
            <a:fillRect/>
          </a:stretch>
        </p:blipFill>
        <p:spPr>
          <a:xfrm>
            <a:off x="2706624" y="3803904"/>
            <a:ext cx="182880" cy="182880"/>
          </a:xfrm>
          <a:prstGeom prst="rect">
            <a:avLst/>
          </a:prstGeom>
        </p:spPr>
      </p:pic>
      <p:sp>
        <p:nvSpPr>
          <p:cNvPr id="67" name="Text 54"/>
          <p:cNvSpPr txBox="1"/>
          <p:nvPr/>
        </p:nvSpPr>
        <p:spPr>
          <a:xfrm>
            <a:off x="2962656" y="3767328"/>
            <a:ext cx="4800600" cy="256032"/>
          </a:xfrm>
          <a:prstGeom prst="rect">
            <a:avLst/>
          </a:prstGeom>
          <a:noFill/>
          <a:ln/>
        </p:spPr>
        <p:txBody>
          <a:bodyPr wrap="square" lIns="0" tIns="0" rIns="0" bIns="0" rtlCol="0" anchor="ctr"/>
          <a:lstStyle/>
          <a:p>
            <a:pPr marL="0" indent="0">
              <a:buNone/>
            </a:pPr>
            <a:r>
              <a:rPr lang="en-US" sz="950" b="1" kern="0" spc="150" dirty="0">
                <a:solidFill>
                  <a:srgbClr val="7A8A94"/>
                </a:solidFill>
                <a:latin typeface="Calibri" pitchFamily="34" charset="0"/>
                <a:ea typeface="Calibri" pitchFamily="34" charset="-122"/>
                <a:cs typeface="Calibri" pitchFamily="34" charset="-120"/>
              </a:rPr>
              <a:t>AI CARE</a:t>
            </a:r>
            <a:endParaRPr lang="en-US" sz="950" dirty="0"/>
          </a:p>
        </p:txBody>
      </p:sp>
      <p:sp>
        <p:nvSpPr>
          <p:cNvPr id="68" name="Shape 55"/>
          <p:cNvSpPr/>
          <p:nvPr/>
        </p:nvSpPr>
        <p:spPr>
          <a:xfrm>
            <a:off x="2706624" y="4087368"/>
            <a:ext cx="2514600" cy="749808"/>
          </a:xfrm>
          <a:prstGeom prst="roundRect">
            <a:avLst>
              <a:gd name="adj" fmla="val 9756"/>
            </a:avLst>
          </a:prstGeom>
          <a:solidFill>
            <a:srgbClr val="EEF8F1"/>
          </a:solidFill>
          <a:ln/>
        </p:spPr>
        <p:txBody>
          <a:bodyPr/>
          <a:lstStyle/>
          <a:p>
            <a:endParaRPr lang="en-US"/>
          </a:p>
        </p:txBody>
      </p:sp>
      <p:sp>
        <p:nvSpPr>
          <p:cNvPr id="69" name="Text 56"/>
          <p:cNvSpPr txBox="1"/>
          <p:nvPr/>
        </p:nvSpPr>
        <p:spPr>
          <a:xfrm>
            <a:off x="2816352" y="4133088"/>
            <a:ext cx="2331720" cy="658368"/>
          </a:xfrm>
          <a:prstGeom prst="rect">
            <a:avLst/>
          </a:prstGeom>
          <a:noFill/>
          <a:ln/>
        </p:spPr>
        <p:txBody>
          <a:bodyPr wrap="square" lIns="0" tIns="0" rIns="0" bIns="0" rtlCol="0" anchor="ctr"/>
          <a:lstStyle/>
          <a:p>
            <a:pPr marL="0" indent="0">
              <a:buNone/>
            </a:pPr>
            <a:r>
              <a:rPr lang="en-US" sz="950" b="1" dirty="0">
                <a:solidFill>
                  <a:srgbClr val="14532D"/>
                </a:solidFill>
                <a:latin typeface="Calibri" pitchFamily="34" charset="0"/>
                <a:ea typeface="Calibri" pitchFamily="34" charset="-122"/>
                <a:cs typeface="Calibri" pitchFamily="34" charset="-120"/>
              </a:rPr>
              <a:t>Care tip</a:t>
            </a:r>
            <a:endParaRPr lang="en-US" sz="950" dirty="0"/>
          </a:p>
          <a:p>
            <a:pPr marL="0" indent="0">
              <a:buNone/>
            </a:pPr>
            <a:r>
              <a:rPr lang="en-US" sz="1050" dirty="0">
                <a:solidFill>
                  <a:srgbClr val="0F1B2D"/>
                </a:solidFill>
                <a:latin typeface="Calibri" pitchFamily="34" charset="0"/>
                <a:ea typeface="Calibri" pitchFamily="34" charset="-122"/>
                <a:cs typeface="Calibri" pitchFamily="34" charset="-120"/>
              </a:rPr>
              <a:t>Monitor the soil moisture before the next watering.</a:t>
            </a:r>
            <a:endParaRPr lang="en-US" sz="950" dirty="0"/>
          </a:p>
        </p:txBody>
      </p:sp>
      <p:sp>
        <p:nvSpPr>
          <p:cNvPr id="70" name="Shape 57"/>
          <p:cNvSpPr/>
          <p:nvPr/>
        </p:nvSpPr>
        <p:spPr>
          <a:xfrm>
            <a:off x="5330952" y="4087368"/>
            <a:ext cx="2432304" cy="749808"/>
          </a:xfrm>
          <a:prstGeom prst="roundRect">
            <a:avLst>
              <a:gd name="adj" fmla="val 9756"/>
            </a:avLst>
          </a:prstGeom>
          <a:solidFill>
            <a:srgbClr val="F4F1FA"/>
          </a:solidFill>
          <a:ln/>
        </p:spPr>
        <p:txBody>
          <a:bodyPr/>
          <a:lstStyle/>
          <a:p>
            <a:endParaRPr lang="en-US"/>
          </a:p>
        </p:txBody>
      </p:sp>
      <p:sp>
        <p:nvSpPr>
          <p:cNvPr id="71" name="Text 58"/>
          <p:cNvSpPr txBox="1"/>
          <p:nvPr/>
        </p:nvSpPr>
        <p:spPr>
          <a:xfrm>
            <a:off x="5440680" y="4133088"/>
            <a:ext cx="2240280" cy="658368"/>
          </a:xfrm>
          <a:prstGeom prst="rect">
            <a:avLst/>
          </a:prstGeom>
          <a:noFill/>
          <a:ln/>
        </p:spPr>
        <p:txBody>
          <a:bodyPr wrap="square" lIns="0" tIns="0" rIns="0" bIns="0" rtlCol="0" anchor="ctr"/>
          <a:lstStyle/>
          <a:p>
            <a:pPr marL="0" indent="0">
              <a:buNone/>
            </a:pPr>
            <a:r>
              <a:rPr lang="en-US" sz="950" b="1" dirty="0">
                <a:solidFill>
                  <a:srgbClr val="5B4A8A"/>
                </a:solidFill>
                <a:latin typeface="Calibri" pitchFamily="34" charset="0"/>
                <a:ea typeface="Calibri" pitchFamily="34" charset="-122"/>
                <a:cs typeface="Calibri" pitchFamily="34" charset="-120"/>
              </a:rPr>
              <a:t>Generated quote</a:t>
            </a:r>
            <a:endParaRPr lang="en-US" sz="950" dirty="0"/>
          </a:p>
          <a:p>
            <a:pPr marL="0" indent="0">
              <a:buNone/>
            </a:pPr>
            <a:r>
              <a:rPr lang="en-US" sz="1050" i="1" dirty="0">
                <a:solidFill>
                  <a:srgbClr val="0F1B2D"/>
                </a:solidFill>
                <a:latin typeface="Calibri" pitchFamily="34" charset="0"/>
                <a:ea typeface="Calibri" pitchFamily="34" charset="-122"/>
                <a:cs typeface="Calibri" pitchFamily="34" charset="-120"/>
              </a:rPr>
              <a:t>“Every leaf tells a story of the care it receives.”</a:t>
            </a:r>
            <a:endParaRPr lang="en-US" sz="950" dirty="0"/>
          </a:p>
        </p:txBody>
      </p:sp>
      <p:sp>
        <p:nvSpPr>
          <p:cNvPr id="72" name="Shape 59"/>
          <p:cNvSpPr/>
          <p:nvPr/>
        </p:nvSpPr>
        <p:spPr>
          <a:xfrm>
            <a:off x="8074152" y="3675888"/>
            <a:ext cx="3340303" cy="1298448"/>
          </a:xfrm>
          <a:prstGeom prst="roundRect">
            <a:avLst>
              <a:gd name="adj" fmla="val 7042"/>
            </a:avLst>
          </a:prstGeom>
          <a:solidFill>
            <a:srgbClr val="FFFFFF"/>
          </a:solidFill>
          <a:ln w="9525">
            <a:solidFill>
              <a:srgbClr val="E3EAE5"/>
            </a:solidFill>
            <a:prstDash val="solid"/>
          </a:ln>
        </p:spPr>
        <p:txBody>
          <a:bodyPr/>
          <a:lstStyle/>
          <a:p>
            <a:endParaRPr lang="en-US"/>
          </a:p>
        </p:txBody>
      </p:sp>
      <p:pic>
        <p:nvPicPr>
          <p:cNvPr id="73" name="Image 11" descr="preencoded.png"/>
          <p:cNvPicPr>
            <a:picLocks noChangeAspect="1"/>
          </p:cNvPicPr>
          <p:nvPr/>
        </p:nvPicPr>
        <p:blipFill>
          <a:blip r:embed="rId13"/>
          <a:stretch>
            <a:fillRect/>
          </a:stretch>
        </p:blipFill>
        <p:spPr>
          <a:xfrm>
            <a:off x="8220456" y="3803904"/>
            <a:ext cx="182880" cy="182880"/>
          </a:xfrm>
          <a:prstGeom prst="rect">
            <a:avLst/>
          </a:prstGeom>
        </p:spPr>
      </p:pic>
      <p:sp>
        <p:nvSpPr>
          <p:cNvPr id="74" name="Text 60"/>
          <p:cNvSpPr txBox="1"/>
          <p:nvPr/>
        </p:nvSpPr>
        <p:spPr>
          <a:xfrm>
            <a:off x="8476488" y="3767328"/>
            <a:ext cx="2791663" cy="256032"/>
          </a:xfrm>
          <a:prstGeom prst="rect">
            <a:avLst/>
          </a:prstGeom>
          <a:noFill/>
          <a:ln/>
        </p:spPr>
        <p:txBody>
          <a:bodyPr wrap="square" lIns="0" tIns="0" rIns="0" bIns="0" rtlCol="0" anchor="ctr"/>
          <a:lstStyle/>
          <a:p>
            <a:pPr marL="0" indent="0">
              <a:buNone/>
            </a:pPr>
            <a:r>
              <a:rPr lang="en-US" sz="950" b="1" kern="0" spc="150" dirty="0">
                <a:solidFill>
                  <a:srgbClr val="7A8A94"/>
                </a:solidFill>
                <a:latin typeface="Calibri" pitchFamily="34" charset="0"/>
                <a:ea typeface="Calibri" pitchFamily="34" charset="-122"/>
                <a:cs typeface="Calibri" pitchFamily="34" charset="-120"/>
              </a:rPr>
              <a:t>CONTEXT</a:t>
            </a:r>
            <a:endParaRPr lang="en-US" sz="950" dirty="0"/>
          </a:p>
        </p:txBody>
      </p:sp>
      <p:sp>
        <p:nvSpPr>
          <p:cNvPr id="75" name="Text 61"/>
          <p:cNvSpPr txBox="1"/>
          <p:nvPr/>
        </p:nvSpPr>
        <p:spPr>
          <a:xfrm>
            <a:off x="8257032" y="4114800"/>
            <a:ext cx="3020263" cy="731520"/>
          </a:xfrm>
          <a:prstGeom prst="rect">
            <a:avLst/>
          </a:prstGeom>
          <a:noFill/>
          <a:ln/>
        </p:spPr>
        <p:txBody>
          <a:bodyPr wrap="square" lIns="0" tIns="0" rIns="0" bIns="0" rtlCol="0" anchor="ctr"/>
          <a:lstStyle/>
          <a:p>
            <a:pPr marL="0" indent="0">
              <a:spcAft>
                <a:spcPts val="600"/>
              </a:spcAft>
              <a:buNone/>
            </a:pPr>
            <a:r>
              <a:rPr lang="en-US" sz="1050" b="1" dirty="0">
                <a:solidFill>
                  <a:srgbClr val="0F1B2D"/>
                </a:solidFill>
                <a:latin typeface="Calibri" pitchFamily="34" charset="0"/>
                <a:ea typeface="Calibri" pitchFamily="34" charset="-122"/>
                <a:cs typeface="Calibri" pitchFamily="34" charset="-120"/>
              </a:rPr>
              <a:t>Weather  </a:t>
            </a:r>
            <a:r>
              <a:rPr lang="en-US" sz="1050" dirty="0">
                <a:solidFill>
                  <a:srgbClr val="46555F"/>
                </a:solidFill>
                <a:latin typeface="Calibri" pitchFamily="34" charset="0"/>
                <a:ea typeface="Calibri" pitchFamily="34" charset="-122"/>
                <a:cs typeface="Calibri" pitchFamily="34" charset="-120"/>
              </a:rPr>
              <a:t>Summary of current conditions</a:t>
            </a:r>
            <a:endParaRPr lang="en-US" sz="1050" dirty="0"/>
          </a:p>
          <a:p>
            <a:pPr marL="0" indent="0">
              <a:spcAft>
                <a:spcPts val="600"/>
              </a:spcAft>
              <a:buNone/>
            </a:pPr>
            <a:r>
              <a:rPr lang="en-US" sz="1050" b="1" dirty="0">
                <a:solidFill>
                  <a:srgbClr val="0F1B2D"/>
                </a:solidFill>
                <a:latin typeface="Calibri" pitchFamily="34" charset="0"/>
                <a:ea typeface="Calibri" pitchFamily="34" charset="-122"/>
                <a:cs typeface="Calibri" pitchFamily="34" charset="-120"/>
              </a:rPr>
              <a:t>Notifications  </a:t>
            </a:r>
            <a:r>
              <a:rPr lang="en-US" sz="1050" dirty="0">
                <a:solidFill>
                  <a:srgbClr val="46555F"/>
                </a:solidFill>
                <a:latin typeface="Calibri" pitchFamily="34" charset="0"/>
                <a:ea typeface="Calibri" pitchFamily="34" charset="-122"/>
                <a:cs typeface="Calibri" pitchFamily="34" charset="-120"/>
              </a:rPr>
              <a:t>Relevant reminders summarised</a:t>
            </a:r>
            <a:endParaRPr lang="en-US" sz="1050" dirty="0"/>
          </a:p>
        </p:txBody>
      </p:sp>
      <p:sp>
        <p:nvSpPr>
          <p:cNvPr id="76" name="Shape 62"/>
          <p:cNvSpPr/>
          <p:nvPr/>
        </p:nvSpPr>
        <p:spPr>
          <a:xfrm>
            <a:off x="2560320" y="5138928"/>
            <a:ext cx="8854135" cy="896112"/>
          </a:xfrm>
          <a:prstGeom prst="roundRect">
            <a:avLst>
              <a:gd name="adj" fmla="val 10204"/>
            </a:avLst>
          </a:prstGeom>
          <a:solidFill>
            <a:srgbClr val="FFFFFF"/>
          </a:solidFill>
          <a:ln w="9525">
            <a:solidFill>
              <a:srgbClr val="E3EAE5"/>
            </a:solidFill>
            <a:prstDash val="solid"/>
          </a:ln>
        </p:spPr>
        <p:txBody>
          <a:bodyPr/>
          <a:lstStyle/>
          <a:p>
            <a:endParaRPr lang="en-US"/>
          </a:p>
        </p:txBody>
      </p:sp>
      <p:pic>
        <p:nvPicPr>
          <p:cNvPr id="77" name="Image 12" descr="preencoded.png"/>
          <p:cNvPicPr>
            <a:picLocks noChangeAspect="1"/>
          </p:cNvPicPr>
          <p:nvPr/>
        </p:nvPicPr>
        <p:blipFill>
          <a:blip r:embed="rId14"/>
          <a:stretch>
            <a:fillRect/>
          </a:stretch>
        </p:blipFill>
        <p:spPr>
          <a:xfrm>
            <a:off x="2706624" y="5266944"/>
            <a:ext cx="182880" cy="182880"/>
          </a:xfrm>
          <a:prstGeom prst="rect">
            <a:avLst/>
          </a:prstGeom>
        </p:spPr>
      </p:pic>
      <p:sp>
        <p:nvSpPr>
          <p:cNvPr id="78" name="Text 63"/>
          <p:cNvSpPr txBox="1"/>
          <p:nvPr/>
        </p:nvSpPr>
        <p:spPr>
          <a:xfrm>
            <a:off x="2962656" y="5230368"/>
            <a:ext cx="8305495" cy="256032"/>
          </a:xfrm>
          <a:prstGeom prst="rect">
            <a:avLst/>
          </a:prstGeom>
          <a:noFill/>
          <a:ln/>
        </p:spPr>
        <p:txBody>
          <a:bodyPr wrap="square" lIns="0" tIns="0" rIns="0" bIns="0" rtlCol="0" anchor="ctr"/>
          <a:lstStyle/>
          <a:p>
            <a:pPr marL="0" indent="0">
              <a:buNone/>
            </a:pPr>
            <a:r>
              <a:rPr lang="en-US" sz="950" b="1" kern="0" spc="150" dirty="0">
                <a:solidFill>
                  <a:srgbClr val="7A8A94"/>
                </a:solidFill>
                <a:latin typeface="Calibri" pitchFamily="34" charset="0"/>
                <a:ea typeface="Calibri" pitchFamily="34" charset="-122"/>
                <a:cs typeface="Calibri" pitchFamily="34" charset="-120"/>
              </a:rPr>
              <a:t>SYSTEM</a:t>
            </a:r>
            <a:endParaRPr lang="en-US" sz="950" dirty="0"/>
          </a:p>
        </p:txBody>
      </p:sp>
      <p:sp>
        <p:nvSpPr>
          <p:cNvPr id="79" name="Text 64"/>
          <p:cNvSpPr txBox="1"/>
          <p:nvPr/>
        </p:nvSpPr>
        <p:spPr>
          <a:xfrm>
            <a:off x="2743200" y="5541264"/>
            <a:ext cx="2048942" cy="201168"/>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MQTT topic</a:t>
            </a:r>
            <a:endParaRPr lang="en-US" sz="950" dirty="0"/>
          </a:p>
        </p:txBody>
      </p:sp>
      <p:sp>
        <p:nvSpPr>
          <p:cNvPr id="80" name="Text 65"/>
          <p:cNvSpPr txBox="1"/>
          <p:nvPr/>
        </p:nvSpPr>
        <p:spPr>
          <a:xfrm>
            <a:off x="2743200" y="5742432"/>
            <a:ext cx="2048942" cy="274320"/>
          </a:xfrm>
          <a:prstGeom prst="rect">
            <a:avLst/>
          </a:prstGeom>
          <a:noFill/>
          <a:ln/>
        </p:spPr>
        <p:txBody>
          <a:bodyPr wrap="square" lIns="0" tIns="0" rIns="0" bIns="0" rtlCol="0" anchor="ct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greenpulse/sensors</a:t>
            </a:r>
            <a:endParaRPr lang="en-US" sz="1050" dirty="0"/>
          </a:p>
        </p:txBody>
      </p:sp>
      <p:sp>
        <p:nvSpPr>
          <p:cNvPr id="81" name="Text 66"/>
          <p:cNvSpPr txBox="1"/>
          <p:nvPr/>
        </p:nvSpPr>
        <p:spPr>
          <a:xfrm>
            <a:off x="4883582" y="5541264"/>
            <a:ext cx="2048942" cy="201168"/>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Last message</a:t>
            </a:r>
            <a:endParaRPr lang="en-US" sz="950" dirty="0"/>
          </a:p>
        </p:txBody>
      </p:sp>
      <p:sp>
        <p:nvSpPr>
          <p:cNvPr id="82" name="Text 67"/>
          <p:cNvSpPr txBox="1"/>
          <p:nvPr/>
        </p:nvSpPr>
        <p:spPr>
          <a:xfrm>
            <a:off x="4883582" y="5742432"/>
            <a:ext cx="2048942" cy="274320"/>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10:30:00 UTC</a:t>
            </a:r>
            <a:endParaRPr lang="en-US" sz="1150" dirty="0"/>
          </a:p>
        </p:txBody>
      </p:sp>
      <p:sp>
        <p:nvSpPr>
          <p:cNvPr id="83" name="Text 68"/>
          <p:cNvSpPr txBox="1"/>
          <p:nvPr/>
        </p:nvSpPr>
        <p:spPr>
          <a:xfrm>
            <a:off x="7023964" y="5541264"/>
            <a:ext cx="2048942" cy="201168"/>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LLM input</a:t>
            </a:r>
            <a:endParaRPr lang="en-US" sz="950" dirty="0"/>
          </a:p>
        </p:txBody>
      </p:sp>
      <p:sp>
        <p:nvSpPr>
          <p:cNvPr id="84" name="Text 69"/>
          <p:cNvSpPr txBox="1"/>
          <p:nvPr/>
        </p:nvSpPr>
        <p:spPr>
          <a:xfrm>
            <a:off x="7023964" y="5742432"/>
            <a:ext cx="2048942" cy="274320"/>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Structured · ready</a:t>
            </a:r>
            <a:endParaRPr lang="en-US" sz="1150" dirty="0"/>
          </a:p>
        </p:txBody>
      </p:sp>
      <p:sp>
        <p:nvSpPr>
          <p:cNvPr id="85" name="Text 70"/>
          <p:cNvSpPr txBox="1"/>
          <p:nvPr/>
        </p:nvSpPr>
        <p:spPr>
          <a:xfrm>
            <a:off x="9164345" y="5541264"/>
            <a:ext cx="2048942" cy="201168"/>
          </a:xfrm>
          <a:prstGeom prst="rect">
            <a:avLst/>
          </a:prstGeom>
          <a:noFill/>
          <a:ln/>
        </p:spPr>
        <p:txBody>
          <a:bodyPr wrap="square" lIns="0" tIns="0" rIns="0" bIns="0" rtlCol="0" anchor="t"/>
          <a:lstStyle/>
          <a:p>
            <a:pPr marL="0" indent="0">
              <a:buNone/>
            </a:pPr>
            <a:r>
              <a:rPr lang="en-US" sz="950" dirty="0">
                <a:solidFill>
                  <a:srgbClr val="7A8A94"/>
                </a:solidFill>
                <a:latin typeface="Calibri" pitchFamily="34" charset="0"/>
                <a:ea typeface="Calibri" pitchFamily="34" charset="-122"/>
                <a:cs typeface="Calibri" pitchFamily="34" charset="-120"/>
              </a:rPr>
              <a:t>LLM output</a:t>
            </a:r>
            <a:endParaRPr lang="en-US" sz="950" dirty="0"/>
          </a:p>
        </p:txBody>
      </p:sp>
      <p:sp>
        <p:nvSpPr>
          <p:cNvPr id="86" name="Text 71"/>
          <p:cNvSpPr txBox="1"/>
          <p:nvPr/>
        </p:nvSpPr>
        <p:spPr>
          <a:xfrm>
            <a:off x="9164345" y="5742432"/>
            <a:ext cx="2048942" cy="274320"/>
          </a:xfrm>
          <a:prstGeom prst="rect">
            <a:avLst/>
          </a:prstGeom>
          <a:noFill/>
          <a:ln/>
        </p:spPr>
        <p:txBody>
          <a:bodyPr wrap="square" lIns="0" tIns="0" rIns="0" bIns="0" rtlCol="0" anchor="ctr"/>
          <a:lstStyle/>
          <a:p>
            <a:pPr marL="0" indent="0">
              <a:buNone/>
            </a:pPr>
            <a:r>
              <a:rPr lang="en-US" sz="1150" b="1" dirty="0">
                <a:solidFill>
                  <a:srgbClr val="0F1B2D"/>
                </a:solidFill>
                <a:latin typeface="Calibri" pitchFamily="34" charset="0"/>
                <a:ea typeface="Calibri" pitchFamily="34" charset="-122"/>
                <a:cs typeface="Calibri" pitchFamily="34" charset="-120"/>
              </a:rPr>
              <a:t>Validated JSON</a:t>
            </a:r>
            <a:endParaRPr lang="en-US" sz="1150" dirty="0"/>
          </a:p>
        </p:txBody>
      </p:sp>
      <p:sp>
        <p:nvSpPr>
          <p:cNvPr id="87" name="Text 72"/>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88" name="Text 73"/>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08</a:t>
            </a:r>
            <a:endParaRPr lang="en-US" sz="900" dirty="0"/>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09  ·  IMPLEMENTATION, TESTING &amp; TEAM</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Built Incrementally, Tested End-to-End</a:t>
            </a:r>
            <a:endParaRPr lang="en-US" sz="2800" dirty="0"/>
          </a:p>
        </p:txBody>
      </p:sp>
      <p:sp>
        <p:nvSpPr>
          <p:cNvPr id="7" name="Text 4"/>
          <p:cNvSpPr txBox="1"/>
          <p:nvPr/>
        </p:nvSpPr>
        <p:spPr>
          <a:xfrm>
            <a:off x="548640" y="1444752"/>
            <a:ext cx="7315200" cy="219456"/>
          </a:xfrm>
          <a:prstGeom prst="rect">
            <a:avLst/>
          </a:prstGeom>
          <a:noFill/>
          <a:ln/>
        </p:spPr>
        <p:txBody>
          <a:bodyPr wrap="square" lIns="0" tIns="0" rIns="0" bIns="0" rtlCol="0" anchor="t"/>
          <a:lstStyle/>
          <a:p>
            <a:pPr marL="0" indent="0">
              <a:buNone/>
            </a:pPr>
            <a:r>
              <a:rPr lang="en-US" sz="1000" b="1" kern="0" spc="150" dirty="0">
                <a:solidFill>
                  <a:srgbClr val="2E9E5B"/>
                </a:solidFill>
                <a:latin typeface="Calibri" pitchFamily="34" charset="0"/>
                <a:ea typeface="Calibri" pitchFamily="34" charset="-122"/>
                <a:cs typeface="Calibri" pitchFamily="34" charset="-120"/>
              </a:rPr>
              <a:t>A  ·  SIX-PHASE INCREMENTAL METHODOLOGY</a:t>
            </a:r>
            <a:endParaRPr lang="en-US" sz="1000" dirty="0"/>
          </a:p>
        </p:txBody>
      </p:sp>
      <p:sp>
        <p:nvSpPr>
          <p:cNvPr id="8" name="Shape 5"/>
          <p:cNvSpPr/>
          <p:nvPr/>
        </p:nvSpPr>
        <p:spPr>
          <a:xfrm>
            <a:off x="548640" y="1719072"/>
            <a:ext cx="1691640" cy="566928"/>
          </a:xfrm>
          <a:prstGeom prst="homePlate">
            <a:avLst/>
          </a:prstGeom>
          <a:solidFill>
            <a:srgbClr val="1E7A46"/>
          </a:solidFill>
          <a:ln w="19050">
            <a:solidFill>
              <a:srgbClr val="FFFFFF"/>
            </a:solidFill>
            <a:prstDash val="solid"/>
          </a:ln>
        </p:spPr>
        <p:txBody>
          <a:bodyPr/>
          <a:lstStyle/>
          <a:p>
            <a:endParaRPr lang="en-US"/>
          </a:p>
        </p:txBody>
      </p:sp>
      <p:sp>
        <p:nvSpPr>
          <p:cNvPr id="9" name="Text 6"/>
          <p:cNvSpPr txBox="1"/>
          <p:nvPr/>
        </p:nvSpPr>
        <p:spPr>
          <a:xfrm>
            <a:off x="685800" y="1719072"/>
            <a:ext cx="1280160" cy="566928"/>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1  </a:t>
            </a:r>
            <a:r>
              <a:rPr lang="en-US" sz="1200" b="1" dirty="0">
                <a:solidFill>
                  <a:srgbClr val="FFFFFF"/>
                </a:solidFill>
                <a:latin typeface="Calibri" pitchFamily="34" charset="0"/>
                <a:ea typeface="Calibri" pitchFamily="34" charset="-122"/>
                <a:cs typeface="Calibri" pitchFamily="34" charset="-120"/>
              </a:rPr>
              <a:t>Hardware</a:t>
            </a:r>
            <a:endParaRPr lang="en-US" sz="1200" dirty="0"/>
          </a:p>
        </p:txBody>
      </p:sp>
      <p:sp>
        <p:nvSpPr>
          <p:cNvPr id="10" name="Shape 7"/>
          <p:cNvSpPr/>
          <p:nvPr/>
        </p:nvSpPr>
        <p:spPr>
          <a:xfrm>
            <a:off x="2011680" y="1719072"/>
            <a:ext cx="1691640" cy="566928"/>
          </a:xfrm>
          <a:prstGeom prst="chevron">
            <a:avLst/>
          </a:prstGeom>
          <a:solidFill>
            <a:srgbClr val="1E7A46"/>
          </a:solidFill>
          <a:ln w="19050">
            <a:solidFill>
              <a:srgbClr val="FFFFFF"/>
            </a:solidFill>
            <a:prstDash val="solid"/>
          </a:ln>
        </p:spPr>
        <p:txBody>
          <a:bodyPr/>
          <a:lstStyle/>
          <a:p>
            <a:endParaRPr lang="en-US"/>
          </a:p>
        </p:txBody>
      </p:sp>
      <p:sp>
        <p:nvSpPr>
          <p:cNvPr id="11" name="Text 8"/>
          <p:cNvSpPr txBox="1"/>
          <p:nvPr/>
        </p:nvSpPr>
        <p:spPr>
          <a:xfrm>
            <a:off x="2331720" y="1719072"/>
            <a:ext cx="1143000" cy="566928"/>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2  </a:t>
            </a:r>
            <a:r>
              <a:rPr lang="en-US" sz="1200" b="1" dirty="0">
                <a:solidFill>
                  <a:srgbClr val="FFFFFF"/>
                </a:solidFill>
                <a:latin typeface="Calibri" pitchFamily="34" charset="0"/>
                <a:ea typeface="Calibri" pitchFamily="34" charset="-122"/>
                <a:cs typeface="Calibri" pitchFamily="34" charset="-120"/>
              </a:rPr>
              <a:t>Firmware</a:t>
            </a:r>
            <a:endParaRPr lang="en-US" sz="1200" dirty="0"/>
          </a:p>
        </p:txBody>
      </p:sp>
      <p:sp>
        <p:nvSpPr>
          <p:cNvPr id="12" name="Shape 9"/>
          <p:cNvSpPr/>
          <p:nvPr/>
        </p:nvSpPr>
        <p:spPr>
          <a:xfrm>
            <a:off x="3474720" y="1719072"/>
            <a:ext cx="1783080" cy="566928"/>
          </a:xfrm>
          <a:prstGeom prst="chevron">
            <a:avLst/>
          </a:prstGeom>
          <a:solidFill>
            <a:srgbClr val="0F766E"/>
          </a:solidFill>
          <a:ln w="19050">
            <a:solidFill>
              <a:srgbClr val="FFFFFF"/>
            </a:solidFill>
            <a:prstDash val="solid"/>
          </a:ln>
        </p:spPr>
        <p:txBody>
          <a:bodyPr/>
          <a:lstStyle/>
          <a:p>
            <a:endParaRPr lang="en-US"/>
          </a:p>
        </p:txBody>
      </p:sp>
      <p:sp>
        <p:nvSpPr>
          <p:cNvPr id="13" name="Text 10"/>
          <p:cNvSpPr txBox="1"/>
          <p:nvPr/>
        </p:nvSpPr>
        <p:spPr>
          <a:xfrm>
            <a:off x="3794760" y="1719072"/>
            <a:ext cx="1234440" cy="566928"/>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3  </a:t>
            </a:r>
            <a:r>
              <a:rPr lang="en-US" sz="1200" b="1" dirty="0">
                <a:solidFill>
                  <a:srgbClr val="FFFFFF"/>
                </a:solidFill>
                <a:latin typeface="Calibri" pitchFamily="34" charset="0"/>
                <a:ea typeface="Calibri" pitchFamily="34" charset="-122"/>
                <a:cs typeface="Calibri" pitchFamily="34" charset="-120"/>
              </a:rPr>
              <a:t>Secure MQTT</a:t>
            </a:r>
            <a:endParaRPr lang="en-US" sz="1200" dirty="0"/>
          </a:p>
        </p:txBody>
      </p:sp>
      <p:sp>
        <p:nvSpPr>
          <p:cNvPr id="14" name="Shape 11"/>
          <p:cNvSpPr/>
          <p:nvPr/>
        </p:nvSpPr>
        <p:spPr>
          <a:xfrm>
            <a:off x="5029200" y="1719072"/>
            <a:ext cx="1783080" cy="566928"/>
          </a:xfrm>
          <a:prstGeom prst="chevron">
            <a:avLst/>
          </a:prstGeom>
          <a:solidFill>
            <a:srgbClr val="1E3A5F"/>
          </a:solidFill>
          <a:ln w="19050">
            <a:solidFill>
              <a:srgbClr val="FFFFFF"/>
            </a:solidFill>
            <a:prstDash val="solid"/>
          </a:ln>
        </p:spPr>
        <p:txBody>
          <a:bodyPr/>
          <a:lstStyle/>
          <a:p>
            <a:endParaRPr lang="en-US"/>
          </a:p>
        </p:txBody>
      </p:sp>
      <p:sp>
        <p:nvSpPr>
          <p:cNvPr id="15" name="Text 12"/>
          <p:cNvSpPr txBox="1"/>
          <p:nvPr/>
        </p:nvSpPr>
        <p:spPr>
          <a:xfrm>
            <a:off x="5349240" y="1719072"/>
            <a:ext cx="1234440" cy="566928"/>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4  </a:t>
            </a:r>
            <a:r>
              <a:rPr lang="en-US" sz="1200" b="1" dirty="0">
                <a:solidFill>
                  <a:srgbClr val="FFFFFF"/>
                </a:solidFill>
                <a:latin typeface="Calibri" pitchFamily="34" charset="0"/>
                <a:ea typeface="Calibri" pitchFamily="34" charset="-122"/>
                <a:cs typeface="Calibri" pitchFamily="34" charset="-120"/>
              </a:rPr>
              <a:t>Cloud / LLM</a:t>
            </a:r>
            <a:endParaRPr lang="en-US" sz="1200" dirty="0"/>
          </a:p>
        </p:txBody>
      </p:sp>
      <p:sp>
        <p:nvSpPr>
          <p:cNvPr id="16" name="Shape 13"/>
          <p:cNvSpPr/>
          <p:nvPr/>
        </p:nvSpPr>
        <p:spPr>
          <a:xfrm>
            <a:off x="6583680" y="1719072"/>
            <a:ext cx="1737360" cy="566928"/>
          </a:xfrm>
          <a:prstGeom prst="chevron">
            <a:avLst/>
          </a:prstGeom>
          <a:solidFill>
            <a:srgbClr val="4D7C0F"/>
          </a:solidFill>
          <a:ln w="19050">
            <a:solidFill>
              <a:srgbClr val="FFFFFF"/>
            </a:solidFill>
            <a:prstDash val="solid"/>
          </a:ln>
        </p:spPr>
        <p:txBody>
          <a:bodyPr/>
          <a:lstStyle/>
          <a:p>
            <a:endParaRPr lang="en-US"/>
          </a:p>
        </p:txBody>
      </p:sp>
      <p:sp>
        <p:nvSpPr>
          <p:cNvPr id="17" name="Text 14"/>
          <p:cNvSpPr txBox="1"/>
          <p:nvPr/>
        </p:nvSpPr>
        <p:spPr>
          <a:xfrm>
            <a:off x="6903720" y="1719072"/>
            <a:ext cx="1188720" cy="566928"/>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5  </a:t>
            </a: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18" name="Shape 15"/>
          <p:cNvSpPr/>
          <p:nvPr/>
        </p:nvSpPr>
        <p:spPr>
          <a:xfrm>
            <a:off x="8092440" y="1719072"/>
            <a:ext cx="3550615" cy="566928"/>
          </a:xfrm>
          <a:prstGeom prst="chevron">
            <a:avLst/>
          </a:prstGeom>
          <a:solidFill>
            <a:srgbClr val="14532D"/>
          </a:solidFill>
          <a:ln w="19050">
            <a:solidFill>
              <a:srgbClr val="FFFFFF"/>
            </a:solidFill>
            <a:prstDash val="solid"/>
          </a:ln>
        </p:spPr>
        <p:txBody>
          <a:bodyPr/>
          <a:lstStyle/>
          <a:p>
            <a:endParaRPr lang="en-US"/>
          </a:p>
        </p:txBody>
      </p:sp>
      <p:sp>
        <p:nvSpPr>
          <p:cNvPr id="19" name="Text 16"/>
          <p:cNvSpPr txBox="1"/>
          <p:nvPr/>
        </p:nvSpPr>
        <p:spPr>
          <a:xfrm>
            <a:off x="8412480" y="1719072"/>
            <a:ext cx="3001975" cy="566928"/>
          </a:xfrm>
          <a:prstGeom prst="rect">
            <a:avLst/>
          </a:prstGeom>
          <a:noFill/>
          <a:ln/>
        </p:spPr>
        <p:txBody>
          <a:bodyPr wrap="square" lIns="0" tIns="0" rIns="0" bIns="0" rtlCol="0" anchor="ctr"/>
          <a:lstStyle/>
          <a:p>
            <a:pPr marL="0" indent="0" algn="ctr">
              <a:buNone/>
            </a:pPr>
            <a:r>
              <a:rPr lang="en-US" sz="1200" b="1" dirty="0">
                <a:solidFill>
                  <a:srgbClr val="C4EBD0"/>
                </a:solidFill>
                <a:latin typeface="Calibri" pitchFamily="34" charset="0"/>
                <a:ea typeface="Calibri" pitchFamily="34" charset="-122"/>
                <a:cs typeface="Calibri" pitchFamily="34" charset="-120"/>
              </a:rPr>
              <a:t>6  </a:t>
            </a:r>
            <a:r>
              <a:rPr lang="en-US" sz="1200" b="1" dirty="0">
                <a:solidFill>
                  <a:srgbClr val="FFFFFF"/>
                </a:solidFill>
                <a:latin typeface="Calibri" pitchFamily="34" charset="0"/>
                <a:ea typeface="Calibri" pitchFamily="34" charset="-122"/>
                <a:cs typeface="Calibri" pitchFamily="34" charset="-120"/>
              </a:rPr>
              <a:t>Integration &amp; Evaluation</a:t>
            </a:r>
            <a:endParaRPr lang="en-US" sz="1200" dirty="0"/>
          </a:p>
        </p:txBody>
      </p:sp>
      <p:sp>
        <p:nvSpPr>
          <p:cNvPr id="20" name="Text 17"/>
          <p:cNvSpPr txBox="1"/>
          <p:nvPr/>
        </p:nvSpPr>
        <p:spPr>
          <a:xfrm>
            <a:off x="548640" y="2542032"/>
            <a:ext cx="3931920" cy="219456"/>
          </a:xfrm>
          <a:prstGeom prst="rect">
            <a:avLst/>
          </a:prstGeom>
          <a:noFill/>
          <a:ln/>
        </p:spPr>
        <p:txBody>
          <a:bodyPr wrap="square" lIns="0" tIns="0" rIns="0" bIns="0" rtlCol="0" anchor="t"/>
          <a:lstStyle/>
          <a:p>
            <a:pPr marL="0" indent="0">
              <a:buNone/>
            </a:pPr>
            <a:r>
              <a:rPr lang="en-US" sz="1000" b="1" kern="0" spc="150" dirty="0">
                <a:solidFill>
                  <a:srgbClr val="2E9E5B"/>
                </a:solidFill>
                <a:latin typeface="Calibri" pitchFamily="34" charset="0"/>
                <a:ea typeface="Calibri" pitchFamily="34" charset="-122"/>
                <a:cs typeface="Calibri" pitchFamily="34" charset="-120"/>
              </a:rPr>
              <a:t>B  ·  15 PLANNED TESTS (T01–T15)</a:t>
            </a:r>
            <a:endParaRPr lang="en-US" sz="1000" dirty="0"/>
          </a:p>
        </p:txBody>
      </p:sp>
      <p:sp>
        <p:nvSpPr>
          <p:cNvPr id="21" name="Shape 18"/>
          <p:cNvSpPr/>
          <p:nvPr/>
        </p:nvSpPr>
        <p:spPr>
          <a:xfrm>
            <a:off x="548640" y="2834640"/>
            <a:ext cx="1828800" cy="987552"/>
          </a:xfrm>
          <a:prstGeom prst="roundRect">
            <a:avLst>
              <a:gd name="adj" fmla="val 11111"/>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pic>
        <p:nvPicPr>
          <p:cNvPr id="22" name="Image 1" descr="preencoded.png"/>
          <p:cNvPicPr>
            <a:picLocks noChangeAspect="1"/>
          </p:cNvPicPr>
          <p:nvPr/>
        </p:nvPicPr>
        <p:blipFill>
          <a:blip r:embed="rId3"/>
          <a:stretch>
            <a:fillRect/>
          </a:stretch>
        </p:blipFill>
        <p:spPr>
          <a:xfrm>
            <a:off x="694944" y="2980944"/>
            <a:ext cx="237744" cy="237744"/>
          </a:xfrm>
          <a:prstGeom prst="rect">
            <a:avLst/>
          </a:prstGeom>
        </p:spPr>
      </p:pic>
      <p:sp>
        <p:nvSpPr>
          <p:cNvPr id="23" name="Text 19"/>
          <p:cNvSpPr txBox="1"/>
          <p:nvPr/>
        </p:nvSpPr>
        <p:spPr>
          <a:xfrm>
            <a:off x="1005840" y="2962656"/>
            <a:ext cx="1280160" cy="274320"/>
          </a:xfrm>
          <a:prstGeom prst="rect">
            <a:avLst/>
          </a:prstGeom>
          <a:noFill/>
          <a:ln/>
        </p:spPr>
        <p:txBody>
          <a:bodyPr wrap="square" lIns="0" tIns="0" rIns="0" bIns="0" rtlCol="0" anchor="ctr"/>
          <a:lstStyle/>
          <a:p>
            <a:pPr marL="0" indent="0">
              <a:buNone/>
            </a:pPr>
            <a:r>
              <a:rPr lang="en-US" sz="1000" b="1" dirty="0">
                <a:solidFill>
                  <a:srgbClr val="2E9E5B"/>
                </a:solidFill>
                <a:latin typeface="Calibri" pitchFamily="34" charset="0"/>
                <a:ea typeface="Calibri" pitchFamily="34" charset="-122"/>
                <a:cs typeface="Calibri" pitchFamily="34" charset="-120"/>
              </a:rPr>
              <a:t>T01–T03</a:t>
            </a:r>
            <a:endParaRPr lang="en-US" sz="1000" dirty="0"/>
          </a:p>
        </p:txBody>
      </p:sp>
      <p:sp>
        <p:nvSpPr>
          <p:cNvPr id="24" name="Text 20"/>
          <p:cNvSpPr txBox="1"/>
          <p:nvPr/>
        </p:nvSpPr>
        <p:spPr>
          <a:xfrm>
            <a:off x="694944" y="3291840"/>
            <a:ext cx="1591056"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Sensors</a:t>
            </a:r>
            <a:endParaRPr lang="en-US" sz="1250" dirty="0"/>
          </a:p>
        </p:txBody>
      </p:sp>
      <p:sp>
        <p:nvSpPr>
          <p:cNvPr id="25" name="Text 21"/>
          <p:cNvSpPr txBox="1"/>
          <p:nvPr/>
        </p:nvSpPr>
        <p:spPr>
          <a:xfrm>
            <a:off x="694944" y="3547872"/>
            <a:ext cx="1591056" cy="219456"/>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Soil · DHT22 · BH1750</a:t>
            </a:r>
            <a:endParaRPr lang="en-US" sz="950" dirty="0"/>
          </a:p>
        </p:txBody>
      </p:sp>
      <p:sp>
        <p:nvSpPr>
          <p:cNvPr id="26" name="Shape 22"/>
          <p:cNvSpPr/>
          <p:nvPr/>
        </p:nvSpPr>
        <p:spPr>
          <a:xfrm>
            <a:off x="2505456" y="2834640"/>
            <a:ext cx="1828800" cy="987552"/>
          </a:xfrm>
          <a:prstGeom prst="roundRect">
            <a:avLst>
              <a:gd name="adj" fmla="val 11111"/>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pic>
        <p:nvPicPr>
          <p:cNvPr id="27" name="Image 2" descr="preencoded.png"/>
          <p:cNvPicPr>
            <a:picLocks noChangeAspect="1"/>
          </p:cNvPicPr>
          <p:nvPr/>
        </p:nvPicPr>
        <p:blipFill>
          <a:blip r:embed="rId4"/>
          <a:stretch>
            <a:fillRect/>
          </a:stretch>
        </p:blipFill>
        <p:spPr>
          <a:xfrm>
            <a:off x="2651760" y="2980944"/>
            <a:ext cx="237744" cy="237744"/>
          </a:xfrm>
          <a:prstGeom prst="rect">
            <a:avLst/>
          </a:prstGeom>
        </p:spPr>
      </p:pic>
      <p:sp>
        <p:nvSpPr>
          <p:cNvPr id="28" name="Text 23"/>
          <p:cNvSpPr txBox="1"/>
          <p:nvPr/>
        </p:nvSpPr>
        <p:spPr>
          <a:xfrm>
            <a:off x="2962656" y="2962656"/>
            <a:ext cx="1280160" cy="274320"/>
          </a:xfrm>
          <a:prstGeom prst="rect">
            <a:avLst/>
          </a:prstGeom>
          <a:noFill/>
          <a:ln/>
        </p:spPr>
        <p:txBody>
          <a:bodyPr wrap="square" lIns="0" tIns="0" rIns="0" bIns="0" rtlCol="0" anchor="ctr"/>
          <a:lstStyle/>
          <a:p>
            <a:pPr marL="0" indent="0">
              <a:buNone/>
            </a:pPr>
            <a:r>
              <a:rPr lang="en-US" sz="1000" b="1" dirty="0">
                <a:solidFill>
                  <a:srgbClr val="2E9E5B"/>
                </a:solidFill>
                <a:latin typeface="Calibri" pitchFamily="34" charset="0"/>
                <a:ea typeface="Calibri" pitchFamily="34" charset="-122"/>
                <a:cs typeface="Calibri" pitchFamily="34" charset="-120"/>
              </a:rPr>
              <a:t>T04–T05</a:t>
            </a:r>
            <a:endParaRPr lang="en-US" sz="1000" dirty="0"/>
          </a:p>
        </p:txBody>
      </p:sp>
      <p:sp>
        <p:nvSpPr>
          <p:cNvPr id="29" name="Text 24"/>
          <p:cNvSpPr txBox="1"/>
          <p:nvPr/>
        </p:nvSpPr>
        <p:spPr>
          <a:xfrm>
            <a:off x="2651760" y="3291840"/>
            <a:ext cx="1591056"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Device</a:t>
            </a:r>
            <a:endParaRPr lang="en-US" sz="1250" dirty="0"/>
          </a:p>
        </p:txBody>
      </p:sp>
      <p:sp>
        <p:nvSpPr>
          <p:cNvPr id="30" name="Text 25"/>
          <p:cNvSpPr txBox="1"/>
          <p:nvPr/>
        </p:nvSpPr>
        <p:spPr>
          <a:xfrm>
            <a:off x="2651760" y="3547872"/>
            <a:ext cx="1591056" cy="219456"/>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OLED · RGB priority</a:t>
            </a:r>
            <a:endParaRPr lang="en-US" sz="950" dirty="0"/>
          </a:p>
        </p:txBody>
      </p:sp>
      <p:sp>
        <p:nvSpPr>
          <p:cNvPr id="31" name="Shape 26"/>
          <p:cNvSpPr/>
          <p:nvPr/>
        </p:nvSpPr>
        <p:spPr>
          <a:xfrm>
            <a:off x="548640" y="3950208"/>
            <a:ext cx="1828800" cy="987552"/>
          </a:xfrm>
          <a:prstGeom prst="roundRect">
            <a:avLst>
              <a:gd name="adj" fmla="val 11111"/>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pic>
        <p:nvPicPr>
          <p:cNvPr id="32" name="Image 3" descr="preencoded.png"/>
          <p:cNvPicPr>
            <a:picLocks noChangeAspect="1"/>
          </p:cNvPicPr>
          <p:nvPr/>
        </p:nvPicPr>
        <p:blipFill>
          <a:blip r:embed="rId5"/>
          <a:stretch>
            <a:fillRect/>
          </a:stretch>
        </p:blipFill>
        <p:spPr>
          <a:xfrm>
            <a:off x="694944" y="4096512"/>
            <a:ext cx="237744" cy="237744"/>
          </a:xfrm>
          <a:prstGeom prst="rect">
            <a:avLst/>
          </a:prstGeom>
        </p:spPr>
      </p:pic>
      <p:sp>
        <p:nvSpPr>
          <p:cNvPr id="33" name="Text 27"/>
          <p:cNvSpPr txBox="1"/>
          <p:nvPr/>
        </p:nvSpPr>
        <p:spPr>
          <a:xfrm>
            <a:off x="1005840" y="4078224"/>
            <a:ext cx="1280160" cy="274320"/>
          </a:xfrm>
          <a:prstGeom prst="rect">
            <a:avLst/>
          </a:prstGeom>
          <a:noFill/>
          <a:ln/>
        </p:spPr>
        <p:txBody>
          <a:bodyPr wrap="square" lIns="0" tIns="0" rIns="0" bIns="0" rtlCol="0" anchor="ctr"/>
          <a:lstStyle/>
          <a:p>
            <a:pPr marL="0" indent="0">
              <a:buNone/>
            </a:pPr>
            <a:r>
              <a:rPr lang="en-US" sz="1000" b="1" dirty="0">
                <a:solidFill>
                  <a:srgbClr val="2E9E5B"/>
                </a:solidFill>
                <a:latin typeface="Calibri" pitchFamily="34" charset="0"/>
                <a:ea typeface="Calibri" pitchFamily="34" charset="-122"/>
                <a:cs typeface="Calibri" pitchFamily="34" charset="-120"/>
              </a:rPr>
              <a:t>T06–T08</a:t>
            </a:r>
            <a:endParaRPr lang="en-US" sz="1000" dirty="0"/>
          </a:p>
        </p:txBody>
      </p:sp>
      <p:sp>
        <p:nvSpPr>
          <p:cNvPr id="34" name="Text 28"/>
          <p:cNvSpPr txBox="1"/>
          <p:nvPr/>
        </p:nvSpPr>
        <p:spPr>
          <a:xfrm>
            <a:off x="694944" y="4407408"/>
            <a:ext cx="1591056"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MQTT / Security</a:t>
            </a:r>
            <a:endParaRPr lang="en-US" sz="1250" dirty="0"/>
          </a:p>
        </p:txBody>
      </p:sp>
      <p:sp>
        <p:nvSpPr>
          <p:cNvPr id="35" name="Text 29"/>
          <p:cNvSpPr txBox="1"/>
          <p:nvPr/>
        </p:nvSpPr>
        <p:spPr>
          <a:xfrm>
            <a:off x="694944" y="4663440"/>
            <a:ext cx="1591056" cy="219456"/>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TLS · publish · subscribe</a:t>
            </a:r>
            <a:endParaRPr lang="en-US" sz="950" dirty="0"/>
          </a:p>
        </p:txBody>
      </p:sp>
      <p:sp>
        <p:nvSpPr>
          <p:cNvPr id="36" name="Shape 30"/>
          <p:cNvSpPr/>
          <p:nvPr/>
        </p:nvSpPr>
        <p:spPr>
          <a:xfrm>
            <a:off x="2505456" y="3950208"/>
            <a:ext cx="1828800" cy="987552"/>
          </a:xfrm>
          <a:prstGeom prst="roundRect">
            <a:avLst>
              <a:gd name="adj" fmla="val 11111"/>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pic>
        <p:nvPicPr>
          <p:cNvPr id="37" name="Image 4" descr="preencoded.png"/>
          <p:cNvPicPr>
            <a:picLocks noChangeAspect="1"/>
          </p:cNvPicPr>
          <p:nvPr/>
        </p:nvPicPr>
        <p:blipFill>
          <a:blip r:embed="rId6"/>
          <a:stretch>
            <a:fillRect/>
          </a:stretch>
        </p:blipFill>
        <p:spPr>
          <a:xfrm>
            <a:off x="2651760" y="4096512"/>
            <a:ext cx="237744" cy="237744"/>
          </a:xfrm>
          <a:prstGeom prst="rect">
            <a:avLst/>
          </a:prstGeom>
        </p:spPr>
      </p:pic>
      <p:sp>
        <p:nvSpPr>
          <p:cNvPr id="38" name="Text 31"/>
          <p:cNvSpPr txBox="1"/>
          <p:nvPr/>
        </p:nvSpPr>
        <p:spPr>
          <a:xfrm>
            <a:off x="2962656" y="4078224"/>
            <a:ext cx="1280160" cy="274320"/>
          </a:xfrm>
          <a:prstGeom prst="rect">
            <a:avLst/>
          </a:prstGeom>
          <a:noFill/>
          <a:ln/>
        </p:spPr>
        <p:txBody>
          <a:bodyPr wrap="square" lIns="0" tIns="0" rIns="0" bIns="0" rtlCol="0" anchor="ctr"/>
          <a:lstStyle/>
          <a:p>
            <a:pPr marL="0" indent="0">
              <a:buNone/>
            </a:pPr>
            <a:r>
              <a:rPr lang="en-US" sz="1000" b="1" dirty="0">
                <a:solidFill>
                  <a:srgbClr val="2E9E5B"/>
                </a:solidFill>
                <a:latin typeface="Calibri" pitchFamily="34" charset="0"/>
                <a:ea typeface="Calibri" pitchFamily="34" charset="-122"/>
                <a:cs typeface="Calibri" pitchFamily="34" charset="-120"/>
              </a:rPr>
              <a:t>T09–T13</a:t>
            </a:r>
            <a:endParaRPr lang="en-US" sz="1000" dirty="0"/>
          </a:p>
        </p:txBody>
      </p:sp>
      <p:sp>
        <p:nvSpPr>
          <p:cNvPr id="39" name="Text 32"/>
          <p:cNvSpPr txBox="1"/>
          <p:nvPr/>
        </p:nvSpPr>
        <p:spPr>
          <a:xfrm>
            <a:off x="2651760" y="4407408"/>
            <a:ext cx="1591056"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Cloud / AI</a:t>
            </a:r>
            <a:endParaRPr lang="en-US" sz="1250" dirty="0"/>
          </a:p>
        </p:txBody>
      </p:sp>
      <p:sp>
        <p:nvSpPr>
          <p:cNvPr id="40" name="Text 33"/>
          <p:cNvSpPr txBox="1"/>
          <p:nvPr/>
        </p:nvSpPr>
        <p:spPr>
          <a:xfrm>
            <a:off x="2651760" y="4663440"/>
            <a:ext cx="1591056" cy="219456"/>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Backend · DB · LLM · APIs</a:t>
            </a:r>
            <a:endParaRPr lang="en-US" sz="950" dirty="0"/>
          </a:p>
        </p:txBody>
      </p:sp>
      <p:sp>
        <p:nvSpPr>
          <p:cNvPr id="41" name="Shape 34"/>
          <p:cNvSpPr/>
          <p:nvPr/>
        </p:nvSpPr>
        <p:spPr>
          <a:xfrm>
            <a:off x="548640" y="5065776"/>
            <a:ext cx="1828800" cy="987552"/>
          </a:xfrm>
          <a:prstGeom prst="roundRect">
            <a:avLst>
              <a:gd name="adj" fmla="val 11111"/>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pic>
        <p:nvPicPr>
          <p:cNvPr id="42" name="Image 5" descr="preencoded.png"/>
          <p:cNvPicPr>
            <a:picLocks noChangeAspect="1"/>
          </p:cNvPicPr>
          <p:nvPr/>
        </p:nvPicPr>
        <p:blipFill>
          <a:blip r:embed="rId7"/>
          <a:stretch>
            <a:fillRect/>
          </a:stretch>
        </p:blipFill>
        <p:spPr>
          <a:xfrm>
            <a:off x="694944" y="5212080"/>
            <a:ext cx="237744" cy="237744"/>
          </a:xfrm>
          <a:prstGeom prst="rect">
            <a:avLst/>
          </a:prstGeom>
        </p:spPr>
      </p:pic>
      <p:sp>
        <p:nvSpPr>
          <p:cNvPr id="43" name="Text 35"/>
          <p:cNvSpPr txBox="1"/>
          <p:nvPr/>
        </p:nvSpPr>
        <p:spPr>
          <a:xfrm>
            <a:off x="1005840" y="5193792"/>
            <a:ext cx="1280160" cy="274320"/>
          </a:xfrm>
          <a:prstGeom prst="rect">
            <a:avLst/>
          </a:prstGeom>
          <a:noFill/>
          <a:ln/>
        </p:spPr>
        <p:txBody>
          <a:bodyPr wrap="square" lIns="0" tIns="0" rIns="0" bIns="0" rtlCol="0" anchor="ctr"/>
          <a:lstStyle/>
          <a:p>
            <a:pPr marL="0" indent="0">
              <a:buNone/>
            </a:pPr>
            <a:r>
              <a:rPr lang="en-US" sz="1000" b="1" dirty="0">
                <a:solidFill>
                  <a:srgbClr val="2E9E5B"/>
                </a:solidFill>
                <a:latin typeface="Calibri" pitchFamily="34" charset="0"/>
                <a:ea typeface="Calibri" pitchFamily="34" charset="-122"/>
                <a:cs typeface="Calibri" pitchFamily="34" charset="-120"/>
              </a:rPr>
              <a:t>T14</a:t>
            </a:r>
            <a:endParaRPr lang="en-US" sz="1000" dirty="0"/>
          </a:p>
        </p:txBody>
      </p:sp>
      <p:sp>
        <p:nvSpPr>
          <p:cNvPr id="44" name="Text 36"/>
          <p:cNvSpPr txBox="1"/>
          <p:nvPr/>
        </p:nvSpPr>
        <p:spPr>
          <a:xfrm>
            <a:off x="694944" y="5522976"/>
            <a:ext cx="1591056"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Dashboard</a:t>
            </a:r>
            <a:endParaRPr lang="en-US" sz="1250" dirty="0"/>
          </a:p>
        </p:txBody>
      </p:sp>
      <p:sp>
        <p:nvSpPr>
          <p:cNvPr id="45" name="Text 37"/>
          <p:cNvSpPr txBox="1"/>
          <p:nvPr/>
        </p:nvSpPr>
        <p:spPr>
          <a:xfrm>
            <a:off x="694944" y="5779008"/>
            <a:ext cx="1591056" cy="219456"/>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Payloads · topics · status</a:t>
            </a:r>
            <a:endParaRPr lang="en-US" sz="950" dirty="0"/>
          </a:p>
        </p:txBody>
      </p:sp>
      <p:sp>
        <p:nvSpPr>
          <p:cNvPr id="46" name="Shape 38"/>
          <p:cNvSpPr/>
          <p:nvPr/>
        </p:nvSpPr>
        <p:spPr>
          <a:xfrm>
            <a:off x="2505456" y="5065776"/>
            <a:ext cx="1828800" cy="987552"/>
          </a:xfrm>
          <a:prstGeom prst="roundRect">
            <a:avLst>
              <a:gd name="adj" fmla="val 11111"/>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pic>
        <p:nvPicPr>
          <p:cNvPr id="47" name="Image 6" descr="preencoded.png"/>
          <p:cNvPicPr>
            <a:picLocks noChangeAspect="1"/>
          </p:cNvPicPr>
          <p:nvPr/>
        </p:nvPicPr>
        <p:blipFill>
          <a:blip r:embed="rId8"/>
          <a:stretch>
            <a:fillRect/>
          </a:stretch>
        </p:blipFill>
        <p:spPr>
          <a:xfrm>
            <a:off x="2651760" y="5212080"/>
            <a:ext cx="237744" cy="237744"/>
          </a:xfrm>
          <a:prstGeom prst="rect">
            <a:avLst/>
          </a:prstGeom>
        </p:spPr>
      </p:pic>
      <p:sp>
        <p:nvSpPr>
          <p:cNvPr id="48" name="Text 39"/>
          <p:cNvSpPr txBox="1"/>
          <p:nvPr/>
        </p:nvSpPr>
        <p:spPr>
          <a:xfrm>
            <a:off x="2962656" y="5193792"/>
            <a:ext cx="1280160" cy="274320"/>
          </a:xfrm>
          <a:prstGeom prst="rect">
            <a:avLst/>
          </a:prstGeom>
          <a:noFill/>
          <a:ln/>
        </p:spPr>
        <p:txBody>
          <a:bodyPr wrap="square" lIns="0" tIns="0" rIns="0" bIns="0" rtlCol="0" anchor="ctr"/>
          <a:lstStyle/>
          <a:p>
            <a:pPr marL="0" indent="0">
              <a:buNone/>
            </a:pPr>
            <a:r>
              <a:rPr lang="en-US" sz="1000" b="1" dirty="0">
                <a:solidFill>
                  <a:srgbClr val="2E9E5B"/>
                </a:solidFill>
                <a:latin typeface="Calibri" pitchFamily="34" charset="0"/>
                <a:ea typeface="Calibri" pitchFamily="34" charset="-122"/>
                <a:cs typeface="Calibri" pitchFamily="34" charset="-120"/>
              </a:rPr>
              <a:t>T15</a:t>
            </a:r>
            <a:endParaRPr lang="en-US" sz="1000" dirty="0"/>
          </a:p>
        </p:txBody>
      </p:sp>
      <p:sp>
        <p:nvSpPr>
          <p:cNvPr id="49" name="Text 40"/>
          <p:cNvSpPr txBox="1"/>
          <p:nvPr/>
        </p:nvSpPr>
        <p:spPr>
          <a:xfrm>
            <a:off x="2651760" y="5522976"/>
            <a:ext cx="1591056" cy="256032"/>
          </a:xfrm>
          <a:prstGeom prst="rect">
            <a:avLst/>
          </a:prstGeom>
          <a:noFill/>
          <a:ln/>
        </p:spPr>
        <p:txBody>
          <a:bodyPr wrap="square" lIns="0" tIns="0" rIns="0" bIns="0" rtlCol="0" anchor="t"/>
          <a:lstStyle/>
          <a:p>
            <a:pPr marL="0" indent="0">
              <a:buNone/>
            </a:pPr>
            <a:r>
              <a:rPr lang="en-US" sz="1250" b="1" dirty="0">
                <a:solidFill>
                  <a:srgbClr val="0F1B2D"/>
                </a:solidFill>
                <a:latin typeface="Calibri" pitchFamily="34" charset="0"/>
                <a:ea typeface="Calibri" pitchFamily="34" charset="-122"/>
                <a:cs typeface="Calibri" pitchFamily="34" charset="-120"/>
              </a:rPr>
              <a:t>End-to-End</a:t>
            </a:r>
            <a:endParaRPr lang="en-US" sz="1250" dirty="0"/>
          </a:p>
        </p:txBody>
      </p:sp>
      <p:sp>
        <p:nvSpPr>
          <p:cNvPr id="50" name="Text 41"/>
          <p:cNvSpPr txBox="1"/>
          <p:nvPr/>
        </p:nvSpPr>
        <p:spPr>
          <a:xfrm>
            <a:off x="2651760" y="5779008"/>
            <a:ext cx="1591056" cy="219456"/>
          </a:xfrm>
          <a:prstGeom prst="rect">
            <a:avLst/>
          </a:prstGeom>
          <a:noFill/>
          <a:ln/>
        </p:spPr>
        <p:txBody>
          <a:bodyPr wrap="square" lIns="0" tIns="0" rIns="0" bIns="0" rtlCol="0" anchor="t"/>
          <a:lstStyle/>
          <a:p>
            <a:pPr marL="0" indent="0">
              <a:buNone/>
            </a:pPr>
            <a:r>
              <a:rPr lang="en-US" sz="950" dirty="0">
                <a:solidFill>
                  <a:srgbClr val="46555F"/>
                </a:solidFill>
                <a:latin typeface="Calibri" pitchFamily="34" charset="0"/>
                <a:ea typeface="Calibri" pitchFamily="34" charset="-122"/>
                <a:cs typeface="Calibri" pitchFamily="34" charset="-120"/>
              </a:rPr>
              <a:t>Device → cloud → dashboard</a:t>
            </a:r>
            <a:endParaRPr lang="en-US" sz="950" dirty="0"/>
          </a:p>
        </p:txBody>
      </p:sp>
      <p:sp>
        <p:nvSpPr>
          <p:cNvPr id="51" name="Text 42"/>
          <p:cNvSpPr txBox="1"/>
          <p:nvPr/>
        </p:nvSpPr>
        <p:spPr>
          <a:xfrm>
            <a:off x="4654296" y="2542032"/>
            <a:ext cx="4572000" cy="219456"/>
          </a:xfrm>
          <a:prstGeom prst="rect">
            <a:avLst/>
          </a:prstGeom>
          <a:noFill/>
          <a:ln/>
        </p:spPr>
        <p:txBody>
          <a:bodyPr wrap="square" lIns="0" tIns="0" rIns="0" bIns="0" rtlCol="0" anchor="t"/>
          <a:lstStyle/>
          <a:p>
            <a:pPr marL="0" indent="0">
              <a:buNone/>
            </a:pPr>
            <a:r>
              <a:rPr lang="en-US" sz="1000" b="1" kern="0" spc="150" dirty="0">
                <a:solidFill>
                  <a:srgbClr val="2E9E5B"/>
                </a:solidFill>
                <a:latin typeface="Calibri" pitchFamily="34" charset="0"/>
                <a:ea typeface="Calibri" pitchFamily="34" charset="-122"/>
                <a:cs typeface="Calibri" pitchFamily="34" charset="-120"/>
              </a:rPr>
              <a:t>C  ·  TEAM RESPONSIBILITIES</a:t>
            </a:r>
            <a:endParaRPr lang="en-US" sz="1000" dirty="0"/>
          </a:p>
        </p:txBody>
      </p:sp>
      <p:sp>
        <p:nvSpPr>
          <p:cNvPr id="52" name="Shape 43"/>
          <p:cNvSpPr/>
          <p:nvPr/>
        </p:nvSpPr>
        <p:spPr>
          <a:xfrm>
            <a:off x="4654296" y="2834640"/>
            <a:ext cx="3425800" cy="1572768"/>
          </a:xfrm>
          <a:prstGeom prst="roundRect">
            <a:avLst>
              <a:gd name="adj" fmla="val 697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53" name="Shape 44"/>
          <p:cNvSpPr/>
          <p:nvPr/>
        </p:nvSpPr>
        <p:spPr>
          <a:xfrm>
            <a:off x="4837176" y="3017520"/>
            <a:ext cx="420624" cy="420624"/>
          </a:xfrm>
          <a:prstGeom prst="ellipse">
            <a:avLst/>
          </a:prstGeom>
          <a:solidFill>
            <a:srgbClr val="1E7A46"/>
          </a:solidFill>
          <a:ln/>
        </p:spPr>
        <p:txBody>
          <a:bodyPr/>
          <a:lstStyle/>
          <a:p>
            <a:endParaRPr lang="en-US"/>
          </a:p>
        </p:txBody>
      </p:sp>
      <p:sp>
        <p:nvSpPr>
          <p:cNvPr id="54" name="Text 45"/>
          <p:cNvSpPr txBox="1"/>
          <p:nvPr/>
        </p:nvSpPr>
        <p:spPr>
          <a:xfrm>
            <a:off x="4837176" y="30175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55" name="Text 46"/>
          <p:cNvSpPr txBox="1"/>
          <p:nvPr/>
        </p:nvSpPr>
        <p:spPr>
          <a:xfrm>
            <a:off x="5367528" y="2962656"/>
            <a:ext cx="2602840" cy="548640"/>
          </a:xfrm>
          <a:prstGeom prst="rect">
            <a:avLst/>
          </a:prstGeom>
          <a:noFill/>
          <a:ln/>
        </p:spPr>
        <p:txBody>
          <a:bodyPr wrap="square" lIns="0" tIns="0" rIns="0" bIns="0" rtlCol="0" anchor="ctr"/>
          <a:lstStyle/>
          <a:p>
            <a:pPr marL="0" indent="0">
              <a:buNone/>
            </a:pPr>
            <a:r>
              <a:rPr lang="en-US" sz="900" b="1" kern="0" spc="150" dirty="0">
                <a:solidFill>
                  <a:srgbClr val="7A8A94"/>
                </a:solidFill>
                <a:latin typeface="Calibri" pitchFamily="34" charset="0"/>
                <a:ea typeface="Calibri" pitchFamily="34" charset="-122"/>
                <a:cs typeface="Calibri" pitchFamily="34" charset="-120"/>
              </a:rPr>
              <a:t>MEMBER 1</a:t>
            </a:r>
            <a:endParaRPr lang="en-US" sz="900" dirty="0"/>
          </a:p>
          <a:p>
            <a:pPr marL="0" indent="0">
              <a:buNone/>
            </a:pPr>
            <a:r>
              <a:rPr lang="en-US" sz="1250" b="1" dirty="0">
                <a:solidFill>
                  <a:srgbClr val="0F1B2D"/>
                </a:solidFill>
                <a:latin typeface="Calibri" pitchFamily="34" charset="0"/>
                <a:ea typeface="Calibri" pitchFamily="34" charset="-122"/>
                <a:cs typeface="Calibri" pitchFamily="34" charset="-120"/>
              </a:rPr>
              <a:t>Hardware &amp; Embedded Sensing</a:t>
            </a:r>
            <a:endParaRPr lang="en-US" sz="900" dirty="0"/>
          </a:p>
        </p:txBody>
      </p:sp>
      <p:sp>
        <p:nvSpPr>
          <p:cNvPr id="56" name="Text 47"/>
          <p:cNvSpPr txBox="1"/>
          <p:nvPr/>
        </p:nvSpPr>
        <p:spPr>
          <a:xfrm>
            <a:off x="4837176" y="3566160"/>
            <a:ext cx="3078328" cy="45720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ESP32 setup · soil moisture · DHT22 · BH1750 · circuit assembly · GPIO · calibration</a:t>
            </a:r>
            <a:endParaRPr lang="en-US" sz="1050" dirty="0"/>
          </a:p>
        </p:txBody>
      </p:sp>
      <p:sp>
        <p:nvSpPr>
          <p:cNvPr id="57" name="Text 48"/>
          <p:cNvSpPr txBox="1"/>
          <p:nvPr/>
        </p:nvSpPr>
        <p:spPr>
          <a:xfrm>
            <a:off x="4837176" y="4023360"/>
            <a:ext cx="3078328" cy="329184"/>
          </a:xfrm>
          <a:prstGeom prst="rect">
            <a:avLst/>
          </a:prstGeom>
          <a:noFill/>
          <a:ln/>
        </p:spPr>
        <p:txBody>
          <a:bodyPr wrap="square" lIns="0" tIns="0" rIns="0" bIns="0" rtlCol="0" anchor="ctr"/>
          <a:lstStyle/>
          <a:p>
            <a:pPr marL="0" indent="0">
              <a:buNone/>
            </a:pPr>
            <a:r>
              <a:rPr lang="en-US" sz="950" b="1" dirty="0">
                <a:solidFill>
                  <a:srgbClr val="1E7A46"/>
                </a:solidFill>
                <a:latin typeface="Calibri" pitchFamily="34" charset="0"/>
                <a:ea typeface="Calibri" pitchFamily="34" charset="-122"/>
                <a:cs typeface="Calibri" pitchFamily="34" charset="-120"/>
              </a:rPr>
              <a:t>Support: </a:t>
            </a:r>
            <a:r>
              <a:rPr lang="en-US" sz="950" dirty="0">
                <a:solidFill>
                  <a:srgbClr val="1E7A46"/>
                </a:solidFill>
                <a:latin typeface="Calibri" pitchFamily="34" charset="0"/>
                <a:ea typeface="Calibri" pitchFamily="34" charset="-122"/>
                <a:cs typeface="Calibri" pitchFamily="34" charset="-120"/>
              </a:rPr>
              <a:t>Hardware tests &amp; docs · integration testing · demo</a:t>
            </a:r>
            <a:endParaRPr lang="en-US" sz="950" dirty="0"/>
          </a:p>
        </p:txBody>
      </p:sp>
      <p:sp>
        <p:nvSpPr>
          <p:cNvPr id="58" name="Shape 49"/>
          <p:cNvSpPr/>
          <p:nvPr/>
        </p:nvSpPr>
        <p:spPr>
          <a:xfrm>
            <a:off x="8217256" y="2834640"/>
            <a:ext cx="3425800" cy="1572768"/>
          </a:xfrm>
          <a:prstGeom prst="roundRect">
            <a:avLst>
              <a:gd name="adj" fmla="val 697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59" name="Shape 50"/>
          <p:cNvSpPr/>
          <p:nvPr/>
        </p:nvSpPr>
        <p:spPr>
          <a:xfrm>
            <a:off x="8400136" y="3017520"/>
            <a:ext cx="420624" cy="420624"/>
          </a:xfrm>
          <a:prstGeom prst="ellipse">
            <a:avLst/>
          </a:prstGeom>
          <a:solidFill>
            <a:srgbClr val="0F766E"/>
          </a:solidFill>
          <a:ln/>
        </p:spPr>
        <p:txBody>
          <a:bodyPr/>
          <a:lstStyle/>
          <a:p>
            <a:endParaRPr lang="en-US"/>
          </a:p>
        </p:txBody>
      </p:sp>
      <p:sp>
        <p:nvSpPr>
          <p:cNvPr id="60" name="Text 51"/>
          <p:cNvSpPr txBox="1"/>
          <p:nvPr/>
        </p:nvSpPr>
        <p:spPr>
          <a:xfrm>
            <a:off x="8400136" y="301752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61" name="Text 52"/>
          <p:cNvSpPr txBox="1"/>
          <p:nvPr/>
        </p:nvSpPr>
        <p:spPr>
          <a:xfrm>
            <a:off x="8930488" y="2962656"/>
            <a:ext cx="2602840" cy="548640"/>
          </a:xfrm>
          <a:prstGeom prst="rect">
            <a:avLst/>
          </a:prstGeom>
          <a:noFill/>
          <a:ln/>
        </p:spPr>
        <p:txBody>
          <a:bodyPr wrap="square" lIns="0" tIns="0" rIns="0" bIns="0" rtlCol="0" anchor="ctr"/>
          <a:lstStyle/>
          <a:p>
            <a:pPr marL="0" indent="0">
              <a:buNone/>
            </a:pPr>
            <a:r>
              <a:rPr lang="en-US" sz="900" b="1" kern="0" spc="150" dirty="0">
                <a:solidFill>
                  <a:srgbClr val="7A8A94"/>
                </a:solidFill>
                <a:latin typeface="Calibri" pitchFamily="34" charset="0"/>
                <a:ea typeface="Calibri" pitchFamily="34" charset="-122"/>
                <a:cs typeface="Calibri" pitchFamily="34" charset="-120"/>
              </a:rPr>
              <a:t>MEMBER 2</a:t>
            </a:r>
            <a:endParaRPr lang="en-US" sz="900" dirty="0"/>
          </a:p>
          <a:p>
            <a:pPr marL="0" indent="0">
              <a:buNone/>
            </a:pPr>
            <a:r>
              <a:rPr lang="en-US" sz="1250" b="1" dirty="0">
                <a:solidFill>
                  <a:srgbClr val="0F1B2D"/>
                </a:solidFill>
                <a:latin typeface="Calibri" pitchFamily="34" charset="0"/>
                <a:ea typeface="Calibri" pitchFamily="34" charset="-122"/>
                <a:cs typeface="Calibri" pitchFamily="34" charset="-120"/>
              </a:rPr>
              <a:t>ESP32 Firmware &amp; MQTT</a:t>
            </a:r>
            <a:endParaRPr lang="en-US" sz="900" dirty="0"/>
          </a:p>
        </p:txBody>
      </p:sp>
      <p:sp>
        <p:nvSpPr>
          <p:cNvPr id="62" name="Text 53"/>
          <p:cNvSpPr txBox="1"/>
          <p:nvPr/>
        </p:nvSpPr>
        <p:spPr>
          <a:xfrm>
            <a:off x="8400136" y="3566160"/>
            <a:ext cx="3078328" cy="45720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Firmware · acquisition · OLED · RGB priority logic · Wi-Fi · MQTT pub/sub · JSON</a:t>
            </a:r>
            <a:endParaRPr lang="en-US" sz="1050" dirty="0"/>
          </a:p>
        </p:txBody>
      </p:sp>
      <p:sp>
        <p:nvSpPr>
          <p:cNvPr id="63" name="Text 54"/>
          <p:cNvSpPr txBox="1"/>
          <p:nvPr/>
        </p:nvSpPr>
        <p:spPr>
          <a:xfrm>
            <a:off x="8400136" y="4023360"/>
            <a:ext cx="3078328" cy="329184"/>
          </a:xfrm>
          <a:prstGeom prst="rect">
            <a:avLst/>
          </a:prstGeom>
          <a:noFill/>
          <a:ln/>
        </p:spPr>
        <p:txBody>
          <a:bodyPr wrap="square" lIns="0" tIns="0" rIns="0" bIns="0" rtlCol="0" anchor="ctr"/>
          <a:lstStyle/>
          <a:p>
            <a:pPr marL="0" indent="0">
              <a:buNone/>
            </a:pPr>
            <a:r>
              <a:rPr lang="en-US" sz="950" b="1" dirty="0">
                <a:solidFill>
                  <a:srgbClr val="0F766E"/>
                </a:solidFill>
                <a:latin typeface="Calibri" pitchFamily="34" charset="0"/>
                <a:ea typeface="Calibri" pitchFamily="34" charset="-122"/>
                <a:cs typeface="Calibri" pitchFamily="34" charset="-120"/>
              </a:rPr>
              <a:t>Support: </a:t>
            </a:r>
            <a:r>
              <a:rPr lang="en-US" sz="950" dirty="0">
                <a:solidFill>
                  <a:srgbClr val="0F766E"/>
                </a:solidFill>
                <a:latin typeface="Calibri" pitchFamily="34" charset="0"/>
                <a:ea typeface="Calibri" pitchFamily="34" charset="-122"/>
                <a:cs typeface="Calibri" pitchFamily="34" charset="-120"/>
              </a:rPr>
              <a:t>MQTT tests · firmware docs · end-to-end testing · demo</a:t>
            </a:r>
            <a:endParaRPr lang="en-US" sz="950" dirty="0"/>
          </a:p>
        </p:txBody>
      </p:sp>
      <p:sp>
        <p:nvSpPr>
          <p:cNvPr id="64" name="Shape 55"/>
          <p:cNvSpPr/>
          <p:nvPr/>
        </p:nvSpPr>
        <p:spPr>
          <a:xfrm>
            <a:off x="4654296" y="4535424"/>
            <a:ext cx="3425800" cy="1572768"/>
          </a:xfrm>
          <a:prstGeom prst="roundRect">
            <a:avLst>
              <a:gd name="adj" fmla="val 697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65" name="Shape 56"/>
          <p:cNvSpPr/>
          <p:nvPr/>
        </p:nvSpPr>
        <p:spPr>
          <a:xfrm>
            <a:off x="4837176" y="4718304"/>
            <a:ext cx="420624" cy="420624"/>
          </a:xfrm>
          <a:prstGeom prst="ellipse">
            <a:avLst/>
          </a:prstGeom>
          <a:solidFill>
            <a:srgbClr val="1E3A5F"/>
          </a:solidFill>
          <a:ln/>
        </p:spPr>
        <p:txBody>
          <a:bodyPr/>
          <a:lstStyle/>
          <a:p>
            <a:endParaRPr lang="en-US"/>
          </a:p>
        </p:txBody>
      </p:sp>
      <p:sp>
        <p:nvSpPr>
          <p:cNvPr id="66" name="Text 57"/>
          <p:cNvSpPr txBox="1"/>
          <p:nvPr/>
        </p:nvSpPr>
        <p:spPr>
          <a:xfrm>
            <a:off x="4837176" y="47183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67" name="Text 58"/>
          <p:cNvSpPr txBox="1"/>
          <p:nvPr/>
        </p:nvSpPr>
        <p:spPr>
          <a:xfrm>
            <a:off x="5367528" y="4663440"/>
            <a:ext cx="2602840" cy="548640"/>
          </a:xfrm>
          <a:prstGeom prst="rect">
            <a:avLst/>
          </a:prstGeom>
          <a:noFill/>
          <a:ln/>
        </p:spPr>
        <p:txBody>
          <a:bodyPr wrap="square" lIns="0" tIns="0" rIns="0" bIns="0" rtlCol="0" anchor="ctr"/>
          <a:lstStyle/>
          <a:p>
            <a:pPr marL="0" indent="0">
              <a:buNone/>
            </a:pPr>
            <a:r>
              <a:rPr lang="en-US" sz="900" b="1" kern="0" spc="150" dirty="0">
                <a:solidFill>
                  <a:srgbClr val="7A8A94"/>
                </a:solidFill>
                <a:latin typeface="Calibri" pitchFamily="34" charset="0"/>
                <a:ea typeface="Calibri" pitchFamily="34" charset="-122"/>
                <a:cs typeface="Calibri" pitchFamily="34" charset="-120"/>
              </a:rPr>
              <a:t>MEMBER 3</a:t>
            </a:r>
            <a:endParaRPr lang="en-US" sz="900" dirty="0"/>
          </a:p>
          <a:p>
            <a:pPr marL="0" indent="0">
              <a:buNone/>
            </a:pPr>
            <a:r>
              <a:rPr lang="en-US" sz="1250" b="1" dirty="0">
                <a:solidFill>
                  <a:srgbClr val="0F1B2D"/>
                </a:solidFill>
                <a:latin typeface="Calibri" pitchFamily="34" charset="0"/>
                <a:ea typeface="Calibri" pitchFamily="34" charset="-122"/>
                <a:cs typeface="Calibri" pitchFamily="34" charset="-120"/>
              </a:rPr>
              <a:t>Cloud Backend &amp; Intelligent Processing</a:t>
            </a:r>
            <a:endParaRPr lang="en-US" sz="900" dirty="0"/>
          </a:p>
        </p:txBody>
      </p:sp>
      <p:sp>
        <p:nvSpPr>
          <p:cNvPr id="68" name="Text 59"/>
          <p:cNvSpPr txBox="1"/>
          <p:nvPr/>
        </p:nvSpPr>
        <p:spPr>
          <a:xfrm>
            <a:off x="4837176" y="5266944"/>
            <a:ext cx="3078328" cy="45720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Python backend · AWS IoT Core · DynamoDB · validation · LLM · weather · email</a:t>
            </a:r>
            <a:endParaRPr lang="en-US" sz="1050" dirty="0"/>
          </a:p>
        </p:txBody>
      </p:sp>
      <p:sp>
        <p:nvSpPr>
          <p:cNvPr id="69" name="Text 60"/>
          <p:cNvSpPr txBox="1"/>
          <p:nvPr/>
        </p:nvSpPr>
        <p:spPr>
          <a:xfrm>
            <a:off x="4837176" y="5724144"/>
            <a:ext cx="3078328" cy="329184"/>
          </a:xfrm>
          <a:prstGeom prst="rect">
            <a:avLst/>
          </a:prstGeom>
          <a:noFill/>
          <a:ln/>
        </p:spPr>
        <p:txBody>
          <a:bodyPr wrap="square" lIns="0" tIns="0" rIns="0" bIns="0" rtlCol="0" anchor="ctr"/>
          <a:lstStyle/>
          <a:p>
            <a:pPr marL="0" indent="0">
              <a:buNone/>
            </a:pPr>
            <a:r>
              <a:rPr lang="en-US" sz="950" b="1" dirty="0">
                <a:solidFill>
                  <a:srgbClr val="1E3A5F"/>
                </a:solidFill>
                <a:latin typeface="Calibri" pitchFamily="34" charset="0"/>
                <a:ea typeface="Calibri" pitchFamily="34" charset="-122"/>
                <a:cs typeface="Calibri" pitchFamily="34" charset="-120"/>
              </a:rPr>
              <a:t>Support: </a:t>
            </a:r>
            <a:r>
              <a:rPr lang="en-US" sz="950" dirty="0">
                <a:solidFill>
                  <a:srgbClr val="1E3A5F"/>
                </a:solidFill>
                <a:latin typeface="Calibri" pitchFamily="34" charset="0"/>
                <a:ea typeface="Calibri" pitchFamily="34" charset="-122"/>
                <a:cs typeface="Calibri" pitchFamily="34" charset="-120"/>
              </a:rPr>
              <a:t>Cloud tests · API/security docs · backend integration · demo</a:t>
            </a:r>
            <a:endParaRPr lang="en-US" sz="950" dirty="0"/>
          </a:p>
        </p:txBody>
      </p:sp>
      <p:sp>
        <p:nvSpPr>
          <p:cNvPr id="70" name="Shape 61"/>
          <p:cNvSpPr/>
          <p:nvPr/>
        </p:nvSpPr>
        <p:spPr>
          <a:xfrm>
            <a:off x="8217256" y="4535424"/>
            <a:ext cx="3425800" cy="1572768"/>
          </a:xfrm>
          <a:prstGeom prst="roundRect">
            <a:avLst>
              <a:gd name="adj" fmla="val 6977"/>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71" name="Shape 62"/>
          <p:cNvSpPr/>
          <p:nvPr/>
        </p:nvSpPr>
        <p:spPr>
          <a:xfrm>
            <a:off x="8400136" y="4718304"/>
            <a:ext cx="420624" cy="420624"/>
          </a:xfrm>
          <a:prstGeom prst="ellipse">
            <a:avLst/>
          </a:prstGeom>
          <a:solidFill>
            <a:srgbClr val="4D7C0F"/>
          </a:solidFill>
          <a:ln/>
        </p:spPr>
        <p:txBody>
          <a:bodyPr/>
          <a:lstStyle/>
          <a:p>
            <a:endParaRPr lang="en-US"/>
          </a:p>
        </p:txBody>
      </p:sp>
      <p:sp>
        <p:nvSpPr>
          <p:cNvPr id="72" name="Text 63"/>
          <p:cNvSpPr txBox="1"/>
          <p:nvPr/>
        </p:nvSpPr>
        <p:spPr>
          <a:xfrm>
            <a:off x="8400136" y="47183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73" name="Text 64"/>
          <p:cNvSpPr txBox="1"/>
          <p:nvPr/>
        </p:nvSpPr>
        <p:spPr>
          <a:xfrm>
            <a:off x="8930488" y="4663440"/>
            <a:ext cx="2602840" cy="548640"/>
          </a:xfrm>
          <a:prstGeom prst="rect">
            <a:avLst/>
          </a:prstGeom>
          <a:noFill/>
          <a:ln/>
        </p:spPr>
        <p:txBody>
          <a:bodyPr wrap="square" lIns="0" tIns="0" rIns="0" bIns="0" rtlCol="0" anchor="ctr"/>
          <a:lstStyle/>
          <a:p>
            <a:pPr marL="0" indent="0">
              <a:buNone/>
            </a:pPr>
            <a:r>
              <a:rPr lang="en-US" sz="900" b="1" kern="0" spc="150" dirty="0">
                <a:solidFill>
                  <a:srgbClr val="7A8A94"/>
                </a:solidFill>
                <a:latin typeface="Calibri" pitchFamily="34" charset="0"/>
                <a:ea typeface="Calibri" pitchFamily="34" charset="-122"/>
                <a:cs typeface="Calibri" pitchFamily="34" charset="-120"/>
              </a:rPr>
              <a:t>MEMBER 4</a:t>
            </a:r>
            <a:endParaRPr lang="en-US" sz="900" dirty="0"/>
          </a:p>
          <a:p>
            <a:pPr marL="0" indent="0">
              <a:buNone/>
            </a:pPr>
            <a:r>
              <a:rPr lang="en-US" sz="1250" b="1" dirty="0">
                <a:solidFill>
                  <a:srgbClr val="0F1B2D"/>
                </a:solidFill>
                <a:latin typeface="Calibri" pitchFamily="34" charset="0"/>
                <a:ea typeface="Calibri" pitchFamily="34" charset="-122"/>
                <a:cs typeface="Calibri" pitchFamily="34" charset="-120"/>
              </a:rPr>
              <a:t>Node-RED, Integration &amp; UI</a:t>
            </a:r>
            <a:endParaRPr lang="en-US" sz="900" dirty="0"/>
          </a:p>
        </p:txBody>
      </p:sp>
      <p:sp>
        <p:nvSpPr>
          <p:cNvPr id="74" name="Text 65"/>
          <p:cNvSpPr txBox="1"/>
          <p:nvPr/>
        </p:nvSpPr>
        <p:spPr>
          <a:xfrm>
            <a:off x="8400136" y="5266944"/>
            <a:ext cx="3078328" cy="45720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Dashboard · MQTT visualization · LLM I/O · weather/notification display · integration</a:t>
            </a:r>
            <a:endParaRPr lang="en-US" sz="1050" dirty="0"/>
          </a:p>
        </p:txBody>
      </p:sp>
      <p:sp>
        <p:nvSpPr>
          <p:cNvPr id="75" name="Text 66"/>
          <p:cNvSpPr txBox="1"/>
          <p:nvPr/>
        </p:nvSpPr>
        <p:spPr>
          <a:xfrm>
            <a:off x="8400136" y="5724144"/>
            <a:ext cx="3078328" cy="329184"/>
          </a:xfrm>
          <a:prstGeom prst="rect">
            <a:avLst/>
          </a:prstGeom>
          <a:noFill/>
          <a:ln/>
        </p:spPr>
        <p:txBody>
          <a:bodyPr wrap="square" lIns="0" tIns="0" rIns="0" bIns="0" rtlCol="0" anchor="ctr"/>
          <a:lstStyle/>
          <a:p>
            <a:pPr marL="0" indent="0">
              <a:buNone/>
            </a:pPr>
            <a:r>
              <a:rPr lang="en-US" sz="950" b="1" dirty="0">
                <a:solidFill>
                  <a:srgbClr val="4D7C0F"/>
                </a:solidFill>
                <a:latin typeface="Calibri" pitchFamily="34" charset="0"/>
                <a:ea typeface="Calibri" pitchFamily="34" charset="-122"/>
                <a:cs typeface="Calibri" pitchFamily="34" charset="-120"/>
              </a:rPr>
              <a:t>Support: </a:t>
            </a:r>
            <a:r>
              <a:rPr lang="en-US" sz="950" dirty="0">
                <a:solidFill>
                  <a:srgbClr val="4D7C0F"/>
                </a:solidFill>
                <a:latin typeface="Calibri" pitchFamily="34" charset="0"/>
                <a:ea typeface="Calibri" pitchFamily="34" charset="-122"/>
                <a:cs typeface="Calibri" pitchFamily="34" charset="-120"/>
              </a:rPr>
              <a:t>End-to-end testing · UI docs · commercial video · demo</a:t>
            </a:r>
            <a:endParaRPr lang="en-US" sz="950" dirty="0"/>
          </a:p>
        </p:txBody>
      </p:sp>
      <p:sp>
        <p:nvSpPr>
          <p:cNvPr id="76" name="Text 67"/>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77" name="Text 68"/>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09</a:t>
            </a:r>
            <a:endParaRPr lang="en-US" sz="900" dirty="0"/>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56032"/>
          </a:xfrm>
          <a:prstGeom prst="rect">
            <a:avLst/>
          </a:prstGeom>
          <a:noFill/>
          <a:ln/>
        </p:spPr>
        <p:txBody>
          <a:bodyPr wrap="square" lIns="0" tIns="0" rIns="0" bIns="0" rtlCol="0" anchor="t"/>
          <a:lstStyle/>
          <a:p>
            <a:pPr marL="0" indent="0">
              <a:buNone/>
            </a:pPr>
            <a:r>
              <a:rPr lang="en-US" sz="1100" b="1" kern="0" spc="200" dirty="0">
                <a:solidFill>
                  <a:srgbClr val="2E9E5B"/>
                </a:solidFill>
                <a:latin typeface="Arial" pitchFamily="34" charset="0"/>
                <a:ea typeface="Arial" pitchFamily="34" charset="-122"/>
                <a:cs typeface="Arial" pitchFamily="34" charset="-120"/>
              </a:rPr>
              <a:t>10  ·  EXPECTED OUTCOMES &amp; CONCLUSION</a:t>
            </a:r>
            <a:endParaRPr lang="en-US" sz="1100" dirty="0"/>
          </a:p>
        </p:txBody>
      </p:sp>
      <p:sp>
        <p:nvSpPr>
          <p:cNvPr id="3" name="Text 1"/>
          <p:cNvSpPr txBox="1"/>
          <p:nvPr/>
        </p:nvSpPr>
        <p:spPr>
          <a:xfrm>
            <a:off x="548640" y="658368"/>
            <a:ext cx="8778240" cy="640080"/>
          </a:xfrm>
          <a:prstGeom prst="rect">
            <a:avLst/>
          </a:prstGeom>
          <a:noFill/>
          <a:ln/>
        </p:spPr>
        <p:txBody>
          <a:bodyPr wrap="square" lIns="0" tIns="0" rIns="0" bIns="0" rtlCol="0" anchor="ctr"/>
          <a:lstStyle/>
          <a:p>
            <a:pPr marL="0" indent="0">
              <a:buNone/>
            </a:pPr>
            <a:r>
              <a:rPr lang="en-US" sz="2800" b="1" dirty="0">
                <a:solidFill>
                  <a:srgbClr val="0F1B2D"/>
                </a:solidFill>
                <a:latin typeface="Arial" pitchFamily="34" charset="0"/>
                <a:ea typeface="Arial" pitchFamily="34" charset="-122"/>
                <a:cs typeface="Arial" pitchFamily="34" charset="-120"/>
              </a:rPr>
              <a:t>What GreenPulse Is Expected to Deliver</a:t>
            </a:r>
            <a:endParaRPr lang="en-US" sz="2800" dirty="0"/>
          </a:p>
        </p:txBody>
      </p:sp>
      <p:pic>
        <p:nvPicPr>
          <p:cNvPr id="7" name="Image 1" descr="preencoded.png"/>
          <p:cNvPicPr>
            <a:picLocks noChangeAspect="1"/>
          </p:cNvPicPr>
          <p:nvPr/>
        </p:nvPicPr>
        <p:blipFill>
          <a:blip r:embed="rId3"/>
          <a:stretch>
            <a:fillRect/>
          </a:stretch>
        </p:blipFill>
        <p:spPr>
          <a:xfrm>
            <a:off x="4518508" y="1549908"/>
            <a:ext cx="3154680" cy="3154680"/>
          </a:xfrm>
          <a:prstGeom prst="rect">
            <a:avLst/>
          </a:prstGeom>
        </p:spPr>
      </p:pic>
      <p:sp>
        <p:nvSpPr>
          <p:cNvPr id="8" name="Shape 4"/>
          <p:cNvSpPr/>
          <p:nvPr/>
        </p:nvSpPr>
        <p:spPr>
          <a:xfrm>
            <a:off x="4251960" y="2029968"/>
            <a:ext cx="571957" cy="365760"/>
          </a:xfrm>
          <a:prstGeom prst="line">
            <a:avLst/>
          </a:prstGeom>
          <a:noFill/>
          <a:ln w="15875">
            <a:solidFill>
              <a:srgbClr val="C4EBD0"/>
            </a:solidFill>
            <a:prstDash val="dash"/>
          </a:ln>
        </p:spPr>
        <p:txBody>
          <a:bodyPr/>
          <a:lstStyle/>
          <a:p>
            <a:endParaRPr lang="en-US"/>
          </a:p>
        </p:txBody>
      </p:sp>
      <p:sp>
        <p:nvSpPr>
          <p:cNvPr id="9" name="Shape 5"/>
          <p:cNvSpPr/>
          <p:nvPr/>
        </p:nvSpPr>
        <p:spPr>
          <a:xfrm>
            <a:off x="548640" y="1572768"/>
            <a:ext cx="365760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0" name="Shape 6"/>
          <p:cNvSpPr/>
          <p:nvPr/>
        </p:nvSpPr>
        <p:spPr>
          <a:xfrm>
            <a:off x="731520" y="1755648"/>
            <a:ext cx="548640" cy="548640"/>
          </a:xfrm>
          <a:prstGeom prst="roundRect">
            <a:avLst>
              <a:gd name="adj" fmla="val 24000"/>
            </a:avLst>
          </a:prstGeom>
          <a:solidFill>
            <a:srgbClr val="1E7A46"/>
          </a:solidFill>
          <a:ln/>
        </p:spPr>
        <p:txBody>
          <a:bodyPr/>
          <a:lstStyle/>
          <a:p>
            <a:endParaRPr lang="en-US"/>
          </a:p>
        </p:txBody>
      </p:sp>
      <p:pic>
        <p:nvPicPr>
          <p:cNvPr id="11" name="Image 2" descr="preencoded.png"/>
          <p:cNvPicPr>
            <a:picLocks noChangeAspect="1"/>
          </p:cNvPicPr>
          <p:nvPr/>
        </p:nvPicPr>
        <p:blipFill>
          <a:blip r:embed="rId4"/>
          <a:stretch>
            <a:fillRect/>
          </a:stretch>
        </p:blipFill>
        <p:spPr>
          <a:xfrm>
            <a:off x="852221" y="1876349"/>
            <a:ext cx="307238" cy="307238"/>
          </a:xfrm>
          <a:prstGeom prst="rect">
            <a:avLst/>
          </a:prstGeom>
        </p:spPr>
      </p:pic>
      <p:sp>
        <p:nvSpPr>
          <p:cNvPr id="12" name="Text 7"/>
          <p:cNvSpPr txBox="1"/>
          <p:nvPr/>
        </p:nvSpPr>
        <p:spPr>
          <a:xfrm>
            <a:off x="1444752" y="1719072"/>
            <a:ext cx="2651760" cy="329184"/>
          </a:xfrm>
          <a:prstGeom prst="rect">
            <a:avLst/>
          </a:prstGeom>
          <a:noFill/>
          <a:ln/>
        </p:spPr>
        <p:txBody>
          <a:bodyPr wrap="square" lIns="0" tIns="0" rIns="0" bIns="0" rtlCol="0" anchor="ctr"/>
          <a:lstStyle/>
          <a:p>
            <a:pPr marL="0" indent="0">
              <a:buNone/>
            </a:pPr>
            <a:r>
              <a:rPr lang="en-US" sz="1350" b="1" dirty="0">
                <a:solidFill>
                  <a:srgbClr val="0F1B2D"/>
                </a:solidFill>
                <a:latin typeface="Calibri" pitchFamily="34" charset="0"/>
                <a:ea typeface="Calibri" pitchFamily="34" charset="-122"/>
                <a:cs typeface="Calibri" pitchFamily="34" charset="-120"/>
              </a:rPr>
              <a:t>Real-Time Environmental Monitoring</a:t>
            </a:r>
            <a:endParaRPr lang="en-US" sz="1350" dirty="0"/>
          </a:p>
        </p:txBody>
      </p:sp>
      <p:sp>
        <p:nvSpPr>
          <p:cNvPr id="13" name="Text 8"/>
          <p:cNvSpPr txBox="1"/>
          <p:nvPr/>
        </p:nvSpPr>
        <p:spPr>
          <a:xfrm>
            <a:off x="1444752" y="2048256"/>
            <a:ext cx="2651760" cy="27432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ESP32 sensing with OLED + RGB local status</a:t>
            </a:r>
            <a:endParaRPr lang="en-US" sz="1050" dirty="0"/>
          </a:p>
        </p:txBody>
      </p:sp>
      <p:sp>
        <p:nvSpPr>
          <p:cNvPr id="14" name="Shape 9"/>
          <p:cNvSpPr/>
          <p:nvPr/>
        </p:nvSpPr>
        <p:spPr>
          <a:xfrm>
            <a:off x="4251960" y="3127248"/>
            <a:ext cx="571957" cy="914"/>
          </a:xfrm>
          <a:prstGeom prst="line">
            <a:avLst/>
          </a:prstGeom>
          <a:noFill/>
          <a:ln w="15875">
            <a:solidFill>
              <a:srgbClr val="C4EBD0"/>
            </a:solidFill>
            <a:prstDash val="dash"/>
          </a:ln>
        </p:spPr>
        <p:txBody>
          <a:bodyPr/>
          <a:lstStyle/>
          <a:p>
            <a:endParaRPr lang="en-US"/>
          </a:p>
        </p:txBody>
      </p:sp>
      <p:sp>
        <p:nvSpPr>
          <p:cNvPr id="15" name="Shape 10"/>
          <p:cNvSpPr/>
          <p:nvPr/>
        </p:nvSpPr>
        <p:spPr>
          <a:xfrm>
            <a:off x="548640" y="2670048"/>
            <a:ext cx="365760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6" name="Shape 11"/>
          <p:cNvSpPr/>
          <p:nvPr/>
        </p:nvSpPr>
        <p:spPr>
          <a:xfrm>
            <a:off x="731520" y="2852928"/>
            <a:ext cx="548640" cy="548640"/>
          </a:xfrm>
          <a:prstGeom prst="roundRect">
            <a:avLst>
              <a:gd name="adj" fmla="val 24000"/>
            </a:avLst>
          </a:prstGeom>
          <a:solidFill>
            <a:srgbClr val="0F766E"/>
          </a:solidFill>
          <a:ln/>
        </p:spPr>
        <p:txBody>
          <a:bodyPr/>
          <a:lstStyle/>
          <a:p>
            <a:endParaRPr lang="en-US"/>
          </a:p>
        </p:txBody>
      </p:sp>
      <p:pic>
        <p:nvPicPr>
          <p:cNvPr id="17" name="Image 3" descr="preencoded.png"/>
          <p:cNvPicPr>
            <a:picLocks noChangeAspect="1"/>
          </p:cNvPicPr>
          <p:nvPr/>
        </p:nvPicPr>
        <p:blipFill>
          <a:blip r:embed="rId5"/>
          <a:stretch>
            <a:fillRect/>
          </a:stretch>
        </p:blipFill>
        <p:spPr>
          <a:xfrm>
            <a:off x="852221" y="2973629"/>
            <a:ext cx="307238" cy="307238"/>
          </a:xfrm>
          <a:prstGeom prst="rect">
            <a:avLst/>
          </a:prstGeom>
        </p:spPr>
      </p:pic>
      <p:sp>
        <p:nvSpPr>
          <p:cNvPr id="18" name="Text 12"/>
          <p:cNvSpPr txBox="1"/>
          <p:nvPr/>
        </p:nvSpPr>
        <p:spPr>
          <a:xfrm>
            <a:off x="1444752" y="2816352"/>
            <a:ext cx="2651760" cy="329184"/>
          </a:xfrm>
          <a:prstGeom prst="rect">
            <a:avLst/>
          </a:prstGeom>
          <a:noFill/>
          <a:ln/>
        </p:spPr>
        <p:txBody>
          <a:bodyPr wrap="square" lIns="0" tIns="0" rIns="0" bIns="0" rtlCol="0" anchor="ctr"/>
          <a:lstStyle/>
          <a:p>
            <a:pPr marL="0" indent="0">
              <a:buNone/>
            </a:pPr>
            <a:r>
              <a:rPr lang="en-US" sz="1350" b="1" dirty="0">
                <a:solidFill>
                  <a:srgbClr val="0F1B2D"/>
                </a:solidFill>
                <a:latin typeface="Calibri" pitchFamily="34" charset="0"/>
                <a:ea typeface="Calibri" pitchFamily="34" charset="-122"/>
                <a:cs typeface="Calibri" pitchFamily="34" charset="-120"/>
              </a:rPr>
              <a:t>Secure IoT Communication</a:t>
            </a:r>
            <a:endParaRPr lang="en-US" sz="1350" dirty="0"/>
          </a:p>
        </p:txBody>
      </p:sp>
      <p:sp>
        <p:nvSpPr>
          <p:cNvPr id="19" name="Text 13"/>
          <p:cNvSpPr txBox="1"/>
          <p:nvPr/>
        </p:nvSpPr>
        <p:spPr>
          <a:xfrm>
            <a:off x="1444752" y="3145536"/>
            <a:ext cx="2651760" cy="27432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Bidirectional MQTT over TLS via AWS IoT Core</a:t>
            </a:r>
            <a:endParaRPr lang="en-US" sz="1050" dirty="0"/>
          </a:p>
        </p:txBody>
      </p:sp>
      <p:sp>
        <p:nvSpPr>
          <p:cNvPr id="20" name="Shape 14"/>
          <p:cNvSpPr/>
          <p:nvPr/>
        </p:nvSpPr>
        <p:spPr>
          <a:xfrm flipV="1">
            <a:off x="4251960" y="3858768"/>
            <a:ext cx="571957" cy="365760"/>
          </a:xfrm>
          <a:prstGeom prst="line">
            <a:avLst/>
          </a:prstGeom>
          <a:noFill/>
          <a:ln w="15875">
            <a:solidFill>
              <a:srgbClr val="C4EBD0"/>
            </a:solidFill>
            <a:prstDash val="dash"/>
          </a:ln>
        </p:spPr>
        <p:txBody>
          <a:bodyPr/>
          <a:lstStyle/>
          <a:p>
            <a:endParaRPr lang="en-US"/>
          </a:p>
        </p:txBody>
      </p:sp>
      <p:sp>
        <p:nvSpPr>
          <p:cNvPr id="21" name="Shape 15"/>
          <p:cNvSpPr/>
          <p:nvPr/>
        </p:nvSpPr>
        <p:spPr>
          <a:xfrm>
            <a:off x="548640" y="3767328"/>
            <a:ext cx="365760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22" name="Shape 16"/>
          <p:cNvSpPr/>
          <p:nvPr/>
        </p:nvSpPr>
        <p:spPr>
          <a:xfrm>
            <a:off x="731520" y="3950208"/>
            <a:ext cx="548640" cy="548640"/>
          </a:xfrm>
          <a:prstGeom prst="roundRect">
            <a:avLst>
              <a:gd name="adj" fmla="val 24000"/>
            </a:avLst>
          </a:prstGeom>
          <a:solidFill>
            <a:srgbClr val="1E3A5F"/>
          </a:solidFill>
          <a:ln/>
        </p:spPr>
        <p:txBody>
          <a:bodyPr/>
          <a:lstStyle/>
          <a:p>
            <a:endParaRPr lang="en-US"/>
          </a:p>
        </p:txBody>
      </p:sp>
      <p:pic>
        <p:nvPicPr>
          <p:cNvPr id="23" name="Image 4" descr="preencoded.png"/>
          <p:cNvPicPr>
            <a:picLocks noChangeAspect="1"/>
          </p:cNvPicPr>
          <p:nvPr/>
        </p:nvPicPr>
        <p:blipFill>
          <a:blip r:embed="rId6"/>
          <a:stretch>
            <a:fillRect/>
          </a:stretch>
        </p:blipFill>
        <p:spPr>
          <a:xfrm>
            <a:off x="852221" y="4070909"/>
            <a:ext cx="307238" cy="307238"/>
          </a:xfrm>
          <a:prstGeom prst="rect">
            <a:avLst/>
          </a:prstGeom>
        </p:spPr>
      </p:pic>
      <p:sp>
        <p:nvSpPr>
          <p:cNvPr id="24" name="Text 17"/>
          <p:cNvSpPr txBox="1"/>
          <p:nvPr/>
        </p:nvSpPr>
        <p:spPr>
          <a:xfrm>
            <a:off x="1444752" y="3913632"/>
            <a:ext cx="2651760" cy="329184"/>
          </a:xfrm>
          <a:prstGeom prst="rect">
            <a:avLst/>
          </a:prstGeom>
          <a:noFill/>
          <a:ln/>
        </p:spPr>
        <p:txBody>
          <a:bodyPr wrap="square" lIns="0" tIns="0" rIns="0" bIns="0" rtlCol="0" anchor="ctr"/>
          <a:lstStyle/>
          <a:p>
            <a:pPr marL="0" indent="0">
              <a:buNone/>
            </a:pPr>
            <a:r>
              <a:rPr lang="en-US" sz="1350" b="1" dirty="0">
                <a:solidFill>
                  <a:srgbClr val="0F1B2D"/>
                </a:solidFill>
                <a:latin typeface="Calibri" pitchFamily="34" charset="0"/>
                <a:ea typeface="Calibri" pitchFamily="34" charset="-122"/>
                <a:cs typeface="Calibri" pitchFamily="34" charset="-120"/>
              </a:rPr>
              <a:t>Cloud Data Storage</a:t>
            </a:r>
            <a:endParaRPr lang="en-US" sz="1350" dirty="0"/>
          </a:p>
        </p:txBody>
      </p:sp>
      <p:sp>
        <p:nvSpPr>
          <p:cNvPr id="25" name="Text 18"/>
          <p:cNvSpPr txBox="1"/>
          <p:nvPr/>
        </p:nvSpPr>
        <p:spPr>
          <a:xfrm>
            <a:off x="1444752" y="4242816"/>
            <a:ext cx="2651760" cy="27432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Validated, timestamped records in DynamoDB</a:t>
            </a:r>
            <a:endParaRPr lang="en-US" sz="1050" dirty="0"/>
          </a:p>
        </p:txBody>
      </p:sp>
      <p:sp>
        <p:nvSpPr>
          <p:cNvPr id="26" name="Shape 19"/>
          <p:cNvSpPr/>
          <p:nvPr/>
        </p:nvSpPr>
        <p:spPr>
          <a:xfrm flipV="1">
            <a:off x="7367778" y="2029968"/>
            <a:ext cx="571957" cy="365760"/>
          </a:xfrm>
          <a:prstGeom prst="line">
            <a:avLst/>
          </a:prstGeom>
          <a:noFill/>
          <a:ln w="15875">
            <a:solidFill>
              <a:srgbClr val="C4EBD0"/>
            </a:solidFill>
            <a:prstDash val="dash"/>
          </a:ln>
        </p:spPr>
        <p:txBody>
          <a:bodyPr/>
          <a:lstStyle/>
          <a:p>
            <a:endParaRPr lang="en-US"/>
          </a:p>
        </p:txBody>
      </p:sp>
      <p:sp>
        <p:nvSpPr>
          <p:cNvPr id="27" name="Shape 20"/>
          <p:cNvSpPr/>
          <p:nvPr/>
        </p:nvSpPr>
        <p:spPr>
          <a:xfrm>
            <a:off x="7985455" y="1572768"/>
            <a:ext cx="365760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28" name="Shape 21"/>
          <p:cNvSpPr/>
          <p:nvPr/>
        </p:nvSpPr>
        <p:spPr>
          <a:xfrm>
            <a:off x="8168335" y="1755648"/>
            <a:ext cx="548640" cy="548640"/>
          </a:xfrm>
          <a:prstGeom prst="roundRect">
            <a:avLst>
              <a:gd name="adj" fmla="val 24000"/>
            </a:avLst>
          </a:prstGeom>
          <a:solidFill>
            <a:srgbClr val="1E3A5F"/>
          </a:solidFill>
          <a:ln/>
        </p:spPr>
        <p:txBody>
          <a:bodyPr/>
          <a:lstStyle/>
          <a:p>
            <a:endParaRPr lang="en-US"/>
          </a:p>
        </p:txBody>
      </p:sp>
      <p:pic>
        <p:nvPicPr>
          <p:cNvPr id="29" name="Image 5" descr="preencoded.png"/>
          <p:cNvPicPr>
            <a:picLocks noChangeAspect="1"/>
          </p:cNvPicPr>
          <p:nvPr/>
        </p:nvPicPr>
        <p:blipFill>
          <a:blip r:embed="rId7"/>
          <a:stretch>
            <a:fillRect/>
          </a:stretch>
        </p:blipFill>
        <p:spPr>
          <a:xfrm>
            <a:off x="8289036" y="1876349"/>
            <a:ext cx="307238" cy="307238"/>
          </a:xfrm>
          <a:prstGeom prst="rect">
            <a:avLst/>
          </a:prstGeom>
        </p:spPr>
      </p:pic>
      <p:sp>
        <p:nvSpPr>
          <p:cNvPr id="30" name="Text 22"/>
          <p:cNvSpPr txBox="1"/>
          <p:nvPr/>
        </p:nvSpPr>
        <p:spPr>
          <a:xfrm>
            <a:off x="8881567" y="1719072"/>
            <a:ext cx="2651760" cy="329184"/>
          </a:xfrm>
          <a:prstGeom prst="rect">
            <a:avLst/>
          </a:prstGeom>
          <a:noFill/>
          <a:ln/>
        </p:spPr>
        <p:txBody>
          <a:bodyPr wrap="square" lIns="0" tIns="0" rIns="0" bIns="0" rtlCol="0" anchor="ctr"/>
          <a:lstStyle/>
          <a:p>
            <a:pPr marL="0" indent="0">
              <a:buNone/>
            </a:pPr>
            <a:r>
              <a:rPr lang="en-US" sz="1350" b="1" dirty="0">
                <a:solidFill>
                  <a:srgbClr val="0F1B2D"/>
                </a:solidFill>
                <a:latin typeface="Calibri" pitchFamily="34" charset="0"/>
                <a:ea typeface="Calibri" pitchFamily="34" charset="-122"/>
                <a:cs typeface="Calibri" pitchFamily="34" charset="-120"/>
              </a:rPr>
              <a:t>Context-Aware LLM Processing</a:t>
            </a:r>
            <a:endParaRPr lang="en-US" sz="1350" dirty="0"/>
          </a:p>
        </p:txBody>
      </p:sp>
      <p:sp>
        <p:nvSpPr>
          <p:cNvPr id="31" name="Text 23"/>
          <p:cNvSpPr txBox="1"/>
          <p:nvPr/>
        </p:nvSpPr>
        <p:spPr>
          <a:xfrm>
            <a:off x="8881567" y="2048256"/>
            <a:ext cx="2651760" cy="27432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Grounded care tips and literary quotes</a:t>
            </a:r>
            <a:endParaRPr lang="en-US" sz="1050" dirty="0"/>
          </a:p>
        </p:txBody>
      </p:sp>
      <p:sp>
        <p:nvSpPr>
          <p:cNvPr id="32" name="Shape 24"/>
          <p:cNvSpPr/>
          <p:nvPr/>
        </p:nvSpPr>
        <p:spPr>
          <a:xfrm>
            <a:off x="7367778" y="3127248"/>
            <a:ext cx="571957" cy="914"/>
          </a:xfrm>
          <a:prstGeom prst="line">
            <a:avLst/>
          </a:prstGeom>
          <a:noFill/>
          <a:ln w="15875">
            <a:solidFill>
              <a:srgbClr val="C4EBD0"/>
            </a:solidFill>
            <a:prstDash val="dash"/>
          </a:ln>
        </p:spPr>
        <p:txBody>
          <a:bodyPr/>
          <a:lstStyle/>
          <a:p>
            <a:endParaRPr lang="en-US"/>
          </a:p>
        </p:txBody>
      </p:sp>
      <p:sp>
        <p:nvSpPr>
          <p:cNvPr id="33" name="Shape 25"/>
          <p:cNvSpPr/>
          <p:nvPr/>
        </p:nvSpPr>
        <p:spPr>
          <a:xfrm>
            <a:off x="7985455" y="2670048"/>
            <a:ext cx="365760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34" name="Shape 26"/>
          <p:cNvSpPr/>
          <p:nvPr/>
        </p:nvSpPr>
        <p:spPr>
          <a:xfrm>
            <a:off x="8168335" y="2852928"/>
            <a:ext cx="548640" cy="548640"/>
          </a:xfrm>
          <a:prstGeom prst="roundRect">
            <a:avLst>
              <a:gd name="adj" fmla="val 24000"/>
            </a:avLst>
          </a:prstGeom>
          <a:solidFill>
            <a:srgbClr val="0F766E"/>
          </a:solidFill>
          <a:ln/>
        </p:spPr>
        <p:txBody>
          <a:bodyPr/>
          <a:lstStyle/>
          <a:p>
            <a:endParaRPr lang="en-US"/>
          </a:p>
        </p:txBody>
      </p:sp>
      <p:pic>
        <p:nvPicPr>
          <p:cNvPr id="35" name="Image 6" descr="preencoded.png"/>
          <p:cNvPicPr>
            <a:picLocks noChangeAspect="1"/>
          </p:cNvPicPr>
          <p:nvPr/>
        </p:nvPicPr>
        <p:blipFill>
          <a:blip r:embed="rId8"/>
          <a:stretch>
            <a:fillRect/>
          </a:stretch>
        </p:blipFill>
        <p:spPr>
          <a:xfrm>
            <a:off x="8289036" y="2973629"/>
            <a:ext cx="307238" cy="307238"/>
          </a:xfrm>
          <a:prstGeom prst="rect">
            <a:avLst/>
          </a:prstGeom>
        </p:spPr>
      </p:pic>
      <p:sp>
        <p:nvSpPr>
          <p:cNvPr id="36" name="Text 27"/>
          <p:cNvSpPr txBox="1"/>
          <p:nvPr/>
        </p:nvSpPr>
        <p:spPr>
          <a:xfrm>
            <a:off x="8881567" y="2816352"/>
            <a:ext cx="2651760" cy="329184"/>
          </a:xfrm>
          <a:prstGeom prst="rect">
            <a:avLst/>
          </a:prstGeom>
          <a:noFill/>
          <a:ln/>
        </p:spPr>
        <p:txBody>
          <a:bodyPr wrap="square" lIns="0" tIns="0" rIns="0" bIns="0" rtlCol="0" anchor="ctr"/>
          <a:lstStyle/>
          <a:p>
            <a:pPr marL="0" indent="0">
              <a:buNone/>
            </a:pPr>
            <a:r>
              <a:rPr lang="en-US" sz="1350" b="1" dirty="0">
                <a:solidFill>
                  <a:srgbClr val="0F1B2D"/>
                </a:solidFill>
                <a:latin typeface="Calibri" pitchFamily="34" charset="0"/>
                <a:ea typeface="Calibri" pitchFamily="34" charset="-122"/>
                <a:cs typeface="Calibri" pitchFamily="34" charset="-120"/>
              </a:rPr>
              <a:t>Weather &amp; Notification Integration</a:t>
            </a:r>
            <a:endParaRPr lang="en-US" sz="1350" dirty="0"/>
          </a:p>
        </p:txBody>
      </p:sp>
      <p:sp>
        <p:nvSpPr>
          <p:cNvPr id="37" name="Text 28"/>
          <p:cNvSpPr txBox="1"/>
          <p:nvPr/>
        </p:nvSpPr>
        <p:spPr>
          <a:xfrm>
            <a:off x="8881567" y="3145536"/>
            <a:ext cx="2651760" cy="27432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Real weather API + authorized account</a:t>
            </a:r>
            <a:endParaRPr lang="en-US" sz="1050" dirty="0"/>
          </a:p>
        </p:txBody>
      </p:sp>
      <p:sp>
        <p:nvSpPr>
          <p:cNvPr id="38" name="Shape 29"/>
          <p:cNvSpPr/>
          <p:nvPr/>
        </p:nvSpPr>
        <p:spPr>
          <a:xfrm>
            <a:off x="7367778" y="3858768"/>
            <a:ext cx="571957" cy="365760"/>
          </a:xfrm>
          <a:prstGeom prst="line">
            <a:avLst/>
          </a:prstGeom>
          <a:noFill/>
          <a:ln w="15875">
            <a:solidFill>
              <a:srgbClr val="C4EBD0"/>
            </a:solidFill>
            <a:prstDash val="dash"/>
          </a:ln>
        </p:spPr>
        <p:txBody>
          <a:bodyPr/>
          <a:lstStyle/>
          <a:p>
            <a:endParaRPr lang="en-US"/>
          </a:p>
        </p:txBody>
      </p:sp>
      <p:sp>
        <p:nvSpPr>
          <p:cNvPr id="39" name="Shape 30"/>
          <p:cNvSpPr/>
          <p:nvPr/>
        </p:nvSpPr>
        <p:spPr>
          <a:xfrm>
            <a:off x="7985455" y="3767328"/>
            <a:ext cx="3657600" cy="914400"/>
          </a:xfrm>
          <a:prstGeom prst="roundRect">
            <a:avLst>
              <a:gd name="adj" fmla="val 12000"/>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40" name="Shape 31"/>
          <p:cNvSpPr/>
          <p:nvPr/>
        </p:nvSpPr>
        <p:spPr>
          <a:xfrm>
            <a:off x="8168335" y="3950208"/>
            <a:ext cx="548640" cy="548640"/>
          </a:xfrm>
          <a:prstGeom prst="roundRect">
            <a:avLst>
              <a:gd name="adj" fmla="val 24000"/>
            </a:avLst>
          </a:prstGeom>
          <a:solidFill>
            <a:srgbClr val="4D7C0F"/>
          </a:solidFill>
          <a:ln/>
        </p:spPr>
        <p:txBody>
          <a:bodyPr/>
          <a:lstStyle/>
          <a:p>
            <a:endParaRPr lang="en-US"/>
          </a:p>
        </p:txBody>
      </p:sp>
      <p:pic>
        <p:nvPicPr>
          <p:cNvPr id="41" name="Image 7" descr="preencoded.png"/>
          <p:cNvPicPr>
            <a:picLocks noChangeAspect="1"/>
          </p:cNvPicPr>
          <p:nvPr/>
        </p:nvPicPr>
        <p:blipFill>
          <a:blip r:embed="rId9"/>
          <a:stretch>
            <a:fillRect/>
          </a:stretch>
        </p:blipFill>
        <p:spPr>
          <a:xfrm>
            <a:off x="8289036" y="4070909"/>
            <a:ext cx="307238" cy="307238"/>
          </a:xfrm>
          <a:prstGeom prst="rect">
            <a:avLst/>
          </a:prstGeom>
        </p:spPr>
      </p:pic>
      <p:sp>
        <p:nvSpPr>
          <p:cNvPr id="42" name="Text 32"/>
          <p:cNvSpPr txBox="1"/>
          <p:nvPr/>
        </p:nvSpPr>
        <p:spPr>
          <a:xfrm>
            <a:off x="8881567" y="3913632"/>
            <a:ext cx="2651760" cy="329184"/>
          </a:xfrm>
          <a:prstGeom prst="rect">
            <a:avLst/>
          </a:prstGeom>
          <a:noFill/>
          <a:ln/>
        </p:spPr>
        <p:txBody>
          <a:bodyPr wrap="square" lIns="0" tIns="0" rIns="0" bIns="0" rtlCol="0" anchor="ctr"/>
          <a:lstStyle/>
          <a:p>
            <a:pPr marL="0" indent="0">
              <a:buNone/>
            </a:pPr>
            <a:r>
              <a:rPr lang="en-US" sz="1350" b="1" dirty="0">
                <a:solidFill>
                  <a:srgbClr val="0F1B2D"/>
                </a:solidFill>
                <a:latin typeface="Calibri" pitchFamily="34" charset="0"/>
                <a:ea typeface="Calibri" pitchFamily="34" charset="-122"/>
                <a:cs typeface="Calibri" pitchFamily="34" charset="-120"/>
              </a:rPr>
              <a:t>Unified Node-RED Dashboard</a:t>
            </a:r>
            <a:endParaRPr lang="en-US" sz="1350" dirty="0"/>
          </a:p>
        </p:txBody>
      </p:sp>
      <p:sp>
        <p:nvSpPr>
          <p:cNvPr id="43" name="Text 33"/>
          <p:cNvSpPr txBox="1"/>
          <p:nvPr/>
        </p:nvSpPr>
        <p:spPr>
          <a:xfrm>
            <a:off x="8881567" y="4242816"/>
            <a:ext cx="2651760" cy="27432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Sensors, MQTT info and LLM I/O together</a:t>
            </a:r>
            <a:endParaRPr lang="en-US" sz="1050" dirty="0"/>
          </a:p>
        </p:txBody>
      </p:sp>
      <p:sp>
        <p:nvSpPr>
          <p:cNvPr id="44" name="Shape 34"/>
          <p:cNvSpPr/>
          <p:nvPr/>
        </p:nvSpPr>
        <p:spPr>
          <a:xfrm>
            <a:off x="548640" y="5029200"/>
            <a:ext cx="11094415" cy="1078992"/>
          </a:xfrm>
          <a:prstGeom prst="roundRect">
            <a:avLst>
              <a:gd name="adj" fmla="val 15254"/>
            </a:avLst>
          </a:prstGeom>
          <a:solidFill>
            <a:srgbClr val="0B2A1C"/>
          </a:solidFill>
          <a:ln/>
        </p:spPr>
        <p:txBody>
          <a:bodyPr/>
          <a:lstStyle/>
          <a:p>
            <a:endParaRPr lang="en-US"/>
          </a:p>
        </p:txBody>
      </p:sp>
      <p:sp>
        <p:nvSpPr>
          <p:cNvPr id="45" name="Shape 35"/>
          <p:cNvSpPr/>
          <p:nvPr/>
        </p:nvSpPr>
        <p:spPr>
          <a:xfrm>
            <a:off x="1135228" y="5303520"/>
            <a:ext cx="1828800" cy="530352"/>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46" name="Text 36"/>
          <p:cNvSpPr txBox="1"/>
          <p:nvPr/>
        </p:nvSpPr>
        <p:spPr>
          <a:xfrm>
            <a:off x="1135228" y="5303520"/>
            <a:ext cx="182880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Sensor Data</a:t>
            </a:r>
            <a:endParaRPr lang="en-US" sz="1400" dirty="0"/>
          </a:p>
        </p:txBody>
      </p:sp>
      <p:sp>
        <p:nvSpPr>
          <p:cNvPr id="47" name="Shape 37"/>
          <p:cNvSpPr/>
          <p:nvPr/>
        </p:nvSpPr>
        <p:spPr>
          <a:xfrm>
            <a:off x="3073756" y="5568696"/>
            <a:ext cx="329184" cy="914"/>
          </a:xfrm>
          <a:prstGeom prst="line">
            <a:avLst/>
          </a:prstGeom>
          <a:noFill/>
          <a:ln w="22225">
            <a:solidFill>
              <a:srgbClr val="8FD9A8"/>
            </a:solidFill>
            <a:prstDash val="solid"/>
            <a:tailEnd type="triangle"/>
          </a:ln>
        </p:spPr>
        <p:txBody>
          <a:bodyPr/>
          <a:lstStyle/>
          <a:p>
            <a:endParaRPr lang="en-US"/>
          </a:p>
        </p:txBody>
      </p:sp>
      <p:sp>
        <p:nvSpPr>
          <p:cNvPr id="48" name="Shape 38"/>
          <p:cNvSpPr/>
          <p:nvPr/>
        </p:nvSpPr>
        <p:spPr>
          <a:xfrm>
            <a:off x="3512668" y="5303520"/>
            <a:ext cx="1463040" cy="530352"/>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49" name="Text 39"/>
          <p:cNvSpPr txBox="1"/>
          <p:nvPr/>
        </p:nvSpPr>
        <p:spPr>
          <a:xfrm>
            <a:off x="3512668" y="5303520"/>
            <a:ext cx="14630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Context</a:t>
            </a:r>
            <a:endParaRPr lang="en-US" sz="1400" dirty="0"/>
          </a:p>
        </p:txBody>
      </p:sp>
      <p:sp>
        <p:nvSpPr>
          <p:cNvPr id="50" name="Shape 40"/>
          <p:cNvSpPr/>
          <p:nvPr/>
        </p:nvSpPr>
        <p:spPr>
          <a:xfrm>
            <a:off x="5085436" y="5568696"/>
            <a:ext cx="329184" cy="914"/>
          </a:xfrm>
          <a:prstGeom prst="line">
            <a:avLst/>
          </a:prstGeom>
          <a:noFill/>
          <a:ln w="22225">
            <a:solidFill>
              <a:srgbClr val="8FD9A8"/>
            </a:solidFill>
            <a:prstDash val="solid"/>
            <a:tailEnd type="triangle"/>
          </a:ln>
        </p:spPr>
        <p:txBody>
          <a:bodyPr/>
          <a:lstStyle/>
          <a:p>
            <a:endParaRPr lang="en-US"/>
          </a:p>
        </p:txBody>
      </p:sp>
      <p:sp>
        <p:nvSpPr>
          <p:cNvPr id="51" name="Shape 41"/>
          <p:cNvSpPr/>
          <p:nvPr/>
        </p:nvSpPr>
        <p:spPr>
          <a:xfrm>
            <a:off x="5524348" y="5303520"/>
            <a:ext cx="1691640" cy="530352"/>
          </a:xfrm>
          <a:prstGeom prst="roundRect">
            <a:avLst>
              <a:gd name="adj" fmla="val 50000"/>
            </a:avLst>
          </a:prstGeom>
          <a:solidFill>
            <a:srgbClr val="123D29"/>
          </a:solidFill>
          <a:ln w="9525">
            <a:solidFill>
              <a:srgbClr val="1E7A46"/>
            </a:solidFill>
            <a:prstDash val="solid"/>
          </a:ln>
        </p:spPr>
        <p:txBody>
          <a:bodyPr/>
          <a:lstStyle/>
          <a:p>
            <a:endParaRPr lang="en-US"/>
          </a:p>
        </p:txBody>
      </p:sp>
      <p:sp>
        <p:nvSpPr>
          <p:cNvPr id="52" name="Text 42"/>
          <p:cNvSpPr txBox="1"/>
          <p:nvPr/>
        </p:nvSpPr>
        <p:spPr>
          <a:xfrm>
            <a:off x="5524348" y="5303520"/>
            <a:ext cx="16916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Intelligence</a:t>
            </a:r>
            <a:endParaRPr lang="en-US" sz="1400" dirty="0"/>
          </a:p>
        </p:txBody>
      </p:sp>
      <p:sp>
        <p:nvSpPr>
          <p:cNvPr id="53" name="Shape 43"/>
          <p:cNvSpPr/>
          <p:nvPr/>
        </p:nvSpPr>
        <p:spPr>
          <a:xfrm>
            <a:off x="7325716" y="5568696"/>
            <a:ext cx="329184" cy="914"/>
          </a:xfrm>
          <a:prstGeom prst="line">
            <a:avLst/>
          </a:prstGeom>
          <a:noFill/>
          <a:ln w="22225">
            <a:solidFill>
              <a:srgbClr val="8FD9A8"/>
            </a:solidFill>
            <a:prstDash val="solid"/>
            <a:tailEnd type="triangle"/>
          </a:ln>
        </p:spPr>
        <p:txBody>
          <a:bodyPr/>
          <a:lstStyle/>
          <a:p>
            <a:endParaRPr lang="en-US"/>
          </a:p>
        </p:txBody>
      </p:sp>
      <p:sp>
        <p:nvSpPr>
          <p:cNvPr id="54" name="Shape 44"/>
          <p:cNvSpPr/>
          <p:nvPr/>
        </p:nvSpPr>
        <p:spPr>
          <a:xfrm>
            <a:off x="7764628" y="5303520"/>
            <a:ext cx="3291840" cy="530352"/>
          </a:xfrm>
          <a:prstGeom prst="roundRect">
            <a:avLst>
              <a:gd name="adj" fmla="val 50000"/>
            </a:avLst>
          </a:prstGeom>
          <a:solidFill>
            <a:srgbClr val="2E9E5B"/>
          </a:solidFill>
          <a:ln w="9525">
            <a:solidFill>
              <a:srgbClr val="4CC47A"/>
            </a:solidFill>
            <a:prstDash val="solid"/>
          </a:ln>
        </p:spPr>
        <p:txBody>
          <a:bodyPr/>
          <a:lstStyle/>
          <a:p>
            <a:endParaRPr lang="en-US"/>
          </a:p>
        </p:txBody>
      </p:sp>
      <p:sp>
        <p:nvSpPr>
          <p:cNvPr id="55" name="Text 45"/>
          <p:cNvSpPr txBox="1"/>
          <p:nvPr/>
        </p:nvSpPr>
        <p:spPr>
          <a:xfrm>
            <a:off x="7764628" y="5303520"/>
            <a:ext cx="329184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Better Plant-Care Decisions</a:t>
            </a:r>
            <a:endParaRPr lang="en-US" sz="1400" dirty="0"/>
          </a:p>
        </p:txBody>
      </p:sp>
      <p:sp>
        <p:nvSpPr>
          <p:cNvPr id="56" name="Text 46"/>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57" name="Text 47"/>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A1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766560" y="731520"/>
            <a:ext cx="5029200" cy="5029200"/>
          </a:xfrm>
          <a:prstGeom prst="rect">
            <a:avLst/>
          </a:prstGeom>
        </p:spPr>
      </p:pic>
      <p:sp>
        <p:nvSpPr>
          <p:cNvPr id="3" name="Text 0"/>
          <p:cNvSpPr txBox="1"/>
          <p:nvPr/>
        </p:nvSpPr>
        <p:spPr>
          <a:xfrm>
            <a:off x="548640" y="1828800"/>
            <a:ext cx="6400800" cy="109728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Thank You</a:t>
            </a:r>
            <a:endParaRPr lang="en-US" sz="6000" dirty="0"/>
          </a:p>
        </p:txBody>
      </p:sp>
      <p:sp>
        <p:nvSpPr>
          <p:cNvPr id="4" name="Text 1"/>
          <p:cNvSpPr txBox="1"/>
          <p:nvPr/>
        </p:nvSpPr>
        <p:spPr>
          <a:xfrm>
            <a:off x="594360" y="2926080"/>
            <a:ext cx="6400800" cy="502920"/>
          </a:xfrm>
          <a:prstGeom prst="rect">
            <a:avLst/>
          </a:prstGeom>
          <a:noFill/>
          <a:ln/>
        </p:spPr>
        <p:txBody>
          <a:bodyPr wrap="square" lIns="0" tIns="0" rIns="0" bIns="0" rtlCol="0" anchor="ctr"/>
          <a:lstStyle/>
          <a:p>
            <a:pPr marL="0" indent="0">
              <a:buNone/>
            </a:pPr>
            <a:r>
              <a:rPr lang="en-US" sz="2600" dirty="0">
                <a:solidFill>
                  <a:srgbClr val="8FD9A8"/>
                </a:solidFill>
                <a:latin typeface="Arial" pitchFamily="34" charset="0"/>
                <a:ea typeface="Arial" pitchFamily="34" charset="-122"/>
                <a:cs typeface="Arial" pitchFamily="34" charset="-120"/>
              </a:rPr>
              <a:t>Questions &amp; Answers</a:t>
            </a:r>
            <a:endParaRPr lang="en-US" sz="2600" dirty="0"/>
          </a:p>
        </p:txBody>
      </p:sp>
      <p:sp>
        <p:nvSpPr>
          <p:cNvPr id="5" name="Text 2"/>
          <p:cNvSpPr txBox="1"/>
          <p:nvPr/>
        </p:nvSpPr>
        <p:spPr>
          <a:xfrm>
            <a:off x="594360" y="3657600"/>
            <a:ext cx="6400800" cy="365760"/>
          </a:xfrm>
          <a:prstGeom prst="rect">
            <a:avLst/>
          </a:prstGeom>
          <a:noFill/>
          <a:ln/>
        </p:spPr>
        <p:txBody>
          <a:bodyPr wrap="square" lIns="0" tIns="0" rIns="0" bIns="0" rtlCol="0" anchor="t"/>
          <a:lstStyle/>
          <a:p>
            <a:pPr marL="0" indent="0">
              <a:buNone/>
            </a:pPr>
            <a:r>
              <a:rPr lang="en-US" sz="1500" i="1" dirty="0">
                <a:solidFill>
                  <a:srgbClr val="D9EFE0"/>
                </a:solidFill>
                <a:latin typeface="Calibri" pitchFamily="34" charset="0"/>
                <a:ea typeface="Calibri" pitchFamily="34" charset="-122"/>
                <a:cs typeface="Calibri" pitchFamily="34" charset="-120"/>
              </a:rPr>
              <a:t>GreenPulse — A Healthier Home, A Happier Plant</a:t>
            </a:r>
            <a:endParaRPr lang="en-US" sz="1500" dirty="0"/>
          </a:p>
        </p:txBody>
      </p:sp>
      <p:sp>
        <p:nvSpPr>
          <p:cNvPr id="6" name="Text 3"/>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8FD9A8"/>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7" name="Text 4"/>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8FD9A8"/>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0B2A1C"/>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5486400" cy="274320"/>
          </a:xfrm>
          <a:prstGeom prst="rect">
            <a:avLst/>
          </a:prstGeom>
          <a:noFill/>
          <a:ln/>
        </p:spPr>
        <p:txBody>
          <a:bodyPr wrap="square" lIns="0" tIns="0" rIns="0" bIns="0" rtlCol="0" anchor="t"/>
          <a:lstStyle/>
          <a:p>
            <a:pPr marL="0" indent="0">
              <a:buNone/>
            </a:pPr>
            <a:r>
              <a:rPr lang="en-US" sz="1200" b="1" kern="0" spc="300" dirty="0">
                <a:solidFill>
                  <a:srgbClr val="4CC47A"/>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548640" y="224028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Technical Backup Slides</a:t>
            </a:r>
            <a:endParaRPr lang="en-US" sz="4000" dirty="0"/>
          </a:p>
        </p:txBody>
      </p:sp>
      <p:sp>
        <p:nvSpPr>
          <p:cNvPr id="4" name="Text 2"/>
          <p:cNvSpPr txBox="1"/>
          <p:nvPr/>
        </p:nvSpPr>
        <p:spPr>
          <a:xfrm>
            <a:off x="548640" y="3108960"/>
            <a:ext cx="8229600" cy="365760"/>
          </a:xfrm>
          <a:prstGeom prst="rect">
            <a:avLst/>
          </a:prstGeom>
          <a:noFill/>
          <a:ln/>
        </p:spPr>
        <p:txBody>
          <a:bodyPr wrap="square" lIns="0" tIns="0" rIns="0" bIns="0" rtlCol="0" anchor="t"/>
          <a:lstStyle/>
          <a:p>
            <a:pPr marL="0" indent="0">
              <a:buNone/>
            </a:pPr>
            <a:r>
              <a:rPr lang="en-US" sz="1500" dirty="0">
                <a:solidFill>
                  <a:srgbClr val="8FD9A8"/>
                </a:solidFill>
                <a:latin typeface="Calibri" pitchFamily="34" charset="0"/>
                <a:ea typeface="Calibri" pitchFamily="34" charset="-122"/>
                <a:cs typeface="Calibri" pitchFamily="34" charset="-120"/>
              </a:rPr>
              <a:t>Hidden during the presentation — open only if a question needs detail.</a:t>
            </a:r>
            <a:endParaRPr lang="en-US" sz="1500" dirty="0"/>
          </a:p>
        </p:txBody>
      </p:sp>
      <p:sp>
        <p:nvSpPr>
          <p:cNvPr id="5" name="Shape 3"/>
          <p:cNvSpPr/>
          <p:nvPr/>
        </p:nvSpPr>
        <p:spPr>
          <a:xfrm>
            <a:off x="548640" y="3931920"/>
            <a:ext cx="3520440" cy="502920"/>
          </a:xfrm>
          <a:prstGeom prst="roundRect">
            <a:avLst>
              <a:gd name="adj" fmla="val 18182"/>
            </a:avLst>
          </a:prstGeom>
          <a:solidFill>
            <a:srgbClr val="123D29"/>
          </a:solidFill>
          <a:ln w="9525">
            <a:solidFill>
              <a:srgbClr val="1E7A46"/>
            </a:solidFill>
            <a:prstDash val="solid"/>
          </a:ln>
        </p:spPr>
        <p:txBody>
          <a:bodyPr/>
          <a:lstStyle/>
          <a:p>
            <a:endParaRPr lang="en-US"/>
          </a:p>
        </p:txBody>
      </p:sp>
      <p:sp>
        <p:nvSpPr>
          <p:cNvPr id="6" name="Text 4"/>
          <p:cNvSpPr txBox="1"/>
          <p:nvPr/>
        </p:nvSpPr>
        <p:spPr>
          <a:xfrm>
            <a:off x="731520" y="3931920"/>
            <a:ext cx="3291840" cy="502920"/>
          </a:xfrm>
          <a:prstGeom prst="rect">
            <a:avLst/>
          </a:prstGeom>
          <a:noFill/>
          <a:ln/>
        </p:spPr>
        <p:txBody>
          <a:bodyPr wrap="square" lIns="0" tIns="0" rIns="0" bIns="0" rtlCol="0" anchor="ctr"/>
          <a:lstStyle/>
          <a:p>
            <a:pPr marL="0" indent="0">
              <a:buNone/>
            </a:pPr>
            <a:r>
              <a:rPr lang="en-US" sz="1300" b="1" dirty="0">
                <a:solidFill>
                  <a:srgbClr val="C4EBD0"/>
                </a:solidFill>
                <a:latin typeface="Calibri" pitchFamily="34" charset="0"/>
                <a:ea typeface="Calibri" pitchFamily="34" charset="-122"/>
                <a:cs typeface="Calibri" pitchFamily="34" charset="-120"/>
              </a:rPr>
              <a:t>A  Circuit &amp; GPIO Mapping</a:t>
            </a:r>
            <a:endParaRPr lang="en-US" sz="1300" dirty="0"/>
          </a:p>
        </p:txBody>
      </p:sp>
      <p:sp>
        <p:nvSpPr>
          <p:cNvPr id="7" name="Shape 5"/>
          <p:cNvSpPr/>
          <p:nvPr/>
        </p:nvSpPr>
        <p:spPr>
          <a:xfrm>
            <a:off x="4251960" y="3931920"/>
            <a:ext cx="3520440" cy="502920"/>
          </a:xfrm>
          <a:prstGeom prst="roundRect">
            <a:avLst>
              <a:gd name="adj" fmla="val 18182"/>
            </a:avLst>
          </a:prstGeom>
          <a:solidFill>
            <a:srgbClr val="123D29"/>
          </a:solidFill>
          <a:ln w="9525">
            <a:solidFill>
              <a:srgbClr val="1E7A46"/>
            </a:solidFill>
            <a:prstDash val="solid"/>
          </a:ln>
        </p:spPr>
        <p:txBody>
          <a:bodyPr/>
          <a:lstStyle/>
          <a:p>
            <a:endParaRPr lang="en-US"/>
          </a:p>
        </p:txBody>
      </p:sp>
      <p:sp>
        <p:nvSpPr>
          <p:cNvPr id="8" name="Text 6"/>
          <p:cNvSpPr txBox="1"/>
          <p:nvPr/>
        </p:nvSpPr>
        <p:spPr>
          <a:xfrm>
            <a:off x="4434840" y="3931920"/>
            <a:ext cx="3291840" cy="502920"/>
          </a:xfrm>
          <a:prstGeom prst="rect">
            <a:avLst/>
          </a:prstGeom>
          <a:noFill/>
          <a:ln/>
        </p:spPr>
        <p:txBody>
          <a:bodyPr wrap="square" lIns="0" tIns="0" rIns="0" bIns="0" rtlCol="0" anchor="ctr"/>
          <a:lstStyle/>
          <a:p>
            <a:pPr marL="0" indent="0">
              <a:buNone/>
            </a:pPr>
            <a:r>
              <a:rPr lang="en-US" sz="1300" b="1" dirty="0">
                <a:solidFill>
                  <a:srgbClr val="C4EBD0"/>
                </a:solidFill>
                <a:latin typeface="Calibri" pitchFamily="34" charset="0"/>
                <a:ea typeface="Calibri" pitchFamily="34" charset="-122"/>
                <a:cs typeface="Calibri" pitchFamily="34" charset="-120"/>
              </a:rPr>
              <a:t>B  MQTT Topic Architecture</a:t>
            </a:r>
            <a:endParaRPr lang="en-US" sz="1300" dirty="0"/>
          </a:p>
        </p:txBody>
      </p:sp>
      <p:sp>
        <p:nvSpPr>
          <p:cNvPr id="9" name="Shape 7"/>
          <p:cNvSpPr/>
          <p:nvPr/>
        </p:nvSpPr>
        <p:spPr>
          <a:xfrm>
            <a:off x="7955280" y="3931920"/>
            <a:ext cx="3520440" cy="502920"/>
          </a:xfrm>
          <a:prstGeom prst="roundRect">
            <a:avLst>
              <a:gd name="adj" fmla="val 18182"/>
            </a:avLst>
          </a:prstGeom>
          <a:solidFill>
            <a:srgbClr val="123D29"/>
          </a:solidFill>
          <a:ln w="9525">
            <a:solidFill>
              <a:srgbClr val="1E7A46"/>
            </a:solidFill>
            <a:prstDash val="solid"/>
          </a:ln>
        </p:spPr>
        <p:txBody>
          <a:bodyPr/>
          <a:lstStyle/>
          <a:p>
            <a:endParaRPr lang="en-US"/>
          </a:p>
        </p:txBody>
      </p:sp>
      <p:sp>
        <p:nvSpPr>
          <p:cNvPr id="10" name="Text 8"/>
          <p:cNvSpPr txBox="1"/>
          <p:nvPr/>
        </p:nvSpPr>
        <p:spPr>
          <a:xfrm>
            <a:off x="8138160" y="3931920"/>
            <a:ext cx="3291840" cy="502920"/>
          </a:xfrm>
          <a:prstGeom prst="rect">
            <a:avLst/>
          </a:prstGeom>
          <a:noFill/>
          <a:ln/>
        </p:spPr>
        <p:txBody>
          <a:bodyPr wrap="square" lIns="0" tIns="0" rIns="0" bIns="0" rtlCol="0" anchor="ctr"/>
          <a:lstStyle/>
          <a:p>
            <a:pPr marL="0" indent="0">
              <a:buNone/>
            </a:pPr>
            <a:r>
              <a:rPr lang="en-US" sz="1300" b="1" dirty="0">
                <a:solidFill>
                  <a:srgbClr val="C4EBD0"/>
                </a:solidFill>
                <a:latin typeface="Calibri" pitchFamily="34" charset="0"/>
                <a:ea typeface="Calibri" pitchFamily="34" charset="-122"/>
                <a:cs typeface="Calibri" pitchFamily="34" charset="-120"/>
              </a:rPr>
              <a:t>C  JSON Payload Structure</a:t>
            </a:r>
            <a:endParaRPr lang="en-US" sz="1300" dirty="0"/>
          </a:p>
        </p:txBody>
      </p:sp>
      <p:sp>
        <p:nvSpPr>
          <p:cNvPr id="11" name="Shape 9"/>
          <p:cNvSpPr/>
          <p:nvPr/>
        </p:nvSpPr>
        <p:spPr>
          <a:xfrm>
            <a:off x="548640" y="4590288"/>
            <a:ext cx="3520440" cy="502920"/>
          </a:xfrm>
          <a:prstGeom prst="roundRect">
            <a:avLst>
              <a:gd name="adj" fmla="val 18182"/>
            </a:avLst>
          </a:prstGeom>
          <a:solidFill>
            <a:srgbClr val="123D29"/>
          </a:solidFill>
          <a:ln w="9525">
            <a:solidFill>
              <a:srgbClr val="1E7A46"/>
            </a:solidFill>
            <a:prstDash val="solid"/>
          </a:ln>
        </p:spPr>
        <p:txBody>
          <a:bodyPr/>
          <a:lstStyle/>
          <a:p>
            <a:endParaRPr lang="en-US"/>
          </a:p>
        </p:txBody>
      </p:sp>
      <p:sp>
        <p:nvSpPr>
          <p:cNvPr id="12" name="Text 10"/>
          <p:cNvSpPr txBox="1"/>
          <p:nvPr/>
        </p:nvSpPr>
        <p:spPr>
          <a:xfrm>
            <a:off x="731520" y="4590288"/>
            <a:ext cx="3291840" cy="502920"/>
          </a:xfrm>
          <a:prstGeom prst="rect">
            <a:avLst/>
          </a:prstGeom>
          <a:noFill/>
          <a:ln/>
        </p:spPr>
        <p:txBody>
          <a:bodyPr wrap="square" lIns="0" tIns="0" rIns="0" bIns="0" rtlCol="0" anchor="ctr"/>
          <a:lstStyle/>
          <a:p>
            <a:pPr marL="0" indent="0">
              <a:buNone/>
            </a:pPr>
            <a:r>
              <a:rPr lang="en-US" sz="1300" b="1" dirty="0">
                <a:solidFill>
                  <a:srgbClr val="C4EBD0"/>
                </a:solidFill>
                <a:latin typeface="Calibri" pitchFamily="34" charset="0"/>
                <a:ea typeface="Calibri" pitchFamily="34" charset="-122"/>
                <a:cs typeface="Calibri" pitchFamily="34" charset="-120"/>
              </a:rPr>
              <a:t>D  Testing Plan T01–T15</a:t>
            </a:r>
            <a:endParaRPr lang="en-US" sz="1300" dirty="0"/>
          </a:p>
        </p:txBody>
      </p:sp>
      <p:sp>
        <p:nvSpPr>
          <p:cNvPr id="13" name="Shape 11"/>
          <p:cNvSpPr/>
          <p:nvPr/>
        </p:nvSpPr>
        <p:spPr>
          <a:xfrm>
            <a:off x="4251960" y="4590288"/>
            <a:ext cx="3520440" cy="502920"/>
          </a:xfrm>
          <a:prstGeom prst="roundRect">
            <a:avLst>
              <a:gd name="adj" fmla="val 18182"/>
            </a:avLst>
          </a:prstGeom>
          <a:solidFill>
            <a:srgbClr val="123D29"/>
          </a:solidFill>
          <a:ln w="9525">
            <a:solidFill>
              <a:srgbClr val="1E7A46"/>
            </a:solidFill>
            <a:prstDash val="solid"/>
          </a:ln>
        </p:spPr>
        <p:txBody>
          <a:bodyPr/>
          <a:lstStyle/>
          <a:p>
            <a:endParaRPr lang="en-US"/>
          </a:p>
        </p:txBody>
      </p:sp>
      <p:sp>
        <p:nvSpPr>
          <p:cNvPr id="14" name="Text 12"/>
          <p:cNvSpPr txBox="1"/>
          <p:nvPr/>
        </p:nvSpPr>
        <p:spPr>
          <a:xfrm>
            <a:off x="4434840" y="4590288"/>
            <a:ext cx="3291840" cy="502920"/>
          </a:xfrm>
          <a:prstGeom prst="rect">
            <a:avLst/>
          </a:prstGeom>
          <a:noFill/>
          <a:ln/>
        </p:spPr>
        <p:txBody>
          <a:bodyPr wrap="square" lIns="0" tIns="0" rIns="0" bIns="0" rtlCol="0" anchor="ctr"/>
          <a:lstStyle/>
          <a:p>
            <a:pPr marL="0" indent="0">
              <a:buNone/>
            </a:pPr>
            <a:r>
              <a:rPr lang="en-US" sz="1300" b="1" dirty="0">
                <a:solidFill>
                  <a:srgbClr val="C4EBD0"/>
                </a:solidFill>
                <a:latin typeface="Calibri" pitchFamily="34" charset="0"/>
                <a:ea typeface="Calibri" pitchFamily="34" charset="-122"/>
                <a:cs typeface="Calibri" pitchFamily="34" charset="-120"/>
              </a:rPr>
              <a:t>E  Risk &amp; Mitigation Matrix</a:t>
            </a:r>
            <a:endParaRPr lang="en-US" sz="1300" dirty="0"/>
          </a:p>
        </p:txBody>
      </p:sp>
      <p:sp>
        <p:nvSpPr>
          <p:cNvPr id="15" name="Shape 13"/>
          <p:cNvSpPr/>
          <p:nvPr/>
        </p:nvSpPr>
        <p:spPr>
          <a:xfrm>
            <a:off x="7955280" y="4590288"/>
            <a:ext cx="3520440" cy="502920"/>
          </a:xfrm>
          <a:prstGeom prst="roundRect">
            <a:avLst>
              <a:gd name="adj" fmla="val 18182"/>
            </a:avLst>
          </a:prstGeom>
          <a:solidFill>
            <a:srgbClr val="123D29"/>
          </a:solidFill>
          <a:ln w="9525">
            <a:solidFill>
              <a:srgbClr val="1E7A46"/>
            </a:solidFill>
            <a:prstDash val="solid"/>
          </a:ln>
        </p:spPr>
        <p:txBody>
          <a:bodyPr/>
          <a:lstStyle/>
          <a:p>
            <a:endParaRPr lang="en-US"/>
          </a:p>
        </p:txBody>
      </p:sp>
      <p:sp>
        <p:nvSpPr>
          <p:cNvPr id="16" name="Text 14"/>
          <p:cNvSpPr txBox="1"/>
          <p:nvPr/>
        </p:nvSpPr>
        <p:spPr>
          <a:xfrm>
            <a:off x="8138160" y="4590288"/>
            <a:ext cx="3291840" cy="502920"/>
          </a:xfrm>
          <a:prstGeom prst="rect">
            <a:avLst/>
          </a:prstGeom>
          <a:noFill/>
          <a:ln/>
        </p:spPr>
        <p:txBody>
          <a:bodyPr wrap="square" lIns="0" tIns="0" rIns="0" bIns="0" rtlCol="0" anchor="ctr"/>
          <a:lstStyle/>
          <a:p>
            <a:pPr marL="0" indent="0">
              <a:buNone/>
            </a:pPr>
            <a:r>
              <a:rPr lang="en-US" sz="1300" b="1" dirty="0">
                <a:solidFill>
                  <a:srgbClr val="C4EBD0"/>
                </a:solidFill>
                <a:latin typeface="Calibri" pitchFamily="34" charset="0"/>
                <a:ea typeface="Calibri" pitchFamily="34" charset="-122"/>
                <a:cs typeface="Calibri" pitchFamily="34" charset="-120"/>
              </a:rPr>
              <a:t>F  Four-Member Workload Allocation</a:t>
            </a:r>
            <a:endParaRPr lang="en-US" sz="1300"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234440" cy="329184"/>
          </a:xfrm>
          <a:prstGeom prst="roundRect">
            <a:avLst>
              <a:gd name="adj" fmla="val 50000"/>
            </a:avLst>
          </a:prstGeom>
          <a:solidFill>
            <a:srgbClr val="F2F9F4"/>
          </a:solidFill>
          <a:ln w="9525">
            <a:solidFill>
              <a:srgbClr val="C4EBD0"/>
            </a:solidFill>
            <a:prstDash val="solid"/>
          </a:ln>
        </p:spPr>
        <p:txBody>
          <a:bodyPr/>
          <a:lstStyle/>
          <a:p>
            <a:endParaRPr lang="en-US"/>
          </a:p>
        </p:txBody>
      </p:sp>
      <p:sp>
        <p:nvSpPr>
          <p:cNvPr id="3" name="Text 1"/>
          <p:cNvSpPr txBox="1"/>
          <p:nvPr/>
        </p:nvSpPr>
        <p:spPr>
          <a:xfrm>
            <a:off x="548640" y="411480"/>
            <a:ext cx="1234440" cy="329184"/>
          </a:xfrm>
          <a:prstGeom prst="rect">
            <a:avLst/>
          </a:prstGeom>
          <a:noFill/>
          <a:ln/>
        </p:spPr>
        <p:txBody>
          <a:bodyPr wrap="square" lIns="0" tIns="0" rIns="0" bIns="0" rtlCol="0" anchor="ctr"/>
          <a:lstStyle/>
          <a:p>
            <a:pPr marL="0" indent="0" algn="ctr">
              <a:buNone/>
            </a:pPr>
            <a:r>
              <a:rPr lang="en-US" sz="1050" b="1" kern="0" spc="150" dirty="0">
                <a:solidFill>
                  <a:srgbClr val="14532D"/>
                </a:solidFill>
                <a:latin typeface="Calibri" pitchFamily="34" charset="0"/>
                <a:ea typeface="Calibri" pitchFamily="34" charset="-122"/>
                <a:cs typeface="Calibri" pitchFamily="34" charset="-120"/>
              </a:rPr>
              <a:t>BACKUP A</a:t>
            </a:r>
            <a:endParaRPr lang="en-US" sz="1050" dirty="0"/>
          </a:p>
        </p:txBody>
      </p:sp>
      <p:sp>
        <p:nvSpPr>
          <p:cNvPr id="4" name="Text 2"/>
          <p:cNvSpPr txBox="1"/>
          <p:nvPr/>
        </p:nvSpPr>
        <p:spPr>
          <a:xfrm>
            <a:off x="548640" y="822960"/>
            <a:ext cx="8686800" cy="566928"/>
          </a:xfrm>
          <a:prstGeom prst="rect">
            <a:avLst/>
          </a:prstGeom>
          <a:noFill/>
          <a:ln/>
        </p:spPr>
        <p:txBody>
          <a:bodyPr wrap="square" lIns="0" tIns="0" rIns="0" bIns="0" rtlCol="0" anchor="ctr"/>
          <a:lstStyle/>
          <a:p>
            <a:pPr marL="0" indent="0">
              <a:buNone/>
            </a:pPr>
            <a:r>
              <a:rPr lang="en-US" sz="2600" b="1" dirty="0">
                <a:solidFill>
                  <a:srgbClr val="0F1B2D"/>
                </a:solidFill>
                <a:latin typeface="Arial" pitchFamily="34" charset="0"/>
                <a:ea typeface="Arial" pitchFamily="34" charset="-122"/>
                <a:cs typeface="Arial" pitchFamily="34" charset="-120"/>
              </a:rPr>
              <a:t>Circuit &amp; GPIO Mapping</a:t>
            </a:r>
            <a:endParaRPr lang="en-US" sz="2600" dirty="0"/>
          </a:p>
        </p:txBody>
      </p:sp>
      <p:sp>
        <p:nvSpPr>
          <p:cNvPr id="5" name="Text 3"/>
          <p:cNvSpPr txBox="1"/>
          <p:nvPr/>
        </p:nvSpPr>
        <p:spPr>
          <a:xfrm>
            <a:off x="548640" y="1371600"/>
            <a:ext cx="10058400" cy="274320"/>
          </a:xfrm>
          <a:prstGeom prst="rect">
            <a:avLst/>
          </a:prstGeom>
          <a:noFill/>
          <a:ln/>
        </p:spPr>
        <p:txBody>
          <a:bodyPr wrap="square" lIns="0" tIns="0" rIns="0" bIns="0" rtlCol="0" anchor="t"/>
          <a:lstStyle/>
          <a:p>
            <a:pPr marL="0" indent="0">
              <a:buNone/>
            </a:pPr>
            <a:r>
              <a:rPr lang="en-US" sz="1200" dirty="0">
                <a:solidFill>
                  <a:srgbClr val="7A8A94"/>
                </a:solidFill>
                <a:latin typeface="Calibri" pitchFamily="34" charset="0"/>
                <a:ea typeface="Calibri" pitchFamily="34" charset="-122"/>
                <a:cs typeface="Calibri" pitchFamily="34" charset="-120"/>
              </a:rPr>
              <a:t>Preliminary ESP32 GPIO configuration (Proposal Table 2)</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6400800" cy="3511296"/>
        </p:xfrm>
        <a:graphic>
          <a:graphicData uri="http://schemas.openxmlformats.org/drawingml/2006/table">
            <a:tbl>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3891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Interface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ESP32 Connection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Soil moisture sensor</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Analog, if applicable</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GPIO34</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DHT22</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Digital</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GPIO4</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2"/>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BH1750</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I²C SDA / SCL</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GPIO21 / GPIO22</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OLED display</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I²C SDA / SCL</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GPIO21 / GPIO22</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4"/>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RGB LED — Red</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Digital output</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GPIO25</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RGB LED — Green</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Digital output</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GPIO26</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6"/>
                  </a:ext>
                </a:extLst>
              </a:tr>
              <a:tr h="438912">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RGB LED — Blue</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dirty="0">
                          <a:solidFill>
                            <a:srgbClr val="0F1B2D"/>
                          </a:solidFill>
                          <a:latin typeface="Calibri" pitchFamily="34" charset="0"/>
                          <a:ea typeface="Calibri" pitchFamily="34" charset="-122"/>
                          <a:cs typeface="Calibri" pitchFamily="34" charset="-120"/>
                        </a:rPr>
                        <a:t>Digital output</a:t>
                      </a:r>
                      <a:endParaRPr lang="en-US" sz="12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2D"/>
                          </a:solidFill>
                          <a:latin typeface="Courier New" pitchFamily="34" charset="0"/>
                          <a:ea typeface="Courier New" pitchFamily="34" charset="-122"/>
                          <a:cs typeface="Courier New" pitchFamily="34" charset="-120"/>
                        </a:rPr>
                        <a:t>GPIO27</a:t>
                      </a:r>
                      <a:endParaRPr lang="en-US" sz="120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315200" y="1874520"/>
            <a:ext cx="4327855" cy="768096"/>
          </a:xfrm>
          <a:prstGeom prst="roundRect">
            <a:avLst>
              <a:gd name="adj" fmla="val 1428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8" name="Shape 5"/>
          <p:cNvSpPr/>
          <p:nvPr/>
        </p:nvSpPr>
        <p:spPr>
          <a:xfrm>
            <a:off x="7479792" y="2029968"/>
            <a:ext cx="457200" cy="457200"/>
          </a:xfrm>
          <a:prstGeom prst="roundRect">
            <a:avLst>
              <a:gd name="adj" fmla="val 24000"/>
            </a:avLst>
          </a:prstGeom>
          <a:solidFill>
            <a:srgbClr val="1E7A46"/>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7580376" y="2130552"/>
            <a:ext cx="256032" cy="256032"/>
          </a:xfrm>
          <a:prstGeom prst="rect">
            <a:avLst/>
          </a:prstGeom>
        </p:spPr>
      </p:pic>
      <p:sp>
        <p:nvSpPr>
          <p:cNvPr id="10" name="Text 6"/>
          <p:cNvSpPr txBox="1"/>
          <p:nvPr/>
        </p:nvSpPr>
        <p:spPr>
          <a:xfrm>
            <a:off x="8092440" y="1965960"/>
            <a:ext cx="3383280" cy="274320"/>
          </a:xfrm>
          <a:prstGeom prst="rect">
            <a:avLst/>
          </a:prstGeom>
          <a:noFill/>
          <a:ln/>
        </p:spPr>
        <p:txBody>
          <a:bodyPr wrap="square" lIns="0" tIns="0" rIns="0" bIns="0" rtlCol="0" anchor="t"/>
          <a:lstStyle/>
          <a:p>
            <a:pPr marL="0" indent="0">
              <a:buNone/>
            </a:pPr>
            <a:r>
              <a:rPr lang="en-US" sz="1300" b="1" dirty="0">
                <a:solidFill>
                  <a:srgbClr val="0F1B2D"/>
                </a:solidFill>
                <a:latin typeface="Calibri" pitchFamily="34" charset="0"/>
                <a:ea typeface="Calibri" pitchFamily="34" charset="-122"/>
                <a:cs typeface="Calibri" pitchFamily="34" charset="-120"/>
              </a:rPr>
              <a:t>Shared I²C bus</a:t>
            </a:r>
            <a:endParaRPr lang="en-US" sz="1300" dirty="0"/>
          </a:p>
        </p:txBody>
      </p:sp>
      <p:sp>
        <p:nvSpPr>
          <p:cNvPr id="11" name="Text 7"/>
          <p:cNvSpPr txBox="1"/>
          <p:nvPr/>
        </p:nvSpPr>
        <p:spPr>
          <a:xfrm>
            <a:off x="8092440" y="2240280"/>
            <a:ext cx="3429000" cy="36576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BH1750 and OLED share GPIO21 / GPIO22, provided their addresses are compatible.</a:t>
            </a:r>
            <a:endParaRPr lang="en-US" sz="1050" dirty="0"/>
          </a:p>
        </p:txBody>
      </p:sp>
      <p:sp>
        <p:nvSpPr>
          <p:cNvPr id="12" name="Shape 8"/>
          <p:cNvSpPr/>
          <p:nvPr/>
        </p:nvSpPr>
        <p:spPr>
          <a:xfrm>
            <a:off x="7315200" y="2770632"/>
            <a:ext cx="4327855" cy="768096"/>
          </a:xfrm>
          <a:prstGeom prst="roundRect">
            <a:avLst>
              <a:gd name="adj" fmla="val 1428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3" name="Shape 9"/>
          <p:cNvSpPr/>
          <p:nvPr/>
        </p:nvSpPr>
        <p:spPr>
          <a:xfrm>
            <a:off x="7479792" y="2926080"/>
            <a:ext cx="457200" cy="457200"/>
          </a:xfrm>
          <a:prstGeom prst="roundRect">
            <a:avLst>
              <a:gd name="adj" fmla="val 24000"/>
            </a:avLst>
          </a:prstGeom>
          <a:solidFill>
            <a:srgbClr val="1E7A46"/>
          </a:solidFill>
          <a:ln/>
        </p:spPr>
        <p:txBody>
          <a:bodyPr/>
          <a:lstStyle/>
          <a:p>
            <a:endParaRPr lang="en-US"/>
          </a:p>
        </p:txBody>
      </p:sp>
      <p:pic>
        <p:nvPicPr>
          <p:cNvPr id="6" name="Image 1" descr="preencoded.png"/>
          <p:cNvPicPr>
            <a:picLocks noChangeAspect="1"/>
          </p:cNvPicPr>
          <p:nvPr/>
        </p:nvPicPr>
        <p:blipFill>
          <a:blip r:embed="rId4"/>
          <a:stretch>
            <a:fillRect/>
          </a:stretch>
        </p:blipFill>
        <p:spPr>
          <a:xfrm>
            <a:off x="7580376" y="3026664"/>
            <a:ext cx="256032" cy="256032"/>
          </a:xfrm>
          <a:prstGeom prst="rect">
            <a:avLst/>
          </a:prstGeom>
        </p:spPr>
      </p:pic>
      <p:sp>
        <p:nvSpPr>
          <p:cNvPr id="15" name="Text 10"/>
          <p:cNvSpPr txBox="1"/>
          <p:nvPr/>
        </p:nvSpPr>
        <p:spPr>
          <a:xfrm>
            <a:off x="8092440" y="2862072"/>
            <a:ext cx="3383280" cy="274320"/>
          </a:xfrm>
          <a:prstGeom prst="rect">
            <a:avLst/>
          </a:prstGeom>
          <a:noFill/>
          <a:ln/>
        </p:spPr>
        <p:txBody>
          <a:bodyPr wrap="square" lIns="0" tIns="0" rIns="0" bIns="0" rtlCol="0" anchor="t"/>
          <a:lstStyle/>
          <a:p>
            <a:pPr marL="0" indent="0">
              <a:buNone/>
            </a:pPr>
            <a:r>
              <a:rPr lang="en-US" sz="1300" b="1" dirty="0">
                <a:solidFill>
                  <a:srgbClr val="0F1B2D"/>
                </a:solidFill>
                <a:latin typeface="Calibri" pitchFamily="34" charset="0"/>
                <a:ea typeface="Calibri" pitchFamily="34" charset="-122"/>
                <a:cs typeface="Calibri" pitchFamily="34" charset="-120"/>
              </a:rPr>
              <a:t>RGB LED protection</a:t>
            </a:r>
            <a:endParaRPr lang="en-US" sz="1300" dirty="0"/>
          </a:p>
        </p:txBody>
      </p:sp>
      <p:sp>
        <p:nvSpPr>
          <p:cNvPr id="16" name="Text 11"/>
          <p:cNvSpPr txBox="1"/>
          <p:nvPr/>
        </p:nvSpPr>
        <p:spPr>
          <a:xfrm>
            <a:off x="8092440" y="3136392"/>
            <a:ext cx="3429000" cy="36576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Each colour channel driven through current-limiting resistors.</a:t>
            </a:r>
            <a:endParaRPr lang="en-US" sz="1050" dirty="0"/>
          </a:p>
        </p:txBody>
      </p:sp>
      <p:sp>
        <p:nvSpPr>
          <p:cNvPr id="17" name="Shape 12"/>
          <p:cNvSpPr/>
          <p:nvPr/>
        </p:nvSpPr>
        <p:spPr>
          <a:xfrm>
            <a:off x="7315200" y="3666744"/>
            <a:ext cx="4327855" cy="768096"/>
          </a:xfrm>
          <a:prstGeom prst="roundRect">
            <a:avLst>
              <a:gd name="adj" fmla="val 1428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18" name="Shape 13"/>
          <p:cNvSpPr/>
          <p:nvPr/>
        </p:nvSpPr>
        <p:spPr>
          <a:xfrm>
            <a:off x="7479792" y="3822192"/>
            <a:ext cx="457200" cy="457200"/>
          </a:xfrm>
          <a:prstGeom prst="roundRect">
            <a:avLst>
              <a:gd name="adj" fmla="val 24000"/>
            </a:avLst>
          </a:prstGeom>
          <a:solidFill>
            <a:srgbClr val="1E7A46"/>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7580376" y="3922776"/>
            <a:ext cx="256032" cy="256032"/>
          </a:xfrm>
          <a:prstGeom prst="rect">
            <a:avLst/>
          </a:prstGeom>
        </p:spPr>
      </p:pic>
      <p:sp>
        <p:nvSpPr>
          <p:cNvPr id="20" name="Text 14"/>
          <p:cNvSpPr txBox="1"/>
          <p:nvPr/>
        </p:nvSpPr>
        <p:spPr>
          <a:xfrm>
            <a:off x="8092440" y="3758184"/>
            <a:ext cx="3383280" cy="274320"/>
          </a:xfrm>
          <a:prstGeom prst="rect">
            <a:avLst/>
          </a:prstGeom>
          <a:noFill/>
          <a:ln/>
        </p:spPr>
        <p:txBody>
          <a:bodyPr wrap="square" lIns="0" tIns="0" rIns="0" bIns="0" rtlCol="0" anchor="t"/>
          <a:lstStyle/>
          <a:p>
            <a:pPr marL="0" indent="0">
              <a:buNone/>
            </a:pPr>
            <a:r>
              <a:rPr lang="en-US" sz="1300" b="1" dirty="0">
                <a:solidFill>
                  <a:srgbClr val="0F1B2D"/>
                </a:solidFill>
                <a:latin typeface="Calibri" pitchFamily="34" charset="0"/>
                <a:ea typeface="Calibri" pitchFamily="34" charset="-122"/>
                <a:cs typeface="Calibri" pitchFamily="34" charset="-120"/>
              </a:rPr>
              <a:t>Power &amp; grounding</a:t>
            </a:r>
            <a:endParaRPr lang="en-US" sz="1300" dirty="0"/>
          </a:p>
        </p:txBody>
      </p:sp>
      <p:sp>
        <p:nvSpPr>
          <p:cNvPr id="21" name="Text 15"/>
          <p:cNvSpPr txBox="1"/>
          <p:nvPr/>
        </p:nvSpPr>
        <p:spPr>
          <a:xfrm>
            <a:off x="8092440" y="4032504"/>
            <a:ext cx="3429000" cy="36576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Regulated supply, common ground and suitable logic levels.</a:t>
            </a:r>
            <a:endParaRPr lang="en-US" sz="1050" dirty="0"/>
          </a:p>
        </p:txBody>
      </p:sp>
      <p:sp>
        <p:nvSpPr>
          <p:cNvPr id="22" name="Shape 16"/>
          <p:cNvSpPr/>
          <p:nvPr/>
        </p:nvSpPr>
        <p:spPr>
          <a:xfrm>
            <a:off x="7315200" y="4562856"/>
            <a:ext cx="4327855" cy="768096"/>
          </a:xfrm>
          <a:prstGeom prst="roundRect">
            <a:avLst>
              <a:gd name="adj" fmla="val 14286"/>
            </a:avLst>
          </a:prstGeom>
          <a:solidFill>
            <a:srgbClr val="FFFFFF"/>
          </a:solidFill>
          <a:ln w="9525">
            <a:solidFill>
              <a:srgbClr val="DCE6DF"/>
            </a:solidFill>
            <a:prstDash val="solid"/>
          </a:ln>
          <a:effectLst>
            <a:outerShdw blurRad="152400" dist="25400" dir="5400000" algn="bl" rotWithShape="0">
              <a:srgbClr val="0B2A1C">
                <a:alpha val="9000"/>
              </a:srgbClr>
            </a:outerShdw>
          </a:effectLst>
        </p:spPr>
        <p:txBody>
          <a:bodyPr/>
          <a:lstStyle/>
          <a:p>
            <a:endParaRPr lang="en-US"/>
          </a:p>
        </p:txBody>
      </p:sp>
      <p:sp>
        <p:nvSpPr>
          <p:cNvPr id="23" name="Shape 17"/>
          <p:cNvSpPr/>
          <p:nvPr/>
        </p:nvSpPr>
        <p:spPr>
          <a:xfrm>
            <a:off x="7479792" y="4718304"/>
            <a:ext cx="457200" cy="457200"/>
          </a:xfrm>
          <a:prstGeom prst="roundRect">
            <a:avLst>
              <a:gd name="adj" fmla="val 24000"/>
            </a:avLst>
          </a:prstGeom>
          <a:solidFill>
            <a:srgbClr val="1E7A46"/>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7580376" y="4818888"/>
            <a:ext cx="256032" cy="256032"/>
          </a:xfrm>
          <a:prstGeom prst="rect">
            <a:avLst/>
          </a:prstGeom>
        </p:spPr>
      </p:pic>
      <p:sp>
        <p:nvSpPr>
          <p:cNvPr id="25" name="Text 18"/>
          <p:cNvSpPr txBox="1"/>
          <p:nvPr/>
        </p:nvSpPr>
        <p:spPr>
          <a:xfrm>
            <a:off x="8092440" y="4654296"/>
            <a:ext cx="3383280" cy="274320"/>
          </a:xfrm>
          <a:prstGeom prst="rect">
            <a:avLst/>
          </a:prstGeom>
          <a:noFill/>
          <a:ln/>
        </p:spPr>
        <p:txBody>
          <a:bodyPr wrap="square" lIns="0" tIns="0" rIns="0" bIns="0" rtlCol="0" anchor="t"/>
          <a:lstStyle/>
          <a:p>
            <a:pPr marL="0" indent="0">
              <a:buNone/>
            </a:pPr>
            <a:r>
              <a:rPr lang="en-US" sz="1300" b="1" dirty="0">
                <a:solidFill>
                  <a:srgbClr val="0F1B2D"/>
                </a:solidFill>
                <a:latin typeface="Calibri" pitchFamily="34" charset="0"/>
                <a:ea typeface="Calibri" pitchFamily="34" charset="-122"/>
                <a:cs typeface="Calibri" pitchFamily="34" charset="-120"/>
              </a:rPr>
              <a:t>Build approach</a:t>
            </a:r>
            <a:endParaRPr lang="en-US" sz="1300" dirty="0"/>
          </a:p>
        </p:txBody>
      </p:sp>
      <p:sp>
        <p:nvSpPr>
          <p:cNvPr id="26" name="Text 19"/>
          <p:cNvSpPr txBox="1"/>
          <p:nvPr/>
        </p:nvSpPr>
        <p:spPr>
          <a:xfrm>
            <a:off x="8092440" y="4928616"/>
            <a:ext cx="3429000" cy="365760"/>
          </a:xfrm>
          <a:prstGeom prst="rect">
            <a:avLst/>
          </a:prstGeom>
          <a:noFill/>
          <a:ln/>
        </p:spPr>
        <p:txBody>
          <a:bodyPr wrap="square" lIns="0" tIns="0" rIns="0" bIns="0" rtlCol="0" anchor="t"/>
          <a:lstStyle/>
          <a:p>
            <a:pPr marL="0" indent="0">
              <a:buNone/>
            </a:pPr>
            <a:r>
              <a:rPr lang="en-US" sz="1050" dirty="0">
                <a:solidFill>
                  <a:srgbClr val="46555F"/>
                </a:solidFill>
                <a:latin typeface="Calibri" pitchFamily="34" charset="0"/>
                <a:ea typeface="Calibri" pitchFamily="34" charset="-122"/>
                <a:cs typeface="Calibri" pitchFamily="34" charset="-120"/>
              </a:rPr>
              <a:t>Breadboard first; each sensor tested individually before full assembly.</a:t>
            </a:r>
            <a:endParaRPr lang="en-US" sz="1050" dirty="0"/>
          </a:p>
        </p:txBody>
      </p:sp>
      <p:sp>
        <p:nvSpPr>
          <p:cNvPr id="27" name="Text 20"/>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28" name="Text 21"/>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Backup A</a:t>
            </a:r>
            <a:endParaRPr lang="en-US" sz="900" dirty="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234440" cy="329184"/>
          </a:xfrm>
          <a:prstGeom prst="roundRect">
            <a:avLst>
              <a:gd name="adj" fmla="val 50000"/>
            </a:avLst>
          </a:prstGeom>
          <a:solidFill>
            <a:srgbClr val="F2F9F4"/>
          </a:solidFill>
          <a:ln w="9525">
            <a:solidFill>
              <a:srgbClr val="C4EBD0"/>
            </a:solidFill>
            <a:prstDash val="solid"/>
          </a:ln>
        </p:spPr>
        <p:txBody>
          <a:bodyPr/>
          <a:lstStyle/>
          <a:p>
            <a:endParaRPr lang="en-US"/>
          </a:p>
        </p:txBody>
      </p:sp>
      <p:sp>
        <p:nvSpPr>
          <p:cNvPr id="3" name="Text 1"/>
          <p:cNvSpPr txBox="1"/>
          <p:nvPr/>
        </p:nvSpPr>
        <p:spPr>
          <a:xfrm>
            <a:off x="548640" y="411480"/>
            <a:ext cx="1234440" cy="329184"/>
          </a:xfrm>
          <a:prstGeom prst="rect">
            <a:avLst/>
          </a:prstGeom>
          <a:noFill/>
          <a:ln/>
        </p:spPr>
        <p:txBody>
          <a:bodyPr wrap="square" lIns="0" tIns="0" rIns="0" bIns="0" rtlCol="0" anchor="ctr"/>
          <a:lstStyle/>
          <a:p>
            <a:pPr marL="0" indent="0" algn="ctr">
              <a:buNone/>
            </a:pPr>
            <a:r>
              <a:rPr lang="en-US" sz="1050" b="1" kern="0" spc="150" dirty="0">
                <a:solidFill>
                  <a:srgbClr val="14532D"/>
                </a:solidFill>
                <a:latin typeface="Calibri" pitchFamily="34" charset="0"/>
                <a:ea typeface="Calibri" pitchFamily="34" charset="-122"/>
                <a:cs typeface="Calibri" pitchFamily="34" charset="-120"/>
              </a:rPr>
              <a:t>BACKUP B</a:t>
            </a:r>
            <a:endParaRPr lang="en-US" sz="1050" dirty="0"/>
          </a:p>
        </p:txBody>
      </p:sp>
      <p:sp>
        <p:nvSpPr>
          <p:cNvPr id="4" name="Text 2"/>
          <p:cNvSpPr txBox="1"/>
          <p:nvPr/>
        </p:nvSpPr>
        <p:spPr>
          <a:xfrm>
            <a:off x="548640" y="822960"/>
            <a:ext cx="8686800" cy="566928"/>
          </a:xfrm>
          <a:prstGeom prst="rect">
            <a:avLst/>
          </a:prstGeom>
          <a:noFill/>
          <a:ln/>
        </p:spPr>
        <p:txBody>
          <a:bodyPr wrap="square" lIns="0" tIns="0" rIns="0" bIns="0" rtlCol="0" anchor="ctr"/>
          <a:lstStyle/>
          <a:p>
            <a:pPr marL="0" indent="0">
              <a:buNone/>
            </a:pPr>
            <a:r>
              <a:rPr lang="en-US" sz="2600" b="1" dirty="0">
                <a:solidFill>
                  <a:srgbClr val="0F1B2D"/>
                </a:solidFill>
                <a:latin typeface="Arial" pitchFamily="34" charset="0"/>
                <a:ea typeface="Arial" pitchFamily="34" charset="-122"/>
                <a:cs typeface="Arial" pitchFamily="34" charset="-120"/>
              </a:rPr>
              <a:t>MQTT Topic Architecture</a:t>
            </a:r>
            <a:endParaRPr lang="en-US" sz="2600" dirty="0"/>
          </a:p>
        </p:txBody>
      </p:sp>
      <p:sp>
        <p:nvSpPr>
          <p:cNvPr id="5" name="Text 3"/>
          <p:cNvSpPr txBox="1"/>
          <p:nvPr/>
        </p:nvSpPr>
        <p:spPr>
          <a:xfrm>
            <a:off x="548640" y="1371600"/>
            <a:ext cx="10058400" cy="274320"/>
          </a:xfrm>
          <a:prstGeom prst="rect">
            <a:avLst/>
          </a:prstGeom>
          <a:noFill/>
          <a:ln/>
        </p:spPr>
        <p:txBody>
          <a:bodyPr wrap="square" lIns="0" tIns="0" rIns="0" bIns="0" rtlCol="0" anchor="t"/>
          <a:lstStyle/>
          <a:p>
            <a:pPr marL="0" indent="0">
              <a:buNone/>
            </a:pPr>
            <a:r>
              <a:rPr lang="en-US" sz="1200" dirty="0">
                <a:solidFill>
                  <a:srgbClr val="7A8A94"/>
                </a:solidFill>
                <a:latin typeface="Calibri" pitchFamily="34" charset="0"/>
                <a:ea typeface="Calibri" pitchFamily="34" charset="-122"/>
                <a:cs typeface="Calibri" pitchFamily="34" charset="-120"/>
              </a:rPr>
              <a:t>Prefix greenpulse/ followed by message category (Proposal Table 5)</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2944368"/>
        </p:xfrm>
        <a:graphic>
          <a:graphicData uri="http://schemas.openxmlformats.org/drawingml/2006/table">
            <a:tbl>
              <a:tblPr/>
              <a:tblGrid>
                <a:gridCol w="30175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053535">
                  <a:extLst>
                    <a:ext uri="{9D8B030D-6E8A-4147-A177-3AD203B41FA5}">
                      <a16:colId xmlns:a16="http://schemas.microsoft.com/office/drawing/2014/main" val="20003"/>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Publisher</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Subscriber</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20624">
                <a:tc>
                  <a:txBody>
                    <a:bodyP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greenpulse/sensors</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backend, Node-RED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Environmental sensor measurements</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greenpulse/status</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backend, Node-RED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Device and connectivity status</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2"/>
                  </a:ext>
                </a:extLst>
              </a:tr>
              <a:tr h="420624">
                <a:tc>
                  <a:txBody>
                    <a:bodyP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greenpulse/ai/care</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backend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 Node-RED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LLM care tips and literary quotes</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greenpulse/ai/weather</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backend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 Node-RED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Weather-related summaries</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4"/>
                  </a:ext>
                </a:extLst>
              </a:tr>
              <a:tr h="420624">
                <a:tc>
                  <a:txBody>
                    <a:bodyP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greenpulse/ai/notifications</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backend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 Node-RED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Relevant email / notification summaries</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050" b="1" dirty="0">
                          <a:solidFill>
                            <a:srgbClr val="0F1B2D"/>
                          </a:solidFill>
                          <a:latin typeface="Courier New" pitchFamily="34" charset="0"/>
                          <a:ea typeface="Courier New" pitchFamily="34" charset="-122"/>
                          <a:cs typeface="Courier New" pitchFamily="34" charset="-120"/>
                        </a:rPr>
                        <a:t>greenpulse/command</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backend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Device commands / config (if implemented)</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5074920"/>
            <a:ext cx="2926080" cy="566928"/>
          </a:xfrm>
          <a:prstGeom prst="roundRect">
            <a:avLst>
              <a:gd name="adj" fmla="val 19355"/>
            </a:avLst>
          </a:prstGeom>
          <a:solidFill>
            <a:srgbClr val="F2F9F4"/>
          </a:solidFill>
          <a:ln w="9525">
            <a:solidFill>
              <a:srgbClr val="C4EBD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5230368"/>
            <a:ext cx="256032" cy="256032"/>
          </a:xfrm>
          <a:prstGeom prst="rect">
            <a:avLst/>
          </a:prstGeom>
        </p:spPr>
      </p:pic>
      <p:sp>
        <p:nvSpPr>
          <p:cNvPr id="9" name="Text 5"/>
          <p:cNvSpPr txBox="1"/>
          <p:nvPr/>
        </p:nvSpPr>
        <p:spPr>
          <a:xfrm>
            <a:off x="1097280" y="5074920"/>
            <a:ext cx="2286000" cy="566928"/>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MQTT over TLS · port 8883</a:t>
            </a:r>
            <a:endParaRPr lang="en-US" sz="1200" dirty="0"/>
          </a:p>
        </p:txBody>
      </p:sp>
      <p:sp>
        <p:nvSpPr>
          <p:cNvPr id="10" name="Shape 6"/>
          <p:cNvSpPr/>
          <p:nvPr/>
        </p:nvSpPr>
        <p:spPr>
          <a:xfrm>
            <a:off x="3657600" y="5074920"/>
            <a:ext cx="3108960" cy="566928"/>
          </a:xfrm>
          <a:prstGeom prst="roundRect">
            <a:avLst>
              <a:gd name="adj" fmla="val 19355"/>
            </a:avLst>
          </a:prstGeom>
          <a:solidFill>
            <a:srgbClr val="F2F9F4"/>
          </a:solidFill>
          <a:ln w="9525">
            <a:solidFill>
              <a:srgbClr val="C4EBD0"/>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840480" y="5230368"/>
            <a:ext cx="256032" cy="256032"/>
          </a:xfrm>
          <a:prstGeom prst="rect">
            <a:avLst/>
          </a:prstGeom>
        </p:spPr>
      </p:pic>
      <p:sp>
        <p:nvSpPr>
          <p:cNvPr id="12" name="Text 7"/>
          <p:cNvSpPr txBox="1"/>
          <p:nvPr/>
        </p:nvSpPr>
        <p:spPr>
          <a:xfrm>
            <a:off x="4206240" y="5074920"/>
            <a:ext cx="2468880" cy="566928"/>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QoS 1 · at-least-once delivery</a:t>
            </a:r>
            <a:endParaRPr lang="en-US" sz="1200" dirty="0"/>
          </a:p>
        </p:txBody>
      </p:sp>
      <p:sp>
        <p:nvSpPr>
          <p:cNvPr id="13" name="Shape 8"/>
          <p:cNvSpPr/>
          <p:nvPr/>
        </p:nvSpPr>
        <p:spPr>
          <a:xfrm>
            <a:off x="6949440" y="5074920"/>
            <a:ext cx="4690872" cy="566928"/>
          </a:xfrm>
          <a:prstGeom prst="roundRect">
            <a:avLst>
              <a:gd name="adj" fmla="val 19355"/>
            </a:avLst>
          </a:prstGeom>
          <a:solidFill>
            <a:srgbClr val="F2F9F4"/>
          </a:solidFill>
          <a:ln w="9525">
            <a:solidFill>
              <a:srgbClr val="C4EBD0"/>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7132320" y="5230368"/>
            <a:ext cx="256032" cy="256032"/>
          </a:xfrm>
          <a:prstGeom prst="rect">
            <a:avLst/>
          </a:prstGeom>
        </p:spPr>
      </p:pic>
      <p:sp>
        <p:nvSpPr>
          <p:cNvPr id="6" name="Text 9"/>
          <p:cNvSpPr txBox="1"/>
          <p:nvPr/>
        </p:nvSpPr>
        <p:spPr>
          <a:xfrm>
            <a:off x="7498080" y="5074920"/>
            <a:ext cx="4050792" cy="566928"/>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Backend de-duplicates via device_id + sequence_number</a:t>
            </a:r>
            <a:endParaRPr lang="en-US" sz="1200" dirty="0"/>
          </a:p>
        </p:txBody>
      </p:sp>
      <p:sp>
        <p:nvSpPr>
          <p:cNvPr id="16" name="Text 10"/>
          <p:cNvSpPr txBox="1"/>
          <p:nvPr/>
        </p:nvSpPr>
        <p:spPr>
          <a:xfrm>
            <a:off x="548640" y="5806440"/>
            <a:ext cx="11094415" cy="274320"/>
          </a:xfrm>
          <a:prstGeom prst="rect">
            <a:avLst/>
          </a:prstGeom>
          <a:noFill/>
          <a:ln/>
        </p:spPr>
        <p:txBody>
          <a:bodyPr wrap="square" lIns="0" tIns="0" rIns="0" bIns="0" rtlCol="0" anchor="t"/>
          <a:lstStyle/>
          <a:p>
            <a:pPr marL="0" indent="0">
              <a:buNone/>
            </a:pPr>
            <a:r>
              <a:rPr lang="en-US" sz="1100" i="1" dirty="0">
                <a:solidFill>
                  <a:srgbClr val="7A8A94"/>
                </a:solidFill>
                <a:latin typeface="Calibri" pitchFamily="34" charset="0"/>
                <a:ea typeface="Calibri" pitchFamily="34" charset="-122"/>
                <a:cs typeface="Calibri" pitchFamily="34" charset="-120"/>
              </a:rPr>
              <a:t>The ESP32 subscribes to selected cloud topics to demonstrate bidirectional messaging, but never renders AI text on its OLED.</a:t>
            </a:r>
            <a:endParaRPr lang="en-US" sz="1100" dirty="0"/>
          </a:p>
        </p:txBody>
      </p:sp>
      <p:sp>
        <p:nvSpPr>
          <p:cNvPr id="17" name="Text 11"/>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18" name="Text 12"/>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Backup B</a:t>
            </a:r>
            <a:endParaRPr lang="en-US" sz="900" dirty="0"/>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234440" cy="329184"/>
          </a:xfrm>
          <a:prstGeom prst="roundRect">
            <a:avLst>
              <a:gd name="adj" fmla="val 50000"/>
            </a:avLst>
          </a:prstGeom>
          <a:solidFill>
            <a:srgbClr val="F2F9F4"/>
          </a:solidFill>
          <a:ln w="9525">
            <a:solidFill>
              <a:srgbClr val="C4EBD0"/>
            </a:solidFill>
            <a:prstDash val="solid"/>
          </a:ln>
        </p:spPr>
        <p:txBody>
          <a:bodyPr/>
          <a:lstStyle/>
          <a:p>
            <a:endParaRPr lang="en-US"/>
          </a:p>
        </p:txBody>
      </p:sp>
      <p:sp>
        <p:nvSpPr>
          <p:cNvPr id="3" name="Text 1"/>
          <p:cNvSpPr txBox="1"/>
          <p:nvPr/>
        </p:nvSpPr>
        <p:spPr>
          <a:xfrm>
            <a:off x="548640" y="411480"/>
            <a:ext cx="1234440" cy="329184"/>
          </a:xfrm>
          <a:prstGeom prst="rect">
            <a:avLst/>
          </a:prstGeom>
          <a:noFill/>
          <a:ln/>
        </p:spPr>
        <p:txBody>
          <a:bodyPr wrap="square" lIns="0" tIns="0" rIns="0" bIns="0" rtlCol="0" anchor="ctr"/>
          <a:lstStyle/>
          <a:p>
            <a:pPr marL="0" indent="0" algn="ctr">
              <a:buNone/>
            </a:pPr>
            <a:r>
              <a:rPr lang="en-US" sz="1050" b="1" kern="0" spc="150" dirty="0">
                <a:solidFill>
                  <a:srgbClr val="14532D"/>
                </a:solidFill>
                <a:latin typeface="Calibri" pitchFamily="34" charset="0"/>
                <a:ea typeface="Calibri" pitchFamily="34" charset="-122"/>
                <a:cs typeface="Calibri" pitchFamily="34" charset="-120"/>
              </a:rPr>
              <a:t>BACKUP C</a:t>
            </a:r>
            <a:endParaRPr lang="en-US" sz="1050" dirty="0"/>
          </a:p>
        </p:txBody>
      </p:sp>
      <p:sp>
        <p:nvSpPr>
          <p:cNvPr id="4" name="Text 2"/>
          <p:cNvSpPr txBox="1"/>
          <p:nvPr/>
        </p:nvSpPr>
        <p:spPr>
          <a:xfrm>
            <a:off x="548640" y="822960"/>
            <a:ext cx="8686800" cy="566928"/>
          </a:xfrm>
          <a:prstGeom prst="rect">
            <a:avLst/>
          </a:prstGeom>
          <a:noFill/>
          <a:ln/>
        </p:spPr>
        <p:txBody>
          <a:bodyPr wrap="square" lIns="0" tIns="0" rIns="0" bIns="0" rtlCol="0" anchor="ctr"/>
          <a:lstStyle/>
          <a:p>
            <a:pPr marL="0" indent="0">
              <a:buNone/>
            </a:pPr>
            <a:r>
              <a:rPr lang="en-US" sz="2600" b="1" dirty="0">
                <a:solidFill>
                  <a:srgbClr val="0F1B2D"/>
                </a:solidFill>
                <a:latin typeface="Arial" pitchFamily="34" charset="0"/>
                <a:ea typeface="Arial" pitchFamily="34" charset="-122"/>
                <a:cs typeface="Arial" pitchFamily="34" charset="-120"/>
              </a:rPr>
              <a:t>JSON Payload Structure</a:t>
            </a:r>
            <a:endParaRPr lang="en-US" sz="2600" dirty="0"/>
          </a:p>
        </p:txBody>
      </p:sp>
      <p:sp>
        <p:nvSpPr>
          <p:cNvPr id="5" name="Text 3"/>
          <p:cNvSpPr txBox="1"/>
          <p:nvPr/>
        </p:nvSpPr>
        <p:spPr>
          <a:xfrm>
            <a:off x="548640" y="1371600"/>
            <a:ext cx="10058400" cy="274320"/>
          </a:xfrm>
          <a:prstGeom prst="rect">
            <a:avLst/>
          </a:prstGeom>
          <a:noFill/>
          <a:ln/>
        </p:spPr>
        <p:txBody>
          <a:bodyPr wrap="square" lIns="0" tIns="0" rIns="0" bIns="0" rtlCol="0" anchor="t"/>
          <a:lstStyle/>
          <a:p>
            <a:pPr marL="0" indent="0">
              <a:buNone/>
            </a:pPr>
            <a:r>
              <a:rPr lang="en-US" sz="1200" dirty="0">
                <a:solidFill>
                  <a:srgbClr val="7A8A94"/>
                </a:solidFill>
                <a:latin typeface="Calibri" pitchFamily="34" charset="0"/>
                <a:ea typeface="Calibri" pitchFamily="34" charset="-122"/>
                <a:cs typeface="Calibri" pitchFamily="34" charset="-120"/>
              </a:rPr>
              <a:t>Proposed formats (Proposal Examples 3.1–3.3) — values are illustrative</a:t>
            </a:r>
            <a:endParaRPr lang="en-US" sz="1200" dirty="0"/>
          </a:p>
        </p:txBody>
      </p:sp>
      <p:sp>
        <p:nvSpPr>
          <p:cNvPr id="6" name="Shape 4"/>
          <p:cNvSpPr/>
          <p:nvPr/>
        </p:nvSpPr>
        <p:spPr>
          <a:xfrm>
            <a:off x="548640" y="1828800"/>
            <a:ext cx="3545738" cy="3429000"/>
          </a:xfrm>
          <a:prstGeom prst="roundRect">
            <a:avLst>
              <a:gd name="adj" fmla="val 3200"/>
            </a:avLst>
          </a:prstGeom>
          <a:solidFill>
            <a:srgbClr val="0F1B2D"/>
          </a:solidFill>
          <a:ln/>
          <a:effectLst>
            <a:outerShdw blurRad="152400" dist="25400" dir="5400000" algn="bl" rotWithShape="0">
              <a:srgbClr val="0B2A1C">
                <a:alpha val="9000"/>
              </a:srgbClr>
            </a:outerShdw>
          </a:effectLst>
        </p:spPr>
        <p:txBody>
          <a:bodyPr/>
          <a:lstStyle/>
          <a:p>
            <a:endParaRPr lang="en-US"/>
          </a:p>
        </p:txBody>
      </p:sp>
      <p:sp>
        <p:nvSpPr>
          <p:cNvPr id="7" name="Text 5"/>
          <p:cNvSpPr txBox="1"/>
          <p:nvPr/>
        </p:nvSpPr>
        <p:spPr>
          <a:xfrm>
            <a:off x="777240" y="1993392"/>
            <a:ext cx="3088538" cy="274320"/>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Sensor telemetry</a:t>
            </a:r>
            <a:endParaRPr lang="en-US" sz="1400" dirty="0"/>
          </a:p>
        </p:txBody>
      </p:sp>
      <p:sp>
        <p:nvSpPr>
          <p:cNvPr id="8" name="Text 6"/>
          <p:cNvSpPr txBox="1"/>
          <p:nvPr/>
        </p:nvSpPr>
        <p:spPr>
          <a:xfrm>
            <a:off x="777240" y="2286000"/>
            <a:ext cx="3088538" cy="237744"/>
          </a:xfrm>
          <a:prstGeom prst="rect">
            <a:avLst/>
          </a:prstGeom>
          <a:noFill/>
          <a:ln/>
        </p:spPr>
        <p:txBody>
          <a:bodyPr wrap="square" lIns="0" tIns="0" rIns="0" bIns="0" rtlCol="0" anchor="t"/>
          <a:lstStyle/>
          <a:p>
            <a:pPr marL="0" indent="0">
              <a:buNone/>
            </a:pPr>
            <a:r>
              <a:rPr lang="en-US" sz="1050" b="1" dirty="0">
                <a:solidFill>
                  <a:srgbClr val="4CC47A"/>
                </a:solidFill>
                <a:latin typeface="Courier New" pitchFamily="34" charset="0"/>
                <a:ea typeface="Courier New" pitchFamily="34" charset="-122"/>
                <a:cs typeface="Courier New" pitchFamily="34" charset="-120"/>
              </a:rPr>
              <a:t>greenpulse/sensors</a:t>
            </a:r>
            <a:endParaRPr lang="en-US" sz="1050" dirty="0"/>
          </a:p>
        </p:txBody>
      </p:sp>
      <p:sp>
        <p:nvSpPr>
          <p:cNvPr id="9" name="Shape 7"/>
          <p:cNvSpPr/>
          <p:nvPr/>
        </p:nvSpPr>
        <p:spPr>
          <a:xfrm>
            <a:off x="777240" y="2633472"/>
            <a:ext cx="3088538" cy="914"/>
          </a:xfrm>
          <a:prstGeom prst="line">
            <a:avLst/>
          </a:prstGeom>
          <a:noFill/>
          <a:ln w="9525">
            <a:solidFill>
              <a:srgbClr val="2C3E55"/>
            </a:solidFill>
            <a:prstDash val="solid"/>
          </a:ln>
        </p:spPr>
        <p:txBody>
          <a:bodyPr/>
          <a:lstStyle/>
          <a:p>
            <a:endParaRPr lang="en-US"/>
          </a:p>
        </p:txBody>
      </p:sp>
      <p:sp>
        <p:nvSpPr>
          <p:cNvPr id="10" name="Text 8"/>
          <p:cNvSpPr txBox="1"/>
          <p:nvPr/>
        </p:nvSpPr>
        <p:spPr>
          <a:xfrm>
            <a:off x="777240" y="2743200"/>
            <a:ext cx="3179978" cy="2377440"/>
          </a:xfrm>
          <a:prstGeom prst="rect">
            <a:avLst/>
          </a:prstGeom>
          <a:noFill/>
          <a:ln/>
        </p:spPr>
        <p:txBody>
          <a:bodyPr wrap="square" lIns="0" tIns="0" rIns="0" bIns="0" rtlCol="0" anchor="t"/>
          <a:lstStyle/>
          <a:p>
            <a:pPr marL="0" indent="0">
              <a:buNone/>
            </a:pPr>
            <a:r>
              <a:rPr lang="en-US" sz="1050" dirty="0">
                <a:solidFill>
                  <a:srgbClr val="D6E4F2"/>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"device_id": "greenpulse_01",</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"sequence_number": 125,</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"soil_moisture": 45,</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"temperature": 28.1,</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"humidity": 62,</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"light_intensity": 320</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a:t>
            </a:r>
            <a:endParaRPr lang="en-US" sz="1050" dirty="0"/>
          </a:p>
        </p:txBody>
      </p:sp>
      <p:sp>
        <p:nvSpPr>
          <p:cNvPr id="11" name="Shape 9"/>
          <p:cNvSpPr/>
          <p:nvPr/>
        </p:nvSpPr>
        <p:spPr>
          <a:xfrm>
            <a:off x="4322978" y="1828800"/>
            <a:ext cx="3545738" cy="3429000"/>
          </a:xfrm>
          <a:prstGeom prst="roundRect">
            <a:avLst>
              <a:gd name="adj" fmla="val 3200"/>
            </a:avLst>
          </a:prstGeom>
          <a:solidFill>
            <a:srgbClr val="0F1B2D"/>
          </a:solidFill>
          <a:ln/>
          <a:effectLst>
            <a:outerShdw blurRad="152400" dist="25400" dir="5400000" algn="bl" rotWithShape="0">
              <a:srgbClr val="0B2A1C">
                <a:alpha val="9000"/>
              </a:srgbClr>
            </a:outerShdw>
          </a:effectLst>
        </p:spPr>
        <p:txBody>
          <a:bodyPr/>
          <a:lstStyle/>
          <a:p>
            <a:endParaRPr lang="en-US"/>
          </a:p>
        </p:txBody>
      </p:sp>
      <p:sp>
        <p:nvSpPr>
          <p:cNvPr id="12" name="Text 10"/>
          <p:cNvSpPr txBox="1"/>
          <p:nvPr/>
        </p:nvSpPr>
        <p:spPr>
          <a:xfrm>
            <a:off x="4551578" y="1993392"/>
            <a:ext cx="3088538" cy="274320"/>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Device status</a:t>
            </a:r>
            <a:endParaRPr lang="en-US" sz="1400" dirty="0"/>
          </a:p>
        </p:txBody>
      </p:sp>
      <p:sp>
        <p:nvSpPr>
          <p:cNvPr id="13" name="Text 11"/>
          <p:cNvSpPr txBox="1"/>
          <p:nvPr/>
        </p:nvSpPr>
        <p:spPr>
          <a:xfrm>
            <a:off x="4551578" y="2286000"/>
            <a:ext cx="3088538" cy="237744"/>
          </a:xfrm>
          <a:prstGeom prst="rect">
            <a:avLst/>
          </a:prstGeom>
          <a:noFill/>
          <a:ln/>
        </p:spPr>
        <p:txBody>
          <a:bodyPr wrap="square" lIns="0" tIns="0" rIns="0" bIns="0" rtlCol="0" anchor="t"/>
          <a:lstStyle/>
          <a:p>
            <a:pPr marL="0" indent="0">
              <a:buNone/>
            </a:pPr>
            <a:r>
              <a:rPr lang="en-US" sz="1050" b="1" dirty="0">
                <a:solidFill>
                  <a:srgbClr val="4CC47A"/>
                </a:solidFill>
                <a:latin typeface="Courier New" pitchFamily="34" charset="0"/>
                <a:ea typeface="Courier New" pitchFamily="34" charset="-122"/>
                <a:cs typeface="Courier New" pitchFamily="34" charset="-120"/>
              </a:rPr>
              <a:t>greenpulse/status</a:t>
            </a:r>
            <a:endParaRPr lang="en-US" sz="1050" dirty="0"/>
          </a:p>
        </p:txBody>
      </p:sp>
      <p:sp>
        <p:nvSpPr>
          <p:cNvPr id="14" name="Shape 12"/>
          <p:cNvSpPr/>
          <p:nvPr/>
        </p:nvSpPr>
        <p:spPr>
          <a:xfrm>
            <a:off x="4551578" y="2633472"/>
            <a:ext cx="3088538" cy="914"/>
          </a:xfrm>
          <a:prstGeom prst="line">
            <a:avLst/>
          </a:prstGeom>
          <a:noFill/>
          <a:ln w="9525">
            <a:solidFill>
              <a:srgbClr val="2C3E55"/>
            </a:solidFill>
            <a:prstDash val="solid"/>
          </a:ln>
        </p:spPr>
        <p:txBody>
          <a:bodyPr/>
          <a:lstStyle/>
          <a:p>
            <a:endParaRPr lang="en-US"/>
          </a:p>
        </p:txBody>
      </p:sp>
      <p:sp>
        <p:nvSpPr>
          <p:cNvPr id="15" name="Text 13"/>
          <p:cNvSpPr txBox="1"/>
          <p:nvPr/>
        </p:nvSpPr>
        <p:spPr>
          <a:xfrm>
            <a:off x="4551578" y="2743200"/>
            <a:ext cx="3179978" cy="2377440"/>
          </a:xfrm>
          <a:prstGeom prst="rect">
            <a:avLst/>
          </a:prstGeom>
          <a:noFill/>
          <a:ln/>
        </p:spPr>
        <p:txBody>
          <a:bodyPr wrap="square" lIns="0" tIns="0" rIns="0" bIns="0" rtlCol="0" anchor="t"/>
          <a:lstStyle/>
          <a:p>
            <a:pPr marL="0" indent="0">
              <a:buNone/>
            </a:pPr>
            <a:r>
              <a:rPr lang="en-US" sz="1050" dirty="0">
                <a:solidFill>
                  <a:srgbClr val="D6E4F2"/>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"device_id": "greenpulse_01",</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"firmware_version": "1.0.0",</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"priority": "normal",</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"wifi_connected": true,</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"mqtt_connected": true</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a:t>
            </a:r>
            <a:endParaRPr lang="en-US" sz="1050" dirty="0"/>
          </a:p>
        </p:txBody>
      </p:sp>
      <p:sp>
        <p:nvSpPr>
          <p:cNvPr id="16" name="Shape 14"/>
          <p:cNvSpPr/>
          <p:nvPr/>
        </p:nvSpPr>
        <p:spPr>
          <a:xfrm>
            <a:off x="8097317" y="1828800"/>
            <a:ext cx="3545738" cy="3429000"/>
          </a:xfrm>
          <a:prstGeom prst="roundRect">
            <a:avLst>
              <a:gd name="adj" fmla="val 3200"/>
            </a:avLst>
          </a:prstGeom>
          <a:solidFill>
            <a:srgbClr val="0F1B2D"/>
          </a:solidFill>
          <a:ln/>
          <a:effectLst>
            <a:outerShdw blurRad="152400" dist="25400" dir="5400000" algn="bl" rotWithShape="0">
              <a:srgbClr val="0B2A1C">
                <a:alpha val="9000"/>
              </a:srgbClr>
            </a:outerShdw>
          </a:effectLst>
        </p:spPr>
        <p:txBody>
          <a:bodyPr/>
          <a:lstStyle/>
          <a:p>
            <a:endParaRPr lang="en-US"/>
          </a:p>
        </p:txBody>
      </p:sp>
      <p:sp>
        <p:nvSpPr>
          <p:cNvPr id="17" name="Text 15"/>
          <p:cNvSpPr txBox="1"/>
          <p:nvPr/>
        </p:nvSpPr>
        <p:spPr>
          <a:xfrm>
            <a:off x="8325917" y="1993392"/>
            <a:ext cx="3088538" cy="274320"/>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AI care message</a:t>
            </a:r>
            <a:endParaRPr lang="en-US" sz="1400" dirty="0"/>
          </a:p>
        </p:txBody>
      </p:sp>
      <p:sp>
        <p:nvSpPr>
          <p:cNvPr id="18" name="Text 16"/>
          <p:cNvSpPr txBox="1"/>
          <p:nvPr/>
        </p:nvSpPr>
        <p:spPr>
          <a:xfrm>
            <a:off x="8325917" y="2286000"/>
            <a:ext cx="3088538" cy="237744"/>
          </a:xfrm>
          <a:prstGeom prst="rect">
            <a:avLst/>
          </a:prstGeom>
          <a:noFill/>
          <a:ln/>
        </p:spPr>
        <p:txBody>
          <a:bodyPr wrap="square" lIns="0" tIns="0" rIns="0" bIns="0" rtlCol="0" anchor="t"/>
          <a:lstStyle/>
          <a:p>
            <a:pPr marL="0" indent="0">
              <a:buNone/>
            </a:pPr>
            <a:r>
              <a:rPr lang="en-US" sz="1050" b="1" dirty="0">
                <a:solidFill>
                  <a:srgbClr val="4CC47A"/>
                </a:solidFill>
                <a:latin typeface="Courier New" pitchFamily="34" charset="0"/>
                <a:ea typeface="Courier New" pitchFamily="34" charset="-122"/>
                <a:cs typeface="Courier New" pitchFamily="34" charset="-120"/>
              </a:rPr>
              <a:t>greenpulse/ai/care</a:t>
            </a:r>
            <a:endParaRPr lang="en-US" sz="1050" dirty="0"/>
          </a:p>
        </p:txBody>
      </p:sp>
      <p:sp>
        <p:nvSpPr>
          <p:cNvPr id="19" name="Shape 17"/>
          <p:cNvSpPr/>
          <p:nvPr/>
        </p:nvSpPr>
        <p:spPr>
          <a:xfrm>
            <a:off x="8325917" y="2633472"/>
            <a:ext cx="3088538" cy="914"/>
          </a:xfrm>
          <a:prstGeom prst="line">
            <a:avLst/>
          </a:prstGeom>
          <a:noFill/>
          <a:ln w="9525">
            <a:solidFill>
              <a:srgbClr val="2C3E55"/>
            </a:solidFill>
            <a:prstDash val="solid"/>
          </a:ln>
        </p:spPr>
        <p:txBody>
          <a:bodyPr/>
          <a:lstStyle/>
          <a:p>
            <a:endParaRPr lang="en-US"/>
          </a:p>
        </p:txBody>
      </p:sp>
      <p:sp>
        <p:nvSpPr>
          <p:cNvPr id="20" name="Text 18"/>
          <p:cNvSpPr txBox="1"/>
          <p:nvPr/>
        </p:nvSpPr>
        <p:spPr>
          <a:xfrm>
            <a:off x="8325917" y="2743200"/>
            <a:ext cx="3179978" cy="2377440"/>
          </a:xfrm>
          <a:prstGeom prst="rect">
            <a:avLst/>
          </a:prstGeom>
          <a:noFill/>
          <a:ln/>
        </p:spPr>
        <p:txBody>
          <a:bodyPr wrap="square" lIns="0" tIns="0" rIns="0" bIns="0" rtlCol="0" anchor="t"/>
          <a:lstStyle/>
          <a:p>
            <a:pPr marL="0" indent="0">
              <a:buNone/>
            </a:pPr>
            <a:r>
              <a:rPr lang="en-US" sz="1050" dirty="0">
                <a:solidFill>
                  <a:srgbClr val="D6E4F2"/>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"device_id": "greenpulse_01",</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"timestamp":</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"2026-09-17T10:30:00Z",</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"priority": "normal",</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"care_tip": "Monitor the soil…",</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  "literary_quote": "Every leaf…"</a:t>
            </a:r>
            <a:endParaRPr lang="en-US" sz="1050" dirty="0"/>
          </a:p>
          <a:p>
            <a:pPr marL="0" indent="0">
              <a:buNone/>
            </a:pPr>
            <a:r>
              <a:rPr lang="en-US" sz="1050" dirty="0">
                <a:solidFill>
                  <a:srgbClr val="D6E4F2"/>
                </a:solidFill>
                <a:latin typeface="Courier New" pitchFamily="34" charset="0"/>
                <a:ea typeface="Courier New" pitchFamily="34" charset="-122"/>
                <a:cs typeface="Courier New" pitchFamily="34" charset="-120"/>
              </a:rPr>
              <a:t>}</a:t>
            </a:r>
            <a:endParaRPr lang="en-US" sz="1050" dirty="0"/>
          </a:p>
        </p:txBody>
      </p:sp>
      <p:sp>
        <p:nvSpPr>
          <p:cNvPr id="21" name="Shape 19"/>
          <p:cNvSpPr/>
          <p:nvPr/>
        </p:nvSpPr>
        <p:spPr>
          <a:xfrm>
            <a:off x="548640" y="5468112"/>
            <a:ext cx="11094415" cy="566928"/>
          </a:xfrm>
          <a:prstGeom prst="roundRect">
            <a:avLst>
              <a:gd name="adj" fmla="val 19355"/>
            </a:avLst>
          </a:prstGeom>
          <a:solidFill>
            <a:srgbClr val="F2F9F4"/>
          </a:solidFill>
          <a:ln w="9525">
            <a:solidFill>
              <a:srgbClr val="C4EBD0"/>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749808" y="5623560"/>
            <a:ext cx="256032" cy="256032"/>
          </a:xfrm>
          <a:prstGeom prst="rect">
            <a:avLst/>
          </a:prstGeom>
        </p:spPr>
      </p:pic>
      <p:sp>
        <p:nvSpPr>
          <p:cNvPr id="23" name="Text 20"/>
          <p:cNvSpPr txBox="1"/>
          <p:nvPr/>
        </p:nvSpPr>
        <p:spPr>
          <a:xfrm>
            <a:off x="1143000" y="5468112"/>
            <a:ext cx="10362895" cy="566928"/>
          </a:xfrm>
          <a:prstGeom prst="rect">
            <a:avLst/>
          </a:prstGeom>
          <a:noFill/>
          <a:ln/>
        </p:spPr>
        <p:txBody>
          <a:bodyPr wrap="square" lIns="0" tIns="0" rIns="0" bIns="0" rtlCol="0" anchor="ctr"/>
          <a:lstStyle/>
          <a:p>
            <a:pPr marL="0" indent="0">
              <a:buNone/>
            </a:pPr>
            <a:r>
              <a:rPr lang="en-US" sz="1150" b="1" dirty="0">
                <a:solidFill>
                  <a:srgbClr val="14532D"/>
                </a:solidFill>
                <a:latin typeface="Calibri" pitchFamily="34" charset="0"/>
                <a:ea typeface="Calibri" pitchFamily="34" charset="-122"/>
                <a:cs typeface="Calibri" pitchFamily="34" charset="-120"/>
              </a:rPr>
              <a:t>DynamoDB key:  </a:t>
            </a:r>
            <a:r>
              <a:rPr lang="en-US" sz="1150" dirty="0">
                <a:solidFill>
                  <a:srgbClr val="0F1B2D"/>
                </a:solidFill>
                <a:latin typeface="Calibri" pitchFamily="34" charset="0"/>
                <a:ea typeface="Calibri" pitchFamily="34" charset="-122"/>
                <a:cs typeface="Calibri" pitchFamily="34" charset="-120"/>
              </a:rPr>
              <a:t>device_id (partition) + timestamp (sort), ISO 8601 UTC · backend adds server-side timestamps · payloads validated before storage or LLM use</a:t>
            </a:r>
            <a:endParaRPr lang="en-US" sz="1150" dirty="0"/>
          </a:p>
        </p:txBody>
      </p:sp>
      <p:sp>
        <p:nvSpPr>
          <p:cNvPr id="24" name="Text 21"/>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25" name="Text 22"/>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Backup C</a:t>
            </a:r>
            <a:endParaRPr lang="en-US" sz="900" dirty="0"/>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234440" cy="329184"/>
          </a:xfrm>
          <a:prstGeom prst="roundRect">
            <a:avLst>
              <a:gd name="adj" fmla="val 50000"/>
            </a:avLst>
          </a:prstGeom>
          <a:solidFill>
            <a:srgbClr val="F2F9F4"/>
          </a:solidFill>
          <a:ln w="9525">
            <a:solidFill>
              <a:srgbClr val="C4EBD0"/>
            </a:solidFill>
            <a:prstDash val="solid"/>
          </a:ln>
        </p:spPr>
        <p:txBody>
          <a:bodyPr/>
          <a:lstStyle/>
          <a:p>
            <a:endParaRPr lang="en-US"/>
          </a:p>
        </p:txBody>
      </p:sp>
      <p:sp>
        <p:nvSpPr>
          <p:cNvPr id="3" name="Text 1"/>
          <p:cNvSpPr txBox="1"/>
          <p:nvPr/>
        </p:nvSpPr>
        <p:spPr>
          <a:xfrm>
            <a:off x="548640" y="411480"/>
            <a:ext cx="1234440" cy="329184"/>
          </a:xfrm>
          <a:prstGeom prst="rect">
            <a:avLst/>
          </a:prstGeom>
          <a:noFill/>
          <a:ln/>
        </p:spPr>
        <p:txBody>
          <a:bodyPr wrap="square" lIns="0" tIns="0" rIns="0" bIns="0" rtlCol="0" anchor="ctr"/>
          <a:lstStyle/>
          <a:p>
            <a:pPr marL="0" indent="0" algn="ctr">
              <a:buNone/>
            </a:pPr>
            <a:r>
              <a:rPr lang="en-US" sz="1050" b="1" kern="0" spc="150" dirty="0">
                <a:solidFill>
                  <a:srgbClr val="14532D"/>
                </a:solidFill>
                <a:latin typeface="Calibri" pitchFamily="34" charset="0"/>
                <a:ea typeface="Calibri" pitchFamily="34" charset="-122"/>
                <a:cs typeface="Calibri" pitchFamily="34" charset="-120"/>
              </a:rPr>
              <a:t>BACKUP D</a:t>
            </a:r>
            <a:endParaRPr lang="en-US" sz="1050" dirty="0"/>
          </a:p>
        </p:txBody>
      </p:sp>
      <p:sp>
        <p:nvSpPr>
          <p:cNvPr id="4" name="Text 2"/>
          <p:cNvSpPr txBox="1"/>
          <p:nvPr/>
        </p:nvSpPr>
        <p:spPr>
          <a:xfrm>
            <a:off x="548640" y="822960"/>
            <a:ext cx="8686800" cy="566928"/>
          </a:xfrm>
          <a:prstGeom prst="rect">
            <a:avLst/>
          </a:prstGeom>
          <a:noFill/>
          <a:ln/>
        </p:spPr>
        <p:txBody>
          <a:bodyPr wrap="square" lIns="0" tIns="0" rIns="0" bIns="0" rtlCol="0" anchor="ctr"/>
          <a:lstStyle/>
          <a:p>
            <a:pPr marL="0" indent="0">
              <a:buNone/>
            </a:pPr>
            <a:r>
              <a:rPr lang="en-US" sz="2600" b="1" dirty="0">
                <a:solidFill>
                  <a:srgbClr val="0F1B2D"/>
                </a:solidFill>
                <a:latin typeface="Arial" pitchFamily="34" charset="0"/>
                <a:ea typeface="Arial" pitchFamily="34" charset="-122"/>
                <a:cs typeface="Arial" pitchFamily="34" charset="-120"/>
              </a:rPr>
              <a:t>Detailed Testing Plan T01–T15</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608576"/>
        </p:xfrm>
        <a:graphic>
          <a:graphicData uri="http://schemas.openxmlformats.org/drawingml/2006/table">
            <a:tbl>
              <a:tblPr/>
              <a:tblGrid>
                <a:gridCol w="640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4419295">
                  <a:extLst>
                    <a:ext uri="{9D8B030D-6E8A-4147-A177-3AD203B41FA5}">
                      <a16:colId xmlns:a16="http://schemas.microsoft.com/office/drawing/2014/main" val="20003"/>
                    </a:ext>
                  </a:extLst>
                </a:gridCol>
              </a:tblGrid>
              <a:tr h="2880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Test procedure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T01</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Soil moisture</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Readings under dry and wet reference conditions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Values change consistently with conditions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T02</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DHT22</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Read temperature and humidity</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Valid temperature and humidity values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2"/>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T03</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BH1750</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Measure light under different lighting</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Readings respond to illumination changes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T04</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OLED display</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Update values; change MQTT state</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Live readings and MQTT status shown correctly</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4"/>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T05</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RGB LED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Apply normal / warning / critical conditions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Correct priority colour displayed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T06</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Secure MQTT</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Connect ESP32 to AWS IoT Core using TLS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Authenticated connection established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6"/>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T07</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MQTT publishing</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Publish sensor telemetry</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Valid JSON received on the correct topic</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T08</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MQTT subscription</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Publish to a subscribed response topic</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ESP32 receives it; no AI text on OLED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8"/>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T09</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Cloud backend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Send valid and invalid payloads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Valid processed; invalid handled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T10</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Data storage</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Publish readings; inspect database</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Timestamped records stored &amp; retrievable</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10"/>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T11</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LLM processing</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Submit structured measurements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Correctly formatted care tip + quote</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T12</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Weather API</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Request current weather</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Real data retrieved or errors handled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12"/>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T13</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Email integration</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Retrieve relevant messages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Summarised without exposing credentials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T14</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Node-RED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Publish sensor and AI messages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Measurements, payloads, topics, status shown</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14"/>
                  </a:ext>
                </a:extLst>
              </a:tr>
              <a:tr h="288036">
                <a:tc>
                  <a:txBody>
                    <a:bodyPr/>
                    <a:lstStyle/>
                    <a:p>
                      <a:pPr marL="0" indent="0">
                        <a:buNone/>
                      </a:pPr>
                      <a:r>
                        <a:rPr lang="en-US" sz="1050" b="1" dirty="0">
                          <a:solidFill>
                            <a:srgbClr val="1E7A46"/>
                          </a:solidFill>
                          <a:latin typeface="Calibri" pitchFamily="34" charset="0"/>
                          <a:ea typeface="Calibri" pitchFamily="34" charset="-122"/>
                          <a:cs typeface="Calibri" pitchFamily="34" charset="-120"/>
                        </a:rPr>
                        <a:t>T15</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End-to-end</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Run the complete workflow</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050" dirty="0">
                          <a:solidFill>
                            <a:srgbClr val="0F1B2D"/>
                          </a:solidFill>
                          <a:latin typeface="Calibri" pitchFamily="34" charset="0"/>
                          <a:ea typeface="Calibri" pitchFamily="34" charset="-122"/>
                          <a:cs typeface="Calibri" pitchFamily="34" charset="-120"/>
                        </a:rPr>
                        <a:t>Device → cloud → MQTT → dashboard works</a:t>
                      </a:r>
                      <a:endParaRPr lang="en-US" sz="10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6" name="Text 3"/>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7" name="Text 4"/>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Backup D</a:t>
            </a:r>
            <a:endParaRPr lang="en-US" sz="900" dirty="0"/>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234440" cy="329184"/>
          </a:xfrm>
          <a:prstGeom prst="roundRect">
            <a:avLst>
              <a:gd name="adj" fmla="val 50000"/>
            </a:avLst>
          </a:prstGeom>
          <a:solidFill>
            <a:srgbClr val="F2F9F4"/>
          </a:solidFill>
          <a:ln w="9525">
            <a:solidFill>
              <a:srgbClr val="C4EBD0"/>
            </a:solidFill>
            <a:prstDash val="solid"/>
          </a:ln>
        </p:spPr>
        <p:txBody>
          <a:bodyPr/>
          <a:lstStyle/>
          <a:p>
            <a:endParaRPr lang="en-US"/>
          </a:p>
        </p:txBody>
      </p:sp>
      <p:sp>
        <p:nvSpPr>
          <p:cNvPr id="3" name="Text 1"/>
          <p:cNvSpPr txBox="1"/>
          <p:nvPr/>
        </p:nvSpPr>
        <p:spPr>
          <a:xfrm>
            <a:off x="548640" y="411480"/>
            <a:ext cx="1234440" cy="329184"/>
          </a:xfrm>
          <a:prstGeom prst="rect">
            <a:avLst/>
          </a:prstGeom>
          <a:noFill/>
          <a:ln/>
        </p:spPr>
        <p:txBody>
          <a:bodyPr wrap="square" lIns="0" tIns="0" rIns="0" bIns="0" rtlCol="0" anchor="ctr"/>
          <a:lstStyle/>
          <a:p>
            <a:pPr marL="0" indent="0" algn="ctr">
              <a:buNone/>
            </a:pPr>
            <a:r>
              <a:rPr lang="en-US" sz="1050" b="1" kern="0" spc="150" dirty="0">
                <a:solidFill>
                  <a:srgbClr val="14532D"/>
                </a:solidFill>
                <a:latin typeface="Calibri" pitchFamily="34" charset="0"/>
                <a:ea typeface="Calibri" pitchFamily="34" charset="-122"/>
                <a:cs typeface="Calibri" pitchFamily="34" charset="-120"/>
              </a:rPr>
              <a:t>BACKUP E</a:t>
            </a:r>
            <a:endParaRPr lang="en-US" sz="1050" dirty="0"/>
          </a:p>
        </p:txBody>
      </p:sp>
      <p:sp>
        <p:nvSpPr>
          <p:cNvPr id="4" name="Text 2"/>
          <p:cNvSpPr txBox="1"/>
          <p:nvPr/>
        </p:nvSpPr>
        <p:spPr>
          <a:xfrm>
            <a:off x="548640" y="822960"/>
            <a:ext cx="8686800" cy="566928"/>
          </a:xfrm>
          <a:prstGeom prst="rect">
            <a:avLst/>
          </a:prstGeom>
          <a:noFill/>
          <a:ln/>
        </p:spPr>
        <p:txBody>
          <a:bodyPr wrap="square" lIns="0" tIns="0" rIns="0" bIns="0" rtlCol="0" anchor="ctr"/>
          <a:lstStyle/>
          <a:p>
            <a:pPr marL="0" indent="0">
              <a:buNone/>
            </a:pPr>
            <a:r>
              <a:rPr lang="en-US" sz="2600" b="1" dirty="0">
                <a:solidFill>
                  <a:srgbClr val="0F1B2D"/>
                </a:solidFill>
                <a:latin typeface="Arial" pitchFamily="34" charset="0"/>
                <a:ea typeface="Arial" pitchFamily="34" charset="-122"/>
                <a:cs typeface="Arial" pitchFamily="34" charset="-120"/>
              </a:rPr>
              <a:t>Risk &amp; Mitigation Matrix</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425696"/>
        </p:xfrm>
        <a:graphic>
          <a:graphicData uri="http://schemas.openxmlformats.org/drawingml/2006/table">
            <a:tbl>
              <a:tblPr/>
              <a:tblGrid>
                <a:gridCol w="2834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967935">
                  <a:extLst>
                    <a:ext uri="{9D8B030D-6E8A-4147-A177-3AD203B41FA5}">
                      <a16:colId xmlns:a16="http://schemas.microsoft.com/office/drawing/2014/main" val="20002"/>
                    </a:ext>
                  </a:extLst>
                </a:gridCol>
              </a:tblGrid>
              <a:tr h="40233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Potential impact</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Proposed mitigation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Incorrect sensor readings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Unreliable environmental information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Calibrate sensors; validate readings before processing</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Incorrect circuit connections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Component malfunction or damage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Verify wiring, voltage levels and power before powering</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2"/>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Wi-Fi disconnection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Interrupted communication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Connection monitoring and reconnection procedures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MQTT authentication failure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Device cannot connect to broker</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Verify certificates, policies, endpoint and client settings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4"/>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Cloud service interruption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Delayed data processing</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Error handling and suitable retry mechanisms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LLM output errors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Invalid or unsupported care information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Structured prompts, output validation, no unsupported claims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6"/>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Weather API failure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Missing external weather information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Detect failures; never present unavailable data as current</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Email authentication failure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Notification retrieval unavailable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Supported authentication; handle token / connection errors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8"/>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Cloud or API cost increase</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Budget overrun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Monitor usage; configure service limits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buNone/>
                      </a:pPr>
                      <a:r>
                        <a:rPr lang="en-US" sz="1100" b="1" dirty="0">
                          <a:solidFill>
                            <a:srgbClr val="0F1B2D"/>
                          </a:solidFill>
                          <a:latin typeface="Calibri" pitchFamily="34" charset="0"/>
                          <a:ea typeface="Calibri" pitchFamily="34" charset="-122"/>
                          <a:cs typeface="Calibri" pitchFamily="34" charset="-120"/>
                        </a:rPr>
                        <a:t>Integration delays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Reduced time for evaluation</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00" dirty="0">
                          <a:solidFill>
                            <a:srgbClr val="0F1B2D"/>
                          </a:solidFill>
                          <a:latin typeface="Calibri" pitchFamily="34" charset="0"/>
                          <a:ea typeface="Calibri" pitchFamily="34" charset="-122"/>
                          <a:cs typeface="Calibri" pitchFamily="34" charset="-120"/>
                        </a:rPr>
                        <a:t>Develop incrementally; prioritise mandatory features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10"/>
                  </a:ext>
                </a:extLst>
              </a:tr>
            </a:tbl>
          </a:graphicData>
        </a:graphic>
      </p:graphicFrame>
      <p:sp>
        <p:nvSpPr>
          <p:cNvPr id="6" name="Text 3"/>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7" name="Text 4"/>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Backup E</a:t>
            </a:r>
            <a:endParaRPr lang="en-US" sz="900" dirty="0"/>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234440" cy="329184"/>
          </a:xfrm>
          <a:prstGeom prst="roundRect">
            <a:avLst>
              <a:gd name="adj" fmla="val 50000"/>
            </a:avLst>
          </a:prstGeom>
          <a:solidFill>
            <a:srgbClr val="F2F9F4"/>
          </a:solidFill>
          <a:ln w="9525">
            <a:solidFill>
              <a:srgbClr val="C4EBD0"/>
            </a:solidFill>
            <a:prstDash val="solid"/>
          </a:ln>
        </p:spPr>
        <p:txBody>
          <a:bodyPr/>
          <a:lstStyle/>
          <a:p>
            <a:endParaRPr lang="en-US"/>
          </a:p>
        </p:txBody>
      </p:sp>
      <p:sp>
        <p:nvSpPr>
          <p:cNvPr id="3" name="Text 1"/>
          <p:cNvSpPr txBox="1"/>
          <p:nvPr/>
        </p:nvSpPr>
        <p:spPr>
          <a:xfrm>
            <a:off x="548640" y="411480"/>
            <a:ext cx="1234440" cy="329184"/>
          </a:xfrm>
          <a:prstGeom prst="rect">
            <a:avLst/>
          </a:prstGeom>
          <a:noFill/>
          <a:ln/>
        </p:spPr>
        <p:txBody>
          <a:bodyPr wrap="square" lIns="0" tIns="0" rIns="0" bIns="0" rtlCol="0" anchor="ctr"/>
          <a:lstStyle/>
          <a:p>
            <a:pPr marL="0" indent="0" algn="ctr">
              <a:buNone/>
            </a:pPr>
            <a:r>
              <a:rPr lang="en-US" sz="1050" b="1" kern="0" spc="150" dirty="0">
                <a:solidFill>
                  <a:srgbClr val="14532D"/>
                </a:solidFill>
                <a:latin typeface="Calibri" pitchFamily="34" charset="0"/>
                <a:ea typeface="Calibri" pitchFamily="34" charset="-122"/>
                <a:cs typeface="Calibri" pitchFamily="34" charset="-120"/>
              </a:rPr>
              <a:t>BACKUP F</a:t>
            </a:r>
            <a:endParaRPr lang="en-US" sz="1050" dirty="0"/>
          </a:p>
        </p:txBody>
      </p:sp>
      <p:sp>
        <p:nvSpPr>
          <p:cNvPr id="4" name="Text 2"/>
          <p:cNvSpPr txBox="1"/>
          <p:nvPr/>
        </p:nvSpPr>
        <p:spPr>
          <a:xfrm>
            <a:off x="548640" y="822960"/>
            <a:ext cx="8686800" cy="566928"/>
          </a:xfrm>
          <a:prstGeom prst="rect">
            <a:avLst/>
          </a:prstGeom>
          <a:noFill/>
          <a:ln/>
        </p:spPr>
        <p:txBody>
          <a:bodyPr wrap="square" lIns="0" tIns="0" rIns="0" bIns="0" rtlCol="0" anchor="ctr"/>
          <a:lstStyle/>
          <a:p>
            <a:pPr marL="0" indent="0">
              <a:buNone/>
            </a:pPr>
            <a:r>
              <a:rPr lang="en-US" sz="2600" b="1" dirty="0">
                <a:solidFill>
                  <a:srgbClr val="0F1B2D"/>
                </a:solidFill>
                <a:latin typeface="Arial" pitchFamily="34" charset="0"/>
                <a:ea typeface="Arial" pitchFamily="34" charset="-122"/>
                <a:cs typeface="Arial" pitchFamily="34" charset="-120"/>
              </a:rPr>
              <a:t>Four-Member Workload Allocation</a:t>
            </a:r>
            <a:endParaRPr lang="en-US" sz="2600" dirty="0"/>
          </a:p>
        </p:txBody>
      </p:sp>
      <p:sp>
        <p:nvSpPr>
          <p:cNvPr id="5" name="Text 3"/>
          <p:cNvSpPr txBox="1"/>
          <p:nvPr/>
        </p:nvSpPr>
        <p:spPr>
          <a:xfrm>
            <a:off x="548640" y="1371600"/>
            <a:ext cx="10058400" cy="274320"/>
          </a:xfrm>
          <a:prstGeom prst="rect">
            <a:avLst/>
          </a:prstGeom>
          <a:noFill/>
          <a:ln/>
        </p:spPr>
        <p:txBody>
          <a:bodyPr wrap="square" lIns="0" tIns="0" rIns="0" bIns="0" rtlCol="0" anchor="t"/>
          <a:lstStyle/>
          <a:p>
            <a:pPr marL="0" indent="0">
              <a:buNone/>
            </a:pPr>
            <a:r>
              <a:rPr lang="en-US" sz="1200" dirty="0">
                <a:solidFill>
                  <a:srgbClr val="7A8A94"/>
                </a:solidFill>
                <a:latin typeface="Calibri" pitchFamily="34" charset="0"/>
                <a:ea typeface="Calibri" pitchFamily="34" charset="-122"/>
                <a:cs typeface="Calibri" pitchFamily="34" charset="-120"/>
              </a:rPr>
              <a:t>Consistent with Proposal Table 10 — all members contribute to integration, testing, documentation and the demo</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4069080"/>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504895">
                  <a:extLst>
                    <a:ext uri="{9D8B030D-6E8A-4147-A177-3AD203B41FA5}">
                      <a16:colId xmlns:a16="http://schemas.microsoft.com/office/drawing/2014/main" val="20003"/>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Member</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Main area</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Main responsibilities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Supporting responsibilities</a:t>
                      </a:r>
                      <a:endParaRPr lang="en-US" sz="110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9144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Member 1</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E7A46"/>
                    </a:solidFill>
                  </a:tcPr>
                </a:tc>
                <a:tc>
                  <a:txBody>
                    <a:bodyPr/>
                    <a:lstStyle/>
                    <a:p>
                      <a:pPr marL="0" indent="0">
                        <a:buNone/>
                      </a:pPr>
                      <a:r>
                        <a:rPr lang="en-US" sz="1150" b="1" dirty="0">
                          <a:solidFill>
                            <a:srgbClr val="0F1B2D"/>
                          </a:solidFill>
                          <a:latin typeface="Calibri" pitchFamily="34" charset="0"/>
                          <a:ea typeface="Calibri" pitchFamily="34" charset="-122"/>
                          <a:cs typeface="Calibri" pitchFamily="34" charset="-120"/>
                        </a:rPr>
                        <a:t>Hardware &amp; Embedded Sensing</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 setup, soil-moisture sensor, DHT22, BH1750, circuit assembly, GPIO configuration, sensor calibration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Hardware testing, hardware documentation, integration testing, part of final demonstration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Member 2</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0F766E"/>
                    </a:solidFill>
                  </a:tcPr>
                </a:tc>
                <a:tc>
                  <a:txBody>
                    <a:bodyPr/>
                    <a:lstStyle/>
                    <a:p>
                      <a:pPr marL="0" indent="0">
                        <a:buNone/>
                      </a:pPr>
                      <a:r>
                        <a:rPr lang="en-US" sz="1150" b="1" dirty="0">
                          <a:solidFill>
                            <a:srgbClr val="0F1B2D"/>
                          </a:solidFill>
                          <a:latin typeface="Calibri" pitchFamily="34" charset="0"/>
                          <a:ea typeface="Calibri" pitchFamily="34" charset="-122"/>
                          <a:cs typeface="Calibri" pitchFamily="34" charset="-120"/>
                        </a:rPr>
                        <a:t>ESP32 Firmware &amp; MQTT</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ESP32 firmware, sensor data acquisition, OLED, RGB LED, priority logic, Wi-Fi, MQTT publishing/subscribing, JSON payloads</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MQTT testing, firmware documentation, end-to-end testing, part of final demonstration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2"/>
                  </a:ext>
                </a:extLst>
              </a:tr>
              <a:tr h="9144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Member 3</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1E3A5F"/>
                    </a:solidFill>
                  </a:tcPr>
                </a:tc>
                <a:tc>
                  <a:txBody>
                    <a:bodyPr/>
                    <a:lstStyle/>
                    <a:p>
                      <a:pPr marL="0" indent="0">
                        <a:buNone/>
                      </a:pPr>
                      <a:r>
                        <a:rPr lang="en-US" sz="1150" b="1" dirty="0">
                          <a:solidFill>
                            <a:srgbClr val="0F1B2D"/>
                          </a:solidFill>
                          <a:latin typeface="Calibri" pitchFamily="34" charset="0"/>
                          <a:ea typeface="Calibri" pitchFamily="34" charset="-122"/>
                          <a:cs typeface="Calibri" pitchFamily="34" charset="-120"/>
                        </a:rPr>
                        <a:t>Cloud Backend &amp; Intelligent Processing</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Python backend, AWS IoT Core integration, DynamoDB, data validation, LLM processing, weather API, email/notification integration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Cloud testing, API/security documentation, backend integration testing, part of final demonstration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Member 4</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4D7C0F"/>
                    </a:solidFill>
                  </a:tcPr>
                </a:tc>
                <a:tc>
                  <a:txBody>
                    <a:bodyPr/>
                    <a:lstStyle/>
                    <a:p>
                      <a:pPr marL="0" indent="0">
                        <a:buNone/>
                      </a:pPr>
                      <a:r>
                        <a:rPr lang="en-US" sz="1150" b="1" dirty="0">
                          <a:solidFill>
                            <a:srgbClr val="0F1B2D"/>
                          </a:solidFill>
                          <a:latin typeface="Calibri" pitchFamily="34" charset="0"/>
                          <a:ea typeface="Calibri" pitchFamily="34" charset="-122"/>
                          <a:cs typeface="Calibri" pitchFamily="34" charset="-120"/>
                        </a:rPr>
                        <a:t>Node-RED, Integration &amp; User Interface</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Node-RED dashboard, MQTT visualization, LLM input/output display, weather/notification display, system integration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tc>
                  <a:txBody>
                    <a:bodyPr/>
                    <a:lstStyle/>
                    <a:p>
                      <a:pPr marL="0" indent="0">
                        <a:buNone/>
                      </a:pPr>
                      <a:r>
                        <a:rPr lang="en-US" sz="1150" dirty="0">
                          <a:solidFill>
                            <a:srgbClr val="0F1B2D"/>
                          </a:solidFill>
                          <a:latin typeface="Calibri" pitchFamily="34" charset="0"/>
                          <a:ea typeface="Calibri" pitchFamily="34" charset="-122"/>
                          <a:cs typeface="Calibri" pitchFamily="34" charset="-120"/>
                        </a:rPr>
                        <a:t>End-to-end testing, UI documentation, commercial video, final demonstration</a:t>
                      </a:r>
                      <a:endParaRPr lang="en-US" sz="1150" dirty="0">
                        <a:latin typeface="Calibri" charset="0"/>
                        <a:ea typeface="Calibri" charset="0"/>
                        <a:cs typeface="Calibri" charset="0"/>
                      </a:endParaRPr>
                    </a:p>
                  </a:txBody>
                  <a:tcPr marL="76200" marR="76200" marT="38100" marB="38100" anchor="ctr">
                    <a:lnL w="6350" cap="flat" cmpd="sng" algn="ctr">
                      <a:solidFill>
                        <a:srgbClr val="DCE6DF"/>
                      </a:solidFill>
                      <a:prstDash val="solid"/>
                      <a:round/>
                      <a:headEnd type="none" w="med" len="med"/>
                      <a:tailEnd type="none" w="med" len="med"/>
                    </a:lnL>
                    <a:lnR w="6350" cap="flat" cmpd="sng" algn="ctr">
                      <a:solidFill>
                        <a:srgbClr val="DCE6DF"/>
                      </a:solidFill>
                      <a:prstDash val="solid"/>
                      <a:round/>
                      <a:headEnd type="none" w="med" len="med"/>
                      <a:tailEnd type="none" w="med" len="med"/>
                    </a:lnR>
                    <a:lnT w="6350" cap="flat" cmpd="sng" algn="ctr">
                      <a:solidFill>
                        <a:srgbClr val="DCE6DF"/>
                      </a:solidFill>
                      <a:prstDash val="solid"/>
                      <a:round/>
                      <a:headEnd type="none" w="med" len="med"/>
                      <a:tailEnd type="none" w="med" len="med"/>
                    </a:lnT>
                    <a:lnB w="6350" cap="flat" cmpd="sng" algn="ctr">
                      <a:solidFill>
                        <a:srgbClr val="DCE6DF"/>
                      </a:solidFill>
                      <a:prstDash val="solid"/>
                      <a:round/>
                      <a:headEnd type="none" w="med" len="med"/>
                      <a:tailEnd type="none" w="med" len="med"/>
                    </a:lnB>
                    <a:solidFill>
                      <a:srgbClr val="F6F8F7"/>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00" dirty="0">
                <a:solidFill>
                  <a:srgbClr val="7A8A94"/>
                </a:solidFill>
                <a:latin typeface="Calibri" pitchFamily="34" charset="0"/>
                <a:ea typeface="Calibri" pitchFamily="34" charset="-122"/>
                <a:cs typeface="Calibri" pitchFamily="34" charset="-120"/>
              </a:rPr>
              <a:t>GreenPulse  ·  IT4030 Internet of Things  ·  Project Proposal</a:t>
            </a:r>
            <a:endParaRPr lang="en-US" sz="900" dirty="0"/>
          </a:p>
        </p:txBody>
      </p:sp>
      <p:sp>
        <p:nvSpPr>
          <p:cNvPr id="8" name="Text 5"/>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00" b="1" dirty="0">
                <a:solidFill>
                  <a:srgbClr val="7A8A94"/>
                </a:solidFill>
                <a:latin typeface="Calibri" pitchFamily="34" charset="0"/>
                <a:ea typeface="Calibri" pitchFamily="34" charset="-122"/>
                <a:cs typeface="Calibri" pitchFamily="34" charset="-120"/>
              </a:rPr>
              <a:t>Backup F</a:t>
            </a:r>
            <a:endParaRPr lang="en-US" sz="900"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5846</Words>
  <Application>Microsoft Office PowerPoint</Application>
  <PresentationFormat>Widescreen</PresentationFormat>
  <Paragraphs>601</Paragraphs>
  <Slides>18</Slides>
  <Notes>18</Notes>
  <HiddenSlides>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GreenPulse – Project Proposal Presentation</dc:title>
  <dc:subject>PptxGenJS Presentation</dc:subject>
  <dc:creator>GreenPulse Team – IT4030</dc:creator>
  <cp:lastModifiedBy>KUMARATHUNGA R.C.S it23257054</cp:lastModifiedBy>
  <cp:revision>3</cp:revision>
  <dcterms:created xsi:type="dcterms:W3CDTF">2026-09-25T19:31:45Z</dcterms:created>
  <dcterms:modified xsi:type="dcterms:W3CDTF">2026-09-27T03:25:11Z</dcterms:modified>
</cp:coreProperties>
</file>